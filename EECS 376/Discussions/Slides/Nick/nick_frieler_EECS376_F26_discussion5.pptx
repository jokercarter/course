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0ae1c5a5_0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fa0ae1c5a5_0_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fa0ae1c5a5_0_3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0ae1c5a5_0_6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fa0ae1c5a5_0_6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fa0ae1c5a5_0_6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0ae1c5a5_0_1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a0ae1c5a5_0_1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fa0ae1c5a5_0_1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b279782ab_6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b279782ab_6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3c4bb10d31643002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h3c4bb10d31643002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h3c4bb10d31643002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3c4bb10d31643002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h3c4bb10d3164300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3c4bb10d31643002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h3c4bb10d31643002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h3c4bb10d31643002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3c4bb10d31643002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3c4bb10d3164300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3c4bb10d3164300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3c4bb10d3164300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34e558b09a9ed750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h34e558b09a9ed750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34e558b09a9ed75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34e558b09a9ed75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a17158995_16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a17158995_16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a17158995_16_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a17158995_16_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a17158995_16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a17158995_16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34e558b09a9ed750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h34e558b09a9ed75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34e558b09a9ed750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h34e558b09a9ed750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34e558b09a9ed750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h34e558b09a9ed75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a17158995_16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a17158995_16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34e558b09a9ed750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h34e558b09a9ed75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34e558b09a9ed750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h34e558b09a9ed750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34e558b09a9ed750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h34e558b09a9ed75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34e558b09a9ed750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34e558b09a9ed750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34e558b09a9ed750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34e558b09a9ed750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34e558b09a9ed750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h34e558b09a9ed750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ctrTitle"/>
          </p:nvPr>
        </p:nvSpPr>
        <p:spPr>
          <a:xfrm>
            <a:off x="1659399" y="1776610"/>
            <a:ext cx="5825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69" name="Google Shape;69;p14"/>
          <p:cNvPicPr preferRelativeResize="0"/>
          <p:nvPr/>
        </p:nvPicPr>
        <p:blipFill rotWithShape="1">
          <a:blip r:embed="rId2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4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1695529" y="521804"/>
            <a:ext cx="58254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83" name="Google Shape;83;p16"/>
          <p:cNvPicPr preferRelativeResize="0"/>
          <p:nvPr/>
        </p:nvPicPr>
        <p:blipFill rotWithShape="1">
          <a:blip r:embed="rId2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6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6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2080910" y="4265465"/>
            <a:ext cx="50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508001" y="2025650"/>
            <a:ext cx="64476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508001" y="3395586"/>
            <a:ext cx="644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508001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3817478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506809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3" type="body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6" name="Google Shape;106;p19"/>
          <p:cNvSpPr txBox="1"/>
          <p:nvPr>
            <p:ph idx="4" type="body"/>
          </p:nvPr>
        </p:nvSpPr>
        <p:spPr>
          <a:xfrm>
            <a:off x="3816288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508001" y="1123953"/>
            <a:ext cx="28908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508001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123" name="Google Shape;123;p2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3"/>
          <p:cNvSpPr/>
          <p:nvPr>
            <p:ph idx="2" type="pic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508000" y="4025504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30" name="Google Shape;130;p2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1348250" y="1907609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1024604" y="2724150"/>
            <a:ext cx="541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2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7FF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26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514349" y="457200"/>
            <a:ext cx="64410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2" name="Google Shape;162;p28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2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 rot="5400000">
            <a:off x="2276401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aption">
  <p:cSld name="1_Title and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1024700" y="1864811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508000" y="457200"/>
            <a:ext cx="812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508000" y="1620442"/>
            <a:ext cx="81234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ctrTitle"/>
          </p:nvPr>
        </p:nvSpPr>
        <p:spPr>
          <a:xfrm>
            <a:off x="1659399" y="1776610"/>
            <a:ext cx="5825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4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209" name="Google Shape;209;p34"/>
          <p:cNvPicPr preferRelativeResize="0"/>
          <p:nvPr/>
        </p:nvPicPr>
        <p:blipFill rotWithShape="1">
          <a:blip r:embed="rId2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34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4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2" name="Google Shape;212;p34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1348250" y="1907609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ctrTitle"/>
          </p:nvPr>
        </p:nvSpPr>
        <p:spPr>
          <a:xfrm>
            <a:off x="1695529" y="521804"/>
            <a:ext cx="58254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7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225" name="Google Shape;225;p37"/>
          <p:cNvPicPr preferRelativeResize="0"/>
          <p:nvPr/>
        </p:nvPicPr>
        <p:blipFill rotWithShape="1">
          <a:blip r:embed="rId2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37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37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8" name="Google Shape;228;p37"/>
          <p:cNvPicPr preferRelativeResize="0"/>
          <p:nvPr/>
        </p:nvPicPr>
        <p:blipFill rotWithShape="1">
          <a:blip r:embed="rId3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7"/>
          <p:cNvSpPr txBox="1"/>
          <p:nvPr>
            <p:ph idx="1" type="subTitle"/>
          </p:nvPr>
        </p:nvSpPr>
        <p:spPr>
          <a:xfrm>
            <a:off x="2080910" y="4265465"/>
            <a:ext cx="50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508001" y="2025650"/>
            <a:ext cx="64476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508001" y="3395586"/>
            <a:ext cx="644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3" name="Google Shape;233;p3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508001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2" type="body"/>
          </p:nvPr>
        </p:nvSpPr>
        <p:spPr>
          <a:xfrm>
            <a:off x="3817478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246" name="Google Shape;246;p40"/>
          <p:cNvSpPr txBox="1"/>
          <p:nvPr>
            <p:ph idx="2" type="body"/>
          </p:nvPr>
        </p:nvSpPr>
        <p:spPr>
          <a:xfrm>
            <a:off x="506809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body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248" name="Google Shape;248;p40"/>
          <p:cNvSpPr txBox="1"/>
          <p:nvPr>
            <p:ph idx="4" type="body"/>
          </p:nvPr>
        </p:nvSpPr>
        <p:spPr>
          <a:xfrm>
            <a:off x="3816288" y="2052934"/>
            <a:ext cx="3139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4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0" name="Google Shape;260;p42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508001" y="1123953"/>
            <a:ext cx="28908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64" name="Google Shape;264;p43"/>
          <p:cNvSpPr txBox="1"/>
          <p:nvPr>
            <p:ph idx="2" type="body"/>
          </p:nvPr>
        </p:nvSpPr>
        <p:spPr>
          <a:xfrm>
            <a:off x="508001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265" name="Google Shape;265;p4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508000" y="4025504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272" name="Google Shape;272;p44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1024604" y="2724150"/>
            <a:ext cx="541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9" name="Google Shape;279;p45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45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45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7FF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7" name="Google Shape;287;p46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9" name="Google Shape;289;p46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698501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93" name="Google Shape;293;p47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4" name="Google Shape;294;p4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47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7"/>
          <p:cNvSpPr txBox="1"/>
          <p:nvPr/>
        </p:nvSpPr>
        <p:spPr>
          <a:xfrm>
            <a:off x="406402" y="59278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7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00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514349" y="457200"/>
            <a:ext cx="64410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idx="2" type="body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3" name="Google Shape;303;p48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48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 rot="5400000">
            <a:off x="2276401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09" name="Google Shape;309;p49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49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50"/>
          <p:cNvSpPr txBox="1"/>
          <p:nvPr>
            <p:ph idx="1" type="body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15" name="Google Shape;315;p50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50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7" name="Google Shape;317;p50"/>
          <p:cNvSpPr txBox="1"/>
          <p:nvPr>
            <p:ph idx="12" type="sldNum"/>
          </p:nvPr>
        </p:nvSpPr>
        <p:spPr>
          <a:xfrm>
            <a:off x="7475507" y="4821957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aption">
  <p:cSld name="1_Title and Caption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1"/>
          <p:cNvSpPr txBox="1"/>
          <p:nvPr>
            <p:ph type="title"/>
          </p:nvPr>
        </p:nvSpPr>
        <p:spPr>
          <a:xfrm>
            <a:off x="1024700" y="1864811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0" name="Google Shape;320;p51"/>
          <p:cNvSpPr txBox="1"/>
          <p:nvPr>
            <p:ph idx="1" type="body"/>
          </p:nvPr>
        </p:nvSpPr>
        <p:spPr>
          <a:xfrm>
            <a:off x="508001" y="3352800"/>
            <a:ext cx="6447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1" name="Google Shape;321;p51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1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3" name="Google Shape;323;p51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 txBox="1"/>
          <p:nvPr>
            <p:ph type="title"/>
          </p:nvPr>
        </p:nvSpPr>
        <p:spPr>
          <a:xfrm>
            <a:off x="508000" y="457200"/>
            <a:ext cx="812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6" name="Google Shape;326;p52"/>
          <p:cNvSpPr txBox="1"/>
          <p:nvPr>
            <p:ph idx="1" type="body"/>
          </p:nvPr>
        </p:nvSpPr>
        <p:spPr>
          <a:xfrm>
            <a:off x="508000" y="1620442"/>
            <a:ext cx="81234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327" name="Google Shape;327;p52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8" name="Google Shape;328;p52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9" name="Google Shape;329;p52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8.xml"/><Relationship Id="rId6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39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7.xml"/><Relationship Id="rId6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56" name="Google Shape;56;p13"/>
          <p:cNvPicPr preferRelativeResize="0"/>
          <p:nvPr/>
        </p:nvPicPr>
        <p:blipFill rotWithShape="1">
          <a:blip r:embed="rId1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61" name="Google Shape;61;p13"/>
          <p:cNvPicPr preferRelativeResize="0"/>
          <p:nvPr/>
        </p:nvPicPr>
        <p:blipFill rotWithShape="1">
          <a:blip r:embed="rId1">
            <a:alphaModFix/>
          </a:blip>
          <a:srcRect b="14535" l="23448" r="24617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5" name="Google Shape;195;p3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196" name="Google Shape;196;p33"/>
          <p:cNvPicPr preferRelativeResize="0"/>
          <p:nvPr/>
        </p:nvPicPr>
        <p:blipFill rotWithShape="1">
          <a:blip r:embed="rId1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3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32367" y="4886531"/>
            <a:ext cx="697038" cy="18146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/>
          <p:nvPr/>
        </p:nvSpPr>
        <p:spPr>
          <a:xfrm>
            <a:off x="0" y="4804865"/>
            <a:ext cx="9144000" cy="3387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University of Michigan | University of Michigan Health" id="201" name="Google Shape;201;p33"/>
          <p:cNvPicPr preferRelativeResize="0"/>
          <p:nvPr/>
        </p:nvPicPr>
        <p:blipFill rotWithShape="1">
          <a:blip r:embed="rId1">
            <a:alphaModFix/>
          </a:blip>
          <a:srcRect b="14535" l="23447" r="24621" t="15279"/>
          <a:stretch/>
        </p:blipFill>
        <p:spPr>
          <a:xfrm>
            <a:off x="40426" y="4836797"/>
            <a:ext cx="375210" cy="285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33"/>
          <p:cNvCxnSpPr/>
          <p:nvPr/>
        </p:nvCxnSpPr>
        <p:spPr>
          <a:xfrm>
            <a:off x="460550" y="4838408"/>
            <a:ext cx="0" cy="2742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33"/>
          <p:cNvSpPr txBox="1"/>
          <p:nvPr/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2">
            <a:alphaModFix/>
          </a:blip>
          <a:srcRect b="36939" l="12819" r="12437" t="19481"/>
          <a:stretch/>
        </p:blipFill>
        <p:spPr>
          <a:xfrm>
            <a:off x="520157" y="4888645"/>
            <a:ext cx="697038" cy="18146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hyperlink" Target="https://tinyurl.com/2za4dcm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idx="4294967295" type="subTitle"/>
          </p:nvPr>
        </p:nvSpPr>
        <p:spPr>
          <a:xfrm>
            <a:off x="2117160" y="4265465"/>
            <a:ext cx="5054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8571"/>
              <a:buFont typeface="Noto Sans Symbols"/>
              <a:buNone/>
            </a:pPr>
            <a: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  <a:t>Sec </a:t>
            </a:r>
            <a:r>
              <a:rPr lang="en">
                <a:solidFill>
                  <a:srgbClr val="00274C"/>
                </a:solidFill>
              </a:rPr>
              <a:t>16</a:t>
            </a:r>
            <a: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  <a:t>: Fr 12:30pm-1:30pm </a:t>
            </a:r>
            <a:r>
              <a:rPr lang="en">
                <a:solidFill>
                  <a:srgbClr val="00274C"/>
                </a:solidFill>
              </a:rPr>
              <a:t>FXB 1024</a:t>
            </a:r>
            <a:b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" sz="1400" u="none" cap="none" strike="noStrike">
                <a:solidFill>
                  <a:srgbClr val="00274C"/>
                </a:solidFill>
                <a:latin typeface="Trebuchet MS"/>
                <a:ea typeface="Trebuchet MS"/>
                <a:cs typeface="Trebuchet MS"/>
                <a:sym typeface="Trebuchet MS"/>
              </a:rPr>
              <a:t>IA: </a:t>
            </a:r>
            <a:r>
              <a:rPr lang="en">
                <a:solidFill>
                  <a:srgbClr val="00274C"/>
                </a:solidFill>
              </a:rPr>
              <a:t>Nick Frieler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8571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27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" name="Google Shape;336;p53"/>
          <p:cNvSpPr txBox="1"/>
          <p:nvPr/>
        </p:nvSpPr>
        <p:spPr>
          <a:xfrm>
            <a:off x="1659298" y="749630"/>
            <a:ext cx="58254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" sz="2700">
                <a:solidFill>
                  <a:srgbClr val="00274C"/>
                </a:solidFill>
              </a:rPr>
              <a:t>5</a:t>
            </a:r>
            <a:r>
              <a:rPr b="0" i="0" lang="en" sz="27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700">
                <a:solidFill>
                  <a:srgbClr val="00274C"/>
                </a:solidFill>
              </a:rPr>
              <a:t>Formal Languages, DFA, and Turing Machines</a:t>
            </a:r>
            <a:endParaRPr sz="1100"/>
          </a:p>
        </p:txBody>
      </p:sp>
      <p:sp>
        <p:nvSpPr>
          <p:cNvPr id="337" name="Google Shape;337;p53"/>
          <p:cNvSpPr txBox="1"/>
          <p:nvPr/>
        </p:nvSpPr>
        <p:spPr>
          <a:xfrm>
            <a:off x="2117160" y="4839553"/>
            <a:ext cx="5126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Slide deck available at course drive/Discussions/Slides/</a:t>
            </a:r>
            <a:r>
              <a:rPr lang="en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Nick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513" y="1674600"/>
            <a:ext cx="1680961" cy="253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349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Formal languages</a:t>
            </a:r>
            <a:endParaRPr/>
          </a:p>
          <a:p>
            <a:pPr indent="-234950" lvl="1" marL="685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Many definitions</a:t>
            </a:r>
            <a:endParaRPr/>
          </a:p>
          <a:p>
            <a:pPr indent="-2349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(Deterministic) finite automata</a:t>
            </a:r>
            <a:endParaRPr/>
          </a:p>
          <a:p>
            <a:pPr indent="-234950" lvl="1" marL="685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Definition</a:t>
            </a:r>
            <a:endParaRPr/>
          </a:p>
          <a:p>
            <a:pPr indent="-2349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Turing machines</a:t>
            </a:r>
            <a:endParaRPr/>
          </a:p>
          <a:p>
            <a:pPr indent="-234950" lvl="1" marL="685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Definition</a:t>
            </a:r>
            <a:endParaRPr/>
          </a:p>
          <a:p>
            <a:pPr indent="-234950" lvl="1" marL="685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Church-Turing thesis</a:t>
            </a:r>
            <a:endParaRPr/>
          </a:p>
        </p:txBody>
      </p:sp>
      <p:sp>
        <p:nvSpPr>
          <p:cNvPr id="346" name="Google Shape;346;p54"/>
          <p:cNvSpPr txBox="1"/>
          <p:nvPr>
            <p:ph idx="12" type="sldNum"/>
          </p:nvPr>
        </p:nvSpPr>
        <p:spPr>
          <a:xfrm>
            <a:off x="8631496" y="4844255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/>
          <p:nvPr>
            <p:ph type="title"/>
          </p:nvPr>
        </p:nvSpPr>
        <p:spPr>
          <a:xfrm>
            <a:off x="2154162" y="2073757"/>
            <a:ext cx="48357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Formal Languages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to get try-lingual</a:t>
            </a:r>
            <a:endParaRPr/>
          </a:p>
        </p:txBody>
      </p:sp>
      <p:sp>
        <p:nvSpPr>
          <p:cNvPr id="358" name="Google Shape;358;p56"/>
          <p:cNvSpPr txBox="1"/>
          <p:nvPr>
            <p:ph idx="1" type="body"/>
          </p:nvPr>
        </p:nvSpPr>
        <p:spPr>
          <a:xfrm>
            <a:off x="508000" y="1202500"/>
            <a:ext cx="8123400" cy="355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An </a:t>
            </a:r>
            <a:r>
              <a:rPr b="1" i="1" lang="en"/>
              <a:t>alphabet</a:t>
            </a:r>
            <a:r>
              <a:rPr lang="en"/>
              <a:t> is a </a:t>
            </a:r>
            <a:r>
              <a:rPr i="1" lang="en"/>
              <a:t>nonempty</a:t>
            </a:r>
            <a:r>
              <a:rPr lang="en"/>
              <a:t>, </a:t>
            </a:r>
            <a:r>
              <a:rPr i="1" lang="en"/>
              <a:t>finite</a:t>
            </a:r>
            <a:r>
              <a:rPr lang="en"/>
              <a:t> set of symbols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</a:t>
            </a:r>
            <a:r>
              <a:rPr lang="en"/>
              <a:t>, b, c, d, …, z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+, -, x, /, 0, 1, 2, …, 9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</a:t>
            </a:r>
            <a:r>
              <a:rPr b="1" i="1" lang="en"/>
              <a:t>string</a:t>
            </a:r>
            <a:r>
              <a:rPr lang="en"/>
              <a:t> over an alphabet Σ is a </a:t>
            </a:r>
            <a:r>
              <a:rPr i="1" lang="en"/>
              <a:t>finite</a:t>
            </a:r>
            <a:r>
              <a:rPr lang="en"/>
              <a:t>, </a:t>
            </a:r>
            <a:r>
              <a:rPr i="1" lang="en"/>
              <a:t>ordered </a:t>
            </a:r>
            <a:r>
              <a:rPr lang="en"/>
              <a:t>sequence of symbols from Σ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en"/>
              <a:t>If Σ = {a, …, z}, then “hello” is a string over Σ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en"/>
              <a:t>If Σ = {+, -, x, /, 0, …, 9}, then “376+281+370” is a string over Σ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en"/>
              <a:t>Σ* is the set of </a:t>
            </a:r>
            <a:r>
              <a:rPr i="1" lang="en"/>
              <a:t>all</a:t>
            </a:r>
            <a:r>
              <a:rPr lang="en"/>
              <a:t> strings over Σ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</a:t>
            </a:r>
            <a:r>
              <a:rPr b="1" i="1" lang="en"/>
              <a:t>language</a:t>
            </a:r>
            <a:r>
              <a:rPr lang="en"/>
              <a:t> </a:t>
            </a:r>
            <a:r>
              <a:rPr i="1" lang="en"/>
              <a:t>L</a:t>
            </a:r>
            <a:r>
              <a:rPr lang="en"/>
              <a:t> over an alphabet Σ is a subset of Σ*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set of all decimal representations of even numbers is a language over {0, …, 9}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type="title"/>
          </p:nvPr>
        </p:nvSpPr>
        <p:spPr>
          <a:xfrm>
            <a:off x="1542597" y="2067900"/>
            <a:ext cx="60588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n"/>
              <a:t>(Deterministic) Finite Automata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Desperately Following Arrows</a:t>
            </a:r>
            <a:endParaRPr/>
          </a:p>
        </p:txBody>
      </p:sp>
      <p:sp>
        <p:nvSpPr>
          <p:cNvPr id="370" name="Google Shape;370;p58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</a:t>
            </a:r>
            <a:r>
              <a:rPr b="1" i="1" lang="en"/>
              <a:t>deterministic finite automaton (DFA)</a:t>
            </a:r>
            <a:r>
              <a:rPr lang="en"/>
              <a:t> is a 5-tuple </a:t>
            </a:r>
            <a:r>
              <a:rPr i="1" lang="en"/>
              <a:t>M </a:t>
            </a:r>
            <a:r>
              <a:rPr lang="en"/>
              <a:t>= (Σ, </a:t>
            </a:r>
            <a:r>
              <a:rPr i="1" lang="en"/>
              <a:t>Q</a:t>
            </a:r>
            <a:r>
              <a:rPr lang="en"/>
              <a:t>, </a:t>
            </a:r>
            <a:r>
              <a:rPr i="1" lang="en"/>
              <a:t>q</a:t>
            </a:r>
            <a:r>
              <a:rPr baseline="-25000" lang="en"/>
              <a:t>0</a:t>
            </a:r>
            <a:r>
              <a:rPr lang="en"/>
              <a:t>, </a:t>
            </a:r>
            <a:r>
              <a:rPr i="1" lang="en"/>
              <a:t>F</a:t>
            </a:r>
            <a:r>
              <a:rPr lang="en"/>
              <a:t>, </a:t>
            </a:r>
            <a:r>
              <a:rPr lang="en" sz="1200"/>
              <a:t>𝛿</a:t>
            </a:r>
            <a:r>
              <a:rPr lang="en"/>
              <a:t>)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Σ</a:t>
            </a:r>
            <a:r>
              <a:rPr lang="en" sz="1400"/>
              <a:t> </a:t>
            </a:r>
            <a:r>
              <a:rPr lang="en"/>
              <a:t>is the input alphabet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Q</a:t>
            </a:r>
            <a:r>
              <a:rPr lang="en"/>
              <a:t> is the finite set of the automaton’s states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q</a:t>
            </a:r>
            <a:r>
              <a:rPr baseline="-25000" lang="en"/>
              <a:t>0</a:t>
            </a:r>
            <a:r>
              <a:rPr lang="en"/>
              <a:t> ∈ </a:t>
            </a:r>
            <a:r>
              <a:rPr i="1" lang="en"/>
              <a:t>Q</a:t>
            </a:r>
            <a:r>
              <a:rPr lang="en"/>
              <a:t> is the initial state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F </a:t>
            </a:r>
            <a:r>
              <a:rPr lang="en"/>
              <a:t>⊆ </a:t>
            </a:r>
            <a:r>
              <a:rPr i="1" lang="en"/>
              <a:t>Q</a:t>
            </a:r>
            <a:r>
              <a:rPr lang="en"/>
              <a:t> is the subset of accepting states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𝛿 is the transition function, it maps from </a:t>
            </a:r>
            <a:r>
              <a:rPr i="1" lang="en"/>
              <a:t>Q</a:t>
            </a:r>
            <a:r>
              <a:rPr lang="en"/>
              <a:t> x Σ→ </a:t>
            </a:r>
            <a:r>
              <a:rPr i="1" lang="en"/>
              <a:t>Q</a:t>
            </a:r>
            <a:r>
              <a:rPr lang="en"/>
              <a:t> </a:t>
            </a:r>
            <a:endParaRPr/>
          </a:p>
          <a:p>
            <a:pPr indent="-2984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Because a DFA is </a:t>
            </a:r>
            <a:r>
              <a:rPr b="1" lang="en"/>
              <a:t>deterministic</a:t>
            </a:r>
            <a:r>
              <a:rPr lang="en"/>
              <a:t>, </a:t>
            </a:r>
            <a:r>
              <a:rPr lang="en"/>
              <a:t>𝛿</a:t>
            </a:r>
            <a:r>
              <a:rPr lang="en" sz="1200"/>
              <a:t> </a:t>
            </a:r>
            <a:r>
              <a:rPr lang="en"/>
              <a:t>must be a </a:t>
            </a:r>
            <a:r>
              <a:rPr i="1" lang="en"/>
              <a:t>function</a:t>
            </a:r>
            <a:r>
              <a:rPr lang="en"/>
              <a:t> (exactly one output for each input)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</a:t>
            </a:r>
            <a:r>
              <a:rPr b="1" i="1" lang="en"/>
              <a:t>language </a:t>
            </a:r>
            <a:r>
              <a:rPr i="1" lang="en"/>
              <a:t>L</a:t>
            </a:r>
            <a:r>
              <a:rPr b="1" i="1" lang="en"/>
              <a:t> of a finite automaton</a:t>
            </a:r>
            <a:r>
              <a:rPr lang="en"/>
              <a:t> </a:t>
            </a:r>
            <a:r>
              <a:rPr i="1" lang="en"/>
              <a:t>M</a:t>
            </a:r>
            <a:r>
              <a:rPr lang="en"/>
              <a:t> is the set of strings it accepts. We also say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 decides </a:t>
            </a:r>
            <a:r>
              <a:rPr i="1" lang="en"/>
              <a:t>L</a:t>
            </a:r>
            <a:r>
              <a:rPr lang="en"/>
              <a:t> if and only if  </a:t>
            </a:r>
            <a:r>
              <a:rPr i="1" lang="en"/>
              <a:t>M</a:t>
            </a:r>
            <a:r>
              <a:rPr lang="en"/>
              <a:t> accepts every string in </a:t>
            </a:r>
            <a:r>
              <a:rPr i="1" lang="en"/>
              <a:t>L</a:t>
            </a:r>
            <a:r>
              <a:rPr lang="en"/>
              <a:t> and reject every other string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9"/>
          <p:cNvSpPr txBox="1"/>
          <p:nvPr>
            <p:ph type="title"/>
          </p:nvPr>
        </p:nvSpPr>
        <p:spPr>
          <a:xfrm>
            <a:off x="2154162" y="2073757"/>
            <a:ext cx="48357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Turing Machines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0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just one more definition</a:t>
            </a:r>
            <a:endParaRPr/>
          </a:p>
        </p:txBody>
      </p:sp>
      <p:sp>
        <p:nvSpPr>
          <p:cNvPr id="382" name="Google Shape;382;p60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75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</a:t>
            </a:r>
            <a:r>
              <a:rPr b="1" i="1" lang="en"/>
              <a:t>Turing machine</a:t>
            </a:r>
            <a:r>
              <a:rPr lang="en"/>
              <a:t> is a 7-tuple </a:t>
            </a:r>
            <a:r>
              <a:rPr i="1" lang="en"/>
              <a:t>M</a:t>
            </a:r>
            <a:r>
              <a:rPr lang="en"/>
              <a:t> = (Σ, Γ, </a:t>
            </a:r>
            <a:r>
              <a:rPr i="1" lang="en"/>
              <a:t>Q</a:t>
            </a:r>
            <a:r>
              <a:rPr lang="en"/>
              <a:t>, </a:t>
            </a:r>
            <a:r>
              <a:rPr i="1" lang="en"/>
              <a:t>q</a:t>
            </a:r>
            <a:r>
              <a:rPr baseline="-25000" lang="en"/>
              <a:t>start</a:t>
            </a:r>
            <a:r>
              <a:rPr lang="en"/>
              <a:t>, </a:t>
            </a:r>
            <a:r>
              <a:rPr i="1" lang="en"/>
              <a:t>q</a:t>
            </a:r>
            <a:r>
              <a:rPr baseline="-25000" lang="en"/>
              <a:t>acc</a:t>
            </a:r>
            <a:r>
              <a:rPr lang="en"/>
              <a:t>, </a:t>
            </a:r>
            <a:r>
              <a:rPr i="1" lang="en"/>
              <a:t>q</a:t>
            </a:r>
            <a:r>
              <a:rPr baseline="-25000" lang="en"/>
              <a:t>rej</a:t>
            </a:r>
            <a:r>
              <a:rPr lang="en"/>
              <a:t>, </a:t>
            </a:r>
            <a:r>
              <a:rPr lang="en" sz="1200"/>
              <a:t>𝛿</a:t>
            </a:r>
            <a:r>
              <a:rPr lang="en"/>
              <a:t>)</a:t>
            </a:r>
            <a:endParaRPr/>
          </a:p>
          <a:p>
            <a:pPr indent="-2984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Σ is the input alphabet</a:t>
            </a:r>
            <a:endParaRPr/>
          </a:p>
          <a:p>
            <a:pPr indent="-2984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Γ</a:t>
            </a:r>
            <a:r>
              <a:rPr lang="en" sz="1400"/>
              <a:t> </a:t>
            </a:r>
            <a:r>
              <a:rPr lang="en"/>
              <a:t>is the tape alphabet (contains Σ and a blank symbol ⟂)</a:t>
            </a:r>
            <a:endParaRPr/>
          </a:p>
          <a:p>
            <a:pPr indent="-2984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Q</a:t>
            </a:r>
            <a:r>
              <a:rPr lang="en"/>
              <a:t> is the finite set of states</a:t>
            </a:r>
            <a:endParaRPr/>
          </a:p>
          <a:p>
            <a:pPr indent="-2984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q</a:t>
            </a:r>
            <a:r>
              <a:rPr baseline="-25000" lang="en"/>
              <a:t>start</a:t>
            </a:r>
            <a:r>
              <a:rPr lang="en"/>
              <a:t> is the initial state</a:t>
            </a:r>
            <a:endParaRPr/>
          </a:p>
          <a:p>
            <a:pPr indent="-2984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q</a:t>
            </a:r>
            <a:r>
              <a:rPr baseline="-25000" lang="en"/>
              <a:t>acc</a:t>
            </a:r>
            <a:r>
              <a:rPr lang="en"/>
              <a:t>, </a:t>
            </a:r>
            <a:r>
              <a:rPr i="1" lang="en"/>
              <a:t>q</a:t>
            </a:r>
            <a:r>
              <a:rPr baseline="-25000" lang="en"/>
              <a:t>rej</a:t>
            </a:r>
            <a:r>
              <a:rPr lang="en"/>
              <a:t> ∈ </a:t>
            </a:r>
            <a:r>
              <a:rPr i="1" lang="en"/>
              <a:t>Q</a:t>
            </a:r>
            <a:r>
              <a:rPr lang="en"/>
              <a:t> are the accept state and reject state, respectively (must be distinct)</a:t>
            </a:r>
            <a:endParaRPr/>
          </a:p>
          <a:p>
            <a:pPr indent="-298450" lvl="2" marL="13716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We say </a:t>
            </a:r>
            <a:r>
              <a:rPr i="1" lang="en"/>
              <a:t>F</a:t>
            </a:r>
            <a:r>
              <a:rPr lang="en"/>
              <a:t> = {</a:t>
            </a:r>
            <a:r>
              <a:rPr i="1" lang="en"/>
              <a:t>q</a:t>
            </a:r>
            <a:r>
              <a:rPr baseline="-25000" lang="en"/>
              <a:t>acc</a:t>
            </a:r>
            <a:r>
              <a:rPr lang="en"/>
              <a:t>, </a:t>
            </a:r>
            <a:r>
              <a:rPr i="1" lang="en"/>
              <a:t>q</a:t>
            </a:r>
            <a:r>
              <a:rPr baseline="-25000" lang="en"/>
              <a:t>rej</a:t>
            </a:r>
            <a:r>
              <a:rPr lang="en"/>
              <a:t>} is the set of </a:t>
            </a:r>
            <a:r>
              <a:rPr i="1" lang="en"/>
              <a:t>final states</a:t>
            </a:r>
            <a:endParaRPr/>
          </a:p>
          <a:p>
            <a:pPr indent="-29845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𝛿 </a:t>
            </a:r>
            <a:r>
              <a:rPr lang="en"/>
              <a:t>is the transition function</a:t>
            </a:r>
            <a:endParaRPr/>
          </a:p>
        </p:txBody>
      </p:sp>
      <p:pic>
        <p:nvPicPr>
          <p:cNvPr id="383" name="Google Shape;383;p60"/>
          <p:cNvPicPr preferRelativeResize="0"/>
          <p:nvPr/>
        </p:nvPicPr>
        <p:blipFill rotWithShape="1">
          <a:blip r:embed="rId3">
            <a:alphaModFix/>
          </a:blip>
          <a:srcRect b="0" l="0" r="666" t="0"/>
          <a:stretch/>
        </p:blipFill>
        <p:spPr>
          <a:xfrm>
            <a:off x="599650" y="3831975"/>
            <a:ext cx="7944724" cy="74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 but what does a </a:t>
            </a:r>
            <a:r>
              <a:rPr lang="en"/>
              <a:t>TM</a:t>
            </a:r>
            <a:r>
              <a:rPr lang="en"/>
              <a:t> do?</a:t>
            </a:r>
            <a:endParaRPr/>
          </a:p>
        </p:txBody>
      </p:sp>
      <p:sp>
        <p:nvSpPr>
          <p:cNvPr id="389" name="Google Shape;389;p61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input is given on the </a:t>
            </a:r>
            <a:r>
              <a:rPr lang="en"/>
              <a:t>TM's tape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TM head points to the first cell of the tape, starting in state </a:t>
            </a:r>
            <a:r>
              <a:rPr i="1" lang="en"/>
              <a:t>q</a:t>
            </a:r>
            <a:r>
              <a:rPr baseline="-25000" lang="en"/>
              <a:t>start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TM repeatedly applies its transition function 𝛿 until it reaches one of </a:t>
            </a:r>
            <a:r>
              <a:rPr i="1" lang="en"/>
              <a:t>q</a:t>
            </a:r>
            <a:r>
              <a:rPr baseline="-25000" lang="en"/>
              <a:t>acc</a:t>
            </a:r>
            <a:r>
              <a:rPr lang="en"/>
              <a:t> or </a:t>
            </a:r>
            <a:r>
              <a:rPr i="1" lang="en"/>
              <a:t>q</a:t>
            </a:r>
            <a:r>
              <a:rPr baseline="-25000" lang="en"/>
              <a:t>rej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If this never happens, the TM runs forever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Because a TM </a:t>
            </a:r>
            <a:r>
              <a:rPr i="1" lang="en"/>
              <a:t>M</a:t>
            </a:r>
            <a:r>
              <a:rPr lang="en"/>
              <a:t> might not halt on an input </a:t>
            </a:r>
            <a:r>
              <a:rPr i="1" lang="en"/>
              <a:t>x</a:t>
            </a:r>
            <a:r>
              <a:rPr lang="en"/>
              <a:t>, we have three cases: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eventually </a:t>
            </a:r>
            <a:r>
              <a:rPr i="1" lang="en"/>
              <a:t>accepts</a:t>
            </a:r>
            <a:r>
              <a:rPr lang="en"/>
              <a:t> 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eventually </a:t>
            </a:r>
            <a:r>
              <a:rPr i="1" lang="en"/>
              <a:t>rejects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runs forever (or “</a:t>
            </a:r>
            <a:r>
              <a:rPr i="1" lang="en"/>
              <a:t>loops”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 but what does a TM do?</a:t>
            </a:r>
            <a:endParaRPr/>
          </a:p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The </a:t>
            </a:r>
            <a:r>
              <a:rPr b="1" i="1" lang="en"/>
              <a:t>language </a:t>
            </a:r>
            <a:r>
              <a:rPr i="1" lang="en"/>
              <a:t>L</a:t>
            </a:r>
            <a:r>
              <a:rPr lang="en"/>
              <a:t>(</a:t>
            </a:r>
            <a:r>
              <a:rPr i="1" lang="en"/>
              <a:t>M</a:t>
            </a:r>
            <a:r>
              <a:rPr lang="en"/>
              <a:t>)</a:t>
            </a:r>
            <a:r>
              <a:rPr b="1" i="1" lang="en"/>
              <a:t> of a Turing machine </a:t>
            </a:r>
            <a:r>
              <a:rPr i="1" lang="en"/>
              <a:t>M </a:t>
            </a:r>
            <a:r>
              <a:rPr lang="en"/>
              <a:t>is the set of strings </a:t>
            </a:r>
            <a:r>
              <a:rPr i="1" lang="en"/>
              <a:t>M</a:t>
            </a:r>
            <a:r>
              <a:rPr lang="en"/>
              <a:t> accepts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TM </a:t>
            </a:r>
            <a:r>
              <a:rPr b="1" i="1" lang="en"/>
              <a:t>decides</a:t>
            </a:r>
            <a:r>
              <a:rPr lang="en"/>
              <a:t> a language </a:t>
            </a:r>
            <a:r>
              <a:rPr i="1" lang="en"/>
              <a:t>L</a:t>
            </a:r>
            <a:r>
              <a:rPr lang="en"/>
              <a:t> if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 accepts every string in </a:t>
            </a:r>
            <a:r>
              <a:rPr i="1" lang="en"/>
              <a:t>L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 rejects every string not in </a:t>
            </a:r>
            <a:r>
              <a:rPr i="1" lang="en"/>
              <a:t>L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NO LOOPING</a:t>
            </a:r>
            <a:endParaRPr/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</a:t>
            </a:r>
            <a:r>
              <a:rPr lang="en"/>
              <a:t>TM</a:t>
            </a:r>
            <a:r>
              <a:rPr lang="en"/>
              <a:t> </a:t>
            </a:r>
            <a:r>
              <a:rPr b="1" i="1" lang="en"/>
              <a:t>recognizes</a:t>
            </a:r>
            <a:r>
              <a:rPr b="1" lang="en"/>
              <a:t> </a:t>
            </a:r>
            <a:r>
              <a:rPr lang="en"/>
              <a:t>a language </a:t>
            </a:r>
            <a:r>
              <a:rPr i="1" lang="en"/>
              <a:t>L</a:t>
            </a:r>
            <a:r>
              <a:rPr lang="en"/>
              <a:t> if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 accepts every string in </a:t>
            </a:r>
            <a:r>
              <a:rPr i="1" lang="en"/>
              <a:t>L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/>
              <a:t>M</a:t>
            </a:r>
            <a:r>
              <a:rPr lang="en"/>
              <a:t> rejects </a:t>
            </a:r>
            <a:r>
              <a:rPr b="1" lang="en"/>
              <a:t>or</a:t>
            </a:r>
            <a:r>
              <a:rPr lang="en"/>
              <a:t> loops on every string not in </a:t>
            </a:r>
            <a:r>
              <a:rPr i="1" lang="en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3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Church-Turing thesis</a:t>
            </a:r>
            <a:endParaRPr/>
          </a:p>
        </p:txBody>
      </p:sp>
      <p:sp>
        <p:nvSpPr>
          <p:cNvPr id="401" name="Google Shape;401;p63"/>
          <p:cNvSpPr txBox="1"/>
          <p:nvPr>
            <p:ph idx="1" type="body"/>
          </p:nvPr>
        </p:nvSpPr>
        <p:spPr>
          <a:xfrm>
            <a:off x="508000" y="1202500"/>
            <a:ext cx="8123400" cy="3328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A function can be computed by an “effective’ or “mechanical” procedure (i.e., an algorithm) </a:t>
            </a:r>
            <a:r>
              <a:rPr i="1" lang="en"/>
              <a:t>if and only if </a:t>
            </a:r>
            <a:r>
              <a:rPr lang="en"/>
              <a:t>it can be computed by some Turing machine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This is not a statement that we can prove!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This is essentially a definition of what </a:t>
            </a:r>
            <a:r>
              <a:rPr b="1" i="1" lang="en"/>
              <a:t>computation</a:t>
            </a:r>
            <a:r>
              <a:rPr b="1" lang="en"/>
              <a:t> is</a:t>
            </a:r>
            <a:endParaRPr b="1"/>
          </a:p>
        </p:txBody>
      </p:sp>
      <p:pic>
        <p:nvPicPr>
          <p:cNvPr id="402" name="Google Shape;40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2400" y="1591975"/>
            <a:ext cx="2939025" cy="29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type="title"/>
          </p:nvPr>
        </p:nvSpPr>
        <p:spPr>
          <a:xfrm>
            <a:off x="1594800" y="1907700"/>
            <a:ext cx="59544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Any questions before discussion problems?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 txBox="1"/>
          <p:nvPr>
            <p:ph type="title"/>
          </p:nvPr>
        </p:nvSpPr>
        <p:spPr>
          <a:xfrm>
            <a:off x="1348200" y="1907709"/>
            <a:ext cx="6447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</a:pPr>
            <a:r>
              <a:rPr lang="en"/>
              <a:t>Discussion Problems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Drawing Forty Arrows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18" name="Google Shape;418;p66"/>
          <p:cNvSpPr txBox="1"/>
          <p:nvPr>
            <p:ph idx="1" type="body"/>
          </p:nvPr>
        </p:nvSpPr>
        <p:spPr>
          <a:xfrm>
            <a:off x="568350" y="1218163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True </a:t>
            </a:r>
            <a:r>
              <a:rPr lang="en" sz="1600"/>
              <a:t>or </a:t>
            </a:r>
            <a:r>
              <a:rPr b="1" lang="en" sz="1600"/>
              <a:t>False</a:t>
            </a:r>
            <a:r>
              <a:rPr lang="en" sz="1600"/>
              <a:t>: there is a DFA that decides the following language: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/>
              <a:t>L</a:t>
            </a:r>
            <a:r>
              <a:rPr lang="en" sz="1600"/>
              <a:t> = {</a:t>
            </a:r>
            <a:r>
              <a:rPr i="1" lang="en" sz="1600"/>
              <a:t>x</a:t>
            </a:r>
            <a:r>
              <a:rPr lang="en" sz="1600"/>
              <a:t>: </a:t>
            </a:r>
            <a:r>
              <a:rPr i="1" lang="en" sz="1600"/>
              <a:t>x</a:t>
            </a:r>
            <a:r>
              <a:rPr lang="en" sz="1600"/>
              <a:t> is a binary string of length 4 that starts with two 1s}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Justify your answer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7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Drawing Forty Arrows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24" name="Google Shape;424;p67"/>
          <p:cNvSpPr txBox="1"/>
          <p:nvPr>
            <p:ph idx="1" type="body"/>
          </p:nvPr>
        </p:nvSpPr>
        <p:spPr>
          <a:xfrm>
            <a:off x="568350" y="1218163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True </a:t>
            </a:r>
            <a:r>
              <a:rPr lang="en" sz="1600"/>
              <a:t>or </a:t>
            </a:r>
            <a:r>
              <a:rPr b="1" lang="en" sz="1600"/>
              <a:t>False</a:t>
            </a:r>
            <a:r>
              <a:rPr lang="en" sz="1600"/>
              <a:t>: there is a DFA that decides the following language: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/>
              <a:t>L </a:t>
            </a:r>
            <a:r>
              <a:rPr lang="en" sz="1600"/>
              <a:t>= </a:t>
            </a:r>
            <a:r>
              <a:rPr lang="en" sz="1600"/>
              <a:t>{</a:t>
            </a:r>
            <a:r>
              <a:rPr i="1" lang="en" sz="1600"/>
              <a:t>x</a:t>
            </a:r>
            <a:r>
              <a:rPr lang="en" sz="1600"/>
              <a:t>: </a:t>
            </a:r>
            <a:r>
              <a:rPr i="1" lang="en" sz="1600"/>
              <a:t>x</a:t>
            </a:r>
            <a:r>
              <a:rPr lang="en" sz="1600"/>
              <a:t> is a binary string of length 4 that starts with two 1s}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Justify your answer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25" name="Google Shape;42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825" y="2346350"/>
            <a:ext cx="5962349" cy="23403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67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  <p:sp>
        <p:nvSpPr>
          <p:cNvPr id="427" name="Google Shape;427;p67"/>
          <p:cNvSpPr txBox="1"/>
          <p:nvPr/>
        </p:nvSpPr>
        <p:spPr>
          <a:xfrm>
            <a:off x="1590825" y="234635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8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Is that a palindrome?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33" name="Google Shape;433;p68"/>
          <p:cNvSpPr txBox="1"/>
          <p:nvPr>
            <p:ph idx="1" type="body"/>
          </p:nvPr>
        </p:nvSpPr>
        <p:spPr>
          <a:xfrm>
            <a:off x="568350" y="1218163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True </a:t>
            </a:r>
            <a:r>
              <a:rPr lang="en" sz="1600"/>
              <a:t>or </a:t>
            </a:r>
            <a:r>
              <a:rPr b="1" lang="en" sz="1600"/>
              <a:t>False</a:t>
            </a:r>
            <a:r>
              <a:rPr lang="en" sz="1600"/>
              <a:t>: there is a DFA that decides the following language: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/>
              <a:t>L</a:t>
            </a:r>
            <a:r>
              <a:rPr lang="en" sz="1600"/>
              <a:t> = </a:t>
            </a:r>
            <a:r>
              <a:rPr lang="en" sz="1600"/>
              <a:t>{</a:t>
            </a:r>
            <a:r>
              <a:rPr i="1" lang="en" sz="1600"/>
              <a:t>x</a:t>
            </a:r>
            <a:r>
              <a:rPr lang="en" sz="1600"/>
              <a:t>: </a:t>
            </a:r>
            <a:r>
              <a:rPr i="1" lang="en" sz="1600"/>
              <a:t>x</a:t>
            </a:r>
            <a:r>
              <a:rPr lang="en" sz="1600"/>
              <a:t> is palindrome} where the language Σ has at least 2 elements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Justify your answer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9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</a:t>
            </a:r>
            <a:r>
              <a:rPr lang="en"/>
              <a:t>Is that a palindrome?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39" name="Google Shape;439;p69"/>
          <p:cNvSpPr txBox="1"/>
          <p:nvPr>
            <p:ph idx="1" type="body"/>
          </p:nvPr>
        </p:nvSpPr>
        <p:spPr>
          <a:xfrm>
            <a:off x="568350" y="1218170"/>
            <a:ext cx="8007300" cy="135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True </a:t>
            </a:r>
            <a:r>
              <a:rPr lang="en" sz="1600"/>
              <a:t>or </a:t>
            </a:r>
            <a:r>
              <a:rPr b="1" lang="en" sz="1600"/>
              <a:t>False</a:t>
            </a:r>
            <a:r>
              <a:rPr lang="en" sz="1600"/>
              <a:t>: there is a DFA that decides the following language: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/>
              <a:t>L</a:t>
            </a:r>
            <a:r>
              <a:rPr lang="en" sz="1600"/>
              <a:t> = </a:t>
            </a:r>
            <a:r>
              <a:rPr lang="en" sz="1600"/>
              <a:t>{</a:t>
            </a:r>
            <a:r>
              <a:rPr i="1" lang="en" sz="1600"/>
              <a:t>x</a:t>
            </a:r>
            <a:r>
              <a:rPr lang="en" sz="1600"/>
              <a:t>: </a:t>
            </a:r>
            <a:r>
              <a:rPr i="1" lang="en" sz="1600"/>
              <a:t>x</a:t>
            </a:r>
            <a:r>
              <a:rPr lang="en" sz="1600"/>
              <a:t> is palindrome} where the language Σ has at least 2 elements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Justify your answer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40" name="Google Shape;440;p69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  <p:sp>
        <p:nvSpPr>
          <p:cNvPr id="441" name="Google Shape;441;p69"/>
          <p:cNvSpPr txBox="1"/>
          <p:nvPr>
            <p:ph idx="1" type="body"/>
          </p:nvPr>
        </p:nvSpPr>
        <p:spPr>
          <a:xfrm>
            <a:off x="566050" y="2246650"/>
            <a:ext cx="8007300" cy="247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b="1" lang="en">
                <a:solidFill>
                  <a:srgbClr val="FF0000"/>
                </a:solidFill>
              </a:rPr>
              <a:t>False</a:t>
            </a:r>
            <a:r>
              <a:rPr lang="en">
                <a:solidFill>
                  <a:srgbClr val="3F3F3F"/>
                </a:solidFill>
              </a:rPr>
              <a:t>… but why?</a:t>
            </a:r>
            <a:endParaRPr>
              <a:solidFill>
                <a:srgbClr val="3F3F3F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Suppose there is a DFA </a:t>
            </a:r>
            <a:r>
              <a:rPr i="1" lang="en">
                <a:solidFill>
                  <a:srgbClr val="3F3F3F"/>
                </a:solidFill>
              </a:rPr>
              <a:t>M</a:t>
            </a:r>
            <a:r>
              <a:rPr lang="en">
                <a:solidFill>
                  <a:srgbClr val="3F3F3F"/>
                </a:solidFill>
              </a:rPr>
              <a:t> (</a:t>
            </a:r>
            <a:r>
              <a:rPr lang="en">
                <a:solidFill>
                  <a:srgbClr val="FF0000"/>
                </a:solidFill>
              </a:rPr>
              <a:t>with</a:t>
            </a:r>
            <a:r>
              <a:rPr i="1" lang="en">
                <a:solidFill>
                  <a:srgbClr val="FF0000"/>
                </a:solidFill>
              </a:rPr>
              <a:t> s </a:t>
            </a:r>
            <a:r>
              <a:rPr lang="en">
                <a:solidFill>
                  <a:srgbClr val="FF0000"/>
                </a:solidFill>
              </a:rPr>
              <a:t>states</a:t>
            </a:r>
            <a:r>
              <a:rPr lang="en">
                <a:solidFill>
                  <a:srgbClr val="3F3F3F"/>
                </a:solidFill>
              </a:rPr>
              <a:t>) that decides </a:t>
            </a:r>
            <a:r>
              <a:rPr i="1" lang="en">
                <a:solidFill>
                  <a:srgbClr val="3F3F3F"/>
                </a:solidFill>
              </a:rPr>
              <a:t>L</a:t>
            </a:r>
            <a:endParaRPr>
              <a:solidFill>
                <a:srgbClr val="3F3F3F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Let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lang="en">
                <a:solidFill>
                  <a:srgbClr val="FF0000"/>
                </a:solidFill>
              </a:rPr>
              <a:t> and </a:t>
            </a:r>
            <a:r>
              <a:rPr i="1" lang="en">
                <a:solidFill>
                  <a:srgbClr val="FF0000"/>
                </a:solidFill>
              </a:rPr>
              <a:t>y</a:t>
            </a:r>
            <a:r>
              <a:rPr lang="en">
                <a:solidFill>
                  <a:srgbClr val="FF0000"/>
                </a:solidFill>
              </a:rPr>
              <a:t> be two (distinct) symbols</a:t>
            </a:r>
            <a:r>
              <a:rPr lang="en">
                <a:solidFill>
                  <a:srgbClr val="3F3F3F"/>
                </a:solidFill>
              </a:rPr>
              <a:t> in Σ</a:t>
            </a:r>
            <a:endParaRPr>
              <a:solidFill>
                <a:srgbClr val="3F3F3F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Consider the states </a:t>
            </a:r>
            <a:r>
              <a:rPr i="1" lang="en">
                <a:solidFill>
                  <a:srgbClr val="3F3F3F"/>
                </a:solidFill>
              </a:rPr>
              <a:t>M</a:t>
            </a:r>
            <a:r>
              <a:rPr lang="en">
                <a:solidFill>
                  <a:srgbClr val="3F3F3F"/>
                </a:solidFill>
              </a:rPr>
              <a:t> is in after processing the strings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baseline="30000" lang="en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baseline="30000" lang="en">
                <a:solidFill>
                  <a:srgbClr val="FF0000"/>
                </a:solidFill>
              </a:rPr>
              <a:t>2</a:t>
            </a:r>
            <a:r>
              <a:rPr lang="en">
                <a:solidFill>
                  <a:srgbClr val="FF0000"/>
                </a:solidFill>
              </a:rPr>
              <a:t>, …,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baseline="30000" i="1" lang="en">
                <a:solidFill>
                  <a:srgbClr val="FF0000"/>
                </a:solidFill>
              </a:rPr>
              <a:t>s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baseline="30000" i="1" lang="en">
                <a:solidFill>
                  <a:srgbClr val="FF0000"/>
                </a:solidFill>
              </a:rPr>
              <a:t>s</a:t>
            </a:r>
            <a:r>
              <a:rPr baseline="30000" lang="en">
                <a:solidFill>
                  <a:srgbClr val="FF0000"/>
                </a:solidFill>
              </a:rPr>
              <a:t>+1</a:t>
            </a:r>
            <a:endParaRPr>
              <a:solidFill>
                <a:srgbClr val="FF0000"/>
              </a:solidFill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 sz="1400">
                <a:solidFill>
                  <a:srgbClr val="3F3F3F"/>
                </a:solidFill>
              </a:rPr>
              <a:t>By the pigeonhole principle, </a:t>
            </a:r>
            <a:r>
              <a:rPr i="1" lang="en" sz="1400">
                <a:solidFill>
                  <a:srgbClr val="3F3F3F"/>
                </a:solidFill>
              </a:rPr>
              <a:t>M</a:t>
            </a:r>
            <a:r>
              <a:rPr lang="en" sz="1400">
                <a:solidFill>
                  <a:srgbClr val="3F3F3F"/>
                </a:solidFill>
              </a:rPr>
              <a:t> must be in the </a:t>
            </a:r>
            <a:r>
              <a:rPr lang="en" sz="1400">
                <a:solidFill>
                  <a:srgbClr val="FF0000"/>
                </a:solidFill>
              </a:rPr>
              <a:t>same state</a:t>
            </a:r>
            <a:r>
              <a:rPr lang="en" sz="1400">
                <a:solidFill>
                  <a:srgbClr val="3F3F3F"/>
                </a:solidFill>
              </a:rPr>
              <a:t> after processing </a:t>
            </a:r>
            <a:r>
              <a:rPr lang="en" sz="1400">
                <a:solidFill>
                  <a:srgbClr val="FF0000"/>
                </a:solidFill>
              </a:rPr>
              <a:t>at least two of these strings</a:t>
            </a:r>
            <a:r>
              <a:rPr lang="en" sz="1400">
                <a:solidFill>
                  <a:srgbClr val="3F3F3F"/>
                </a:solidFill>
              </a:rPr>
              <a:t>, say </a:t>
            </a:r>
            <a:r>
              <a:rPr i="1" lang="en" sz="1400">
                <a:solidFill>
                  <a:srgbClr val="FF0000"/>
                </a:solidFill>
              </a:rPr>
              <a:t>x</a:t>
            </a:r>
            <a:r>
              <a:rPr baseline="30000" i="1" lang="en" sz="1400">
                <a:solidFill>
                  <a:srgbClr val="FF0000"/>
                </a:solidFill>
              </a:rPr>
              <a:t>i</a:t>
            </a:r>
            <a:r>
              <a:rPr lang="en" sz="1400">
                <a:solidFill>
                  <a:srgbClr val="FF0000"/>
                </a:solidFill>
              </a:rPr>
              <a:t> and </a:t>
            </a:r>
            <a:r>
              <a:rPr i="1" lang="en" sz="1400">
                <a:solidFill>
                  <a:srgbClr val="FF0000"/>
                </a:solidFill>
              </a:rPr>
              <a:t>x</a:t>
            </a:r>
            <a:r>
              <a:rPr baseline="30000" i="1" lang="en" sz="1400">
                <a:solidFill>
                  <a:srgbClr val="FF0000"/>
                </a:solidFill>
              </a:rPr>
              <a:t>j</a:t>
            </a:r>
            <a:r>
              <a:rPr lang="en" sz="1400">
                <a:solidFill>
                  <a:srgbClr val="FF0000"/>
                </a:solidFill>
              </a:rPr>
              <a:t> where </a:t>
            </a:r>
            <a:r>
              <a:rPr i="1" lang="en" sz="1400">
                <a:solidFill>
                  <a:srgbClr val="FF0000"/>
                </a:solidFill>
              </a:rPr>
              <a:t>i</a:t>
            </a:r>
            <a:r>
              <a:rPr lang="en" sz="1400">
                <a:solidFill>
                  <a:srgbClr val="FF0000"/>
                </a:solidFill>
              </a:rPr>
              <a:t> ≠ </a:t>
            </a:r>
            <a:r>
              <a:rPr i="1" lang="en" sz="1400">
                <a:solidFill>
                  <a:srgbClr val="FF0000"/>
                </a:solidFill>
              </a:rPr>
              <a:t>j</a:t>
            </a:r>
            <a:endParaRPr sz="14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What happens when we run </a:t>
            </a:r>
            <a:r>
              <a:rPr i="1" lang="en">
                <a:solidFill>
                  <a:srgbClr val="3F3F3F"/>
                </a:solidFill>
              </a:rPr>
              <a:t>M</a:t>
            </a:r>
            <a:r>
              <a:rPr lang="en">
                <a:solidFill>
                  <a:srgbClr val="3F3F3F"/>
                </a:solidFill>
              </a:rPr>
              <a:t> on the strings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baseline="30000" i="1" lang="en">
                <a:solidFill>
                  <a:srgbClr val="FF0000"/>
                </a:solidFill>
              </a:rPr>
              <a:t>i</a:t>
            </a:r>
            <a:r>
              <a:rPr i="1" lang="en">
                <a:solidFill>
                  <a:srgbClr val="FF0000"/>
                </a:solidFill>
              </a:rPr>
              <a:t>yx</a:t>
            </a:r>
            <a:r>
              <a:rPr baseline="30000" i="1" lang="en">
                <a:solidFill>
                  <a:srgbClr val="FF0000"/>
                </a:solidFill>
              </a:rPr>
              <a:t>i</a:t>
            </a:r>
            <a:r>
              <a:rPr i="1" lang="en">
                <a:solidFill>
                  <a:srgbClr val="3F3F3F"/>
                </a:solidFill>
              </a:rPr>
              <a:t> </a:t>
            </a:r>
            <a:r>
              <a:rPr lang="en">
                <a:solidFill>
                  <a:srgbClr val="3F3F3F"/>
                </a:solidFill>
              </a:rPr>
              <a:t>and </a:t>
            </a:r>
            <a:r>
              <a:rPr i="1" lang="en">
                <a:solidFill>
                  <a:srgbClr val="FF0000"/>
                </a:solidFill>
              </a:rPr>
              <a:t>x</a:t>
            </a:r>
            <a:r>
              <a:rPr baseline="30000" i="1" lang="en">
                <a:solidFill>
                  <a:srgbClr val="FF0000"/>
                </a:solidFill>
              </a:rPr>
              <a:t>j</a:t>
            </a:r>
            <a:r>
              <a:rPr i="1" lang="en">
                <a:solidFill>
                  <a:srgbClr val="FF0000"/>
                </a:solidFill>
              </a:rPr>
              <a:t>yx</a:t>
            </a:r>
            <a:r>
              <a:rPr baseline="30000" i="1" lang="en">
                <a:solidFill>
                  <a:srgbClr val="FF0000"/>
                </a:solidFill>
              </a:rPr>
              <a:t>i</a:t>
            </a:r>
            <a:r>
              <a:rPr lang="en">
                <a:solidFill>
                  <a:srgbClr val="3F3F3F"/>
                </a:solidFill>
              </a:rPr>
              <a:t>?</a:t>
            </a:r>
            <a:endParaRPr>
              <a:solidFill>
                <a:srgbClr val="3F3F3F"/>
              </a:solidFill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It has to either </a:t>
            </a:r>
            <a:r>
              <a:rPr lang="en">
                <a:solidFill>
                  <a:srgbClr val="FF0000"/>
                </a:solidFill>
              </a:rPr>
              <a:t>reject both</a:t>
            </a:r>
            <a:r>
              <a:rPr lang="en">
                <a:solidFill>
                  <a:srgbClr val="3F3F3F"/>
                </a:solidFill>
              </a:rPr>
              <a:t> or </a:t>
            </a:r>
            <a:r>
              <a:rPr lang="en">
                <a:solidFill>
                  <a:srgbClr val="FF0000"/>
                </a:solidFill>
              </a:rPr>
              <a:t>accept both</a:t>
            </a:r>
            <a:endParaRPr>
              <a:solidFill>
                <a:srgbClr val="FF0000"/>
              </a:solidFill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FF0000"/>
                </a:solidFill>
              </a:rPr>
              <a:t>CONTRADICTION </a:t>
            </a:r>
            <a:r>
              <a:rPr lang="en">
                <a:solidFill>
                  <a:srgbClr val="3F3F3F"/>
                </a:solidFill>
              </a:rPr>
              <a:t>→ no DFA decides </a:t>
            </a:r>
            <a:r>
              <a:rPr i="1" lang="en">
                <a:solidFill>
                  <a:srgbClr val="3F3F3F"/>
                </a:solidFill>
              </a:rPr>
              <a:t>L</a:t>
            </a:r>
            <a:endParaRPr>
              <a:solidFill>
                <a:srgbClr val="3F3F3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0"/>
          <p:cNvSpPr txBox="1"/>
          <p:nvPr>
            <p:ph type="title"/>
          </p:nvPr>
        </p:nvSpPr>
        <p:spPr>
          <a:xfrm>
            <a:off x="508000" y="457200"/>
            <a:ext cx="81234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</a:t>
            </a:r>
            <a:endParaRPr/>
          </a:p>
        </p:txBody>
      </p:sp>
      <p:pic>
        <p:nvPicPr>
          <p:cNvPr id="447" name="Google Shape;44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300" y="920350"/>
            <a:ext cx="3302800" cy="3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70"/>
          <p:cNvSpPr txBox="1"/>
          <p:nvPr/>
        </p:nvSpPr>
        <p:spPr>
          <a:xfrm>
            <a:off x="3072000" y="4147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https://tinyurl.com/2za4dcmm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1"/>
          <p:cNvSpPr txBox="1"/>
          <p:nvPr>
            <p:ph type="title"/>
          </p:nvPr>
        </p:nvSpPr>
        <p:spPr>
          <a:xfrm>
            <a:off x="508000" y="457200"/>
            <a:ext cx="39612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Decisions decisions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54" name="Google Shape;454;p71"/>
          <p:cNvSpPr txBox="1"/>
          <p:nvPr>
            <p:ph idx="1" type="body"/>
          </p:nvPr>
        </p:nvSpPr>
        <p:spPr>
          <a:xfrm>
            <a:off x="568350" y="1011988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language does the following Turing machine accept, if any?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55" name="Google Shape;45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00" y="1421199"/>
            <a:ext cx="6307999" cy="271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2"/>
          <p:cNvSpPr txBox="1"/>
          <p:nvPr>
            <p:ph type="title"/>
          </p:nvPr>
        </p:nvSpPr>
        <p:spPr>
          <a:xfrm>
            <a:off x="508000" y="457200"/>
            <a:ext cx="39612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Decisions decisions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61" name="Google Shape;461;p72"/>
          <p:cNvSpPr txBox="1"/>
          <p:nvPr>
            <p:ph idx="1" type="body"/>
          </p:nvPr>
        </p:nvSpPr>
        <p:spPr>
          <a:xfrm>
            <a:off x="568350" y="1011988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language does the following Turing machine decide, if any?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62" name="Google Shape;46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00" y="1421199"/>
            <a:ext cx="6307999" cy="2710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72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  <p:sp>
        <p:nvSpPr>
          <p:cNvPr id="464" name="Google Shape;464;p72"/>
          <p:cNvSpPr txBox="1"/>
          <p:nvPr>
            <p:ph idx="1" type="body"/>
          </p:nvPr>
        </p:nvSpPr>
        <p:spPr>
          <a:xfrm>
            <a:off x="985150" y="4251950"/>
            <a:ext cx="7751100" cy="375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This Turing machine </a:t>
            </a:r>
            <a:r>
              <a:rPr lang="en">
                <a:solidFill>
                  <a:srgbClr val="FF0000"/>
                </a:solidFill>
              </a:rPr>
              <a:t>does not decide any language</a:t>
            </a:r>
            <a:r>
              <a:rPr lang="en"/>
              <a:t>! For example, it </a:t>
            </a:r>
            <a:r>
              <a:rPr lang="en">
                <a:solidFill>
                  <a:srgbClr val="FF0000"/>
                </a:solidFill>
              </a:rPr>
              <a:t>loops on input “11” 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3"/>
          <p:cNvSpPr txBox="1"/>
          <p:nvPr>
            <p:ph type="title"/>
          </p:nvPr>
        </p:nvSpPr>
        <p:spPr>
          <a:xfrm>
            <a:off x="508000" y="457200"/>
            <a:ext cx="39612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Q4: Pattern recognition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70" name="Google Shape;470;p73"/>
          <p:cNvSpPr txBox="1"/>
          <p:nvPr>
            <p:ph idx="1" type="body"/>
          </p:nvPr>
        </p:nvSpPr>
        <p:spPr>
          <a:xfrm>
            <a:off x="568350" y="1011988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inputs does this Turing machine (same as last question) accept? reject? loop on?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71" name="Google Shape;4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00" y="1421199"/>
            <a:ext cx="6307999" cy="271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4"/>
          <p:cNvSpPr txBox="1"/>
          <p:nvPr>
            <p:ph type="title"/>
          </p:nvPr>
        </p:nvSpPr>
        <p:spPr>
          <a:xfrm>
            <a:off x="508000" y="457200"/>
            <a:ext cx="39612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Q4: Pattern recognition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77" name="Google Shape;477;p74"/>
          <p:cNvSpPr txBox="1"/>
          <p:nvPr>
            <p:ph idx="1" type="body"/>
          </p:nvPr>
        </p:nvSpPr>
        <p:spPr>
          <a:xfrm>
            <a:off x="568350" y="1011988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inputs does this Turing machine (same as last question) accept? reject? loop on?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78" name="Google Shape;47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00" y="1421199"/>
            <a:ext cx="6307999" cy="271030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74"/>
          <p:cNvSpPr txBox="1"/>
          <p:nvPr>
            <p:ph idx="1" type="body"/>
          </p:nvPr>
        </p:nvSpPr>
        <p:spPr>
          <a:xfrm>
            <a:off x="280300" y="3220975"/>
            <a:ext cx="3407700" cy="157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Accept: </a:t>
            </a:r>
            <a:endParaRPr>
              <a:solidFill>
                <a:srgbClr val="3F3F3F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 sz="1400">
                <a:solidFill>
                  <a:srgbClr val="FF0000"/>
                </a:solidFill>
              </a:rPr>
              <a:t>01(0|1)*</a:t>
            </a:r>
            <a:endParaRPr sz="14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Reject: </a:t>
            </a:r>
            <a:endParaRPr>
              <a:solidFill>
                <a:srgbClr val="3F3F3F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 sz="1400">
                <a:solidFill>
                  <a:srgbClr val="FF0000"/>
                </a:solidFill>
              </a:rPr>
              <a:t>𝜀|(00(0|1)*)|0</a:t>
            </a:r>
            <a:endParaRPr sz="14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Loop: </a:t>
            </a:r>
            <a:endParaRPr>
              <a:solidFill>
                <a:srgbClr val="3F3F3F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 sz="1400">
                <a:solidFill>
                  <a:srgbClr val="FF0000"/>
                </a:solidFill>
              </a:rPr>
              <a:t>1(0|1)*</a:t>
            </a:r>
            <a:endParaRPr sz="1400">
              <a:solidFill>
                <a:srgbClr val="FF0000"/>
              </a:solidFill>
            </a:endParaRPr>
          </a:p>
        </p:txBody>
      </p:sp>
      <p:sp>
        <p:nvSpPr>
          <p:cNvPr id="480" name="Google Shape;480;p74"/>
          <p:cNvSpPr txBox="1"/>
          <p:nvPr>
            <p:ph idx="1" type="body"/>
          </p:nvPr>
        </p:nvSpPr>
        <p:spPr>
          <a:xfrm>
            <a:off x="5593075" y="3632825"/>
            <a:ext cx="3550800" cy="116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en"/>
              <a:t>Does this Turing machine recognize a language?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en">
                <a:solidFill>
                  <a:srgbClr val="FF0000"/>
                </a:solidFill>
              </a:rPr>
              <a:t>Of course! Every Turing machine recognizes a language</a:t>
            </a:r>
            <a:endParaRPr/>
          </a:p>
        </p:txBody>
      </p:sp>
      <p:sp>
        <p:nvSpPr>
          <p:cNvPr id="481" name="Google Shape;481;p74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5"/>
          <p:cNvSpPr txBox="1"/>
          <p:nvPr>
            <p:ph type="title"/>
          </p:nvPr>
        </p:nvSpPr>
        <p:spPr>
          <a:xfrm>
            <a:off x="508000" y="457200"/>
            <a:ext cx="39612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Q5: </a:t>
            </a:r>
            <a:r>
              <a:rPr lang="en"/>
              <a:t>Decidedly</a:t>
            </a:r>
            <a:r>
              <a:rPr lang="en"/>
              <a:t> decidable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87" name="Google Shape;487;p75"/>
          <p:cNvSpPr txBox="1"/>
          <p:nvPr>
            <p:ph idx="1" type="body"/>
          </p:nvPr>
        </p:nvSpPr>
        <p:spPr>
          <a:xfrm>
            <a:off x="568350" y="1367238"/>
            <a:ext cx="8007300" cy="240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Let </a:t>
            </a:r>
            <a:r>
              <a:rPr i="1" lang="en" sz="1600"/>
              <a:t>A</a:t>
            </a:r>
            <a:r>
              <a:rPr lang="en" sz="1600"/>
              <a:t> and </a:t>
            </a:r>
            <a:r>
              <a:rPr i="1" lang="en" sz="1600"/>
              <a:t>B</a:t>
            </a:r>
            <a:r>
              <a:rPr lang="en" sz="1600"/>
              <a:t> be two decidable languages. Given access to a Turing machine </a:t>
            </a:r>
            <a:r>
              <a:rPr i="1" lang="en" sz="1600"/>
              <a:t>M</a:t>
            </a:r>
            <a:r>
              <a:rPr baseline="-25000" i="1" lang="en" sz="1600"/>
              <a:t>A</a:t>
            </a:r>
            <a:r>
              <a:rPr i="1" lang="en" sz="1600"/>
              <a:t> </a:t>
            </a:r>
            <a:r>
              <a:rPr lang="en" sz="1600"/>
              <a:t>that decides </a:t>
            </a:r>
            <a:r>
              <a:rPr i="1" lang="en" sz="1600"/>
              <a:t>A</a:t>
            </a:r>
            <a:r>
              <a:rPr lang="en" sz="1600"/>
              <a:t> and a Turing machine </a:t>
            </a:r>
            <a:r>
              <a:rPr i="1" lang="en" sz="1600"/>
              <a:t>M</a:t>
            </a:r>
            <a:r>
              <a:rPr baseline="-25000" i="1" lang="en" sz="1600"/>
              <a:t>B</a:t>
            </a:r>
            <a:r>
              <a:rPr lang="en" sz="1600"/>
              <a:t> that decides </a:t>
            </a:r>
            <a:r>
              <a:rPr i="1" lang="en" sz="1600"/>
              <a:t>B</a:t>
            </a:r>
            <a:r>
              <a:rPr lang="en" sz="1600"/>
              <a:t>, what languages based on </a:t>
            </a:r>
            <a:r>
              <a:rPr i="1" lang="en" sz="1600"/>
              <a:t>A</a:t>
            </a:r>
            <a:r>
              <a:rPr lang="en" sz="1600"/>
              <a:t> and </a:t>
            </a:r>
            <a:r>
              <a:rPr i="1" lang="en" sz="1600"/>
              <a:t>B</a:t>
            </a:r>
            <a:r>
              <a:rPr lang="en" sz="1600"/>
              <a:t> can you come up with that are also decidable?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6"/>
          <p:cNvSpPr txBox="1"/>
          <p:nvPr>
            <p:ph type="title"/>
          </p:nvPr>
        </p:nvSpPr>
        <p:spPr>
          <a:xfrm>
            <a:off x="508000" y="457200"/>
            <a:ext cx="3961200" cy="74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Q5: Decidedly decidable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93" name="Google Shape;493;p76"/>
          <p:cNvSpPr txBox="1"/>
          <p:nvPr>
            <p:ph idx="1" type="body"/>
          </p:nvPr>
        </p:nvSpPr>
        <p:spPr>
          <a:xfrm>
            <a:off x="568350" y="1367244"/>
            <a:ext cx="8007300" cy="120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Let </a:t>
            </a:r>
            <a:r>
              <a:rPr i="1" lang="en" sz="1600"/>
              <a:t>A</a:t>
            </a:r>
            <a:r>
              <a:rPr lang="en" sz="1600"/>
              <a:t> and </a:t>
            </a:r>
            <a:r>
              <a:rPr i="1" lang="en" sz="1600"/>
              <a:t>B</a:t>
            </a:r>
            <a:r>
              <a:rPr lang="en" sz="1600"/>
              <a:t> be two decidable languages. Given access to a Turing machine </a:t>
            </a:r>
            <a:r>
              <a:rPr i="1" lang="en" sz="1600"/>
              <a:t>M</a:t>
            </a:r>
            <a:r>
              <a:rPr baseline="-25000" i="1" lang="en" sz="1600"/>
              <a:t>A</a:t>
            </a:r>
            <a:r>
              <a:rPr i="1" lang="en" sz="1600"/>
              <a:t> </a:t>
            </a:r>
            <a:r>
              <a:rPr lang="en" sz="1600"/>
              <a:t>that decides </a:t>
            </a:r>
            <a:r>
              <a:rPr i="1" lang="en" sz="1600"/>
              <a:t>A</a:t>
            </a:r>
            <a:r>
              <a:rPr lang="en" sz="1600"/>
              <a:t> and a Turing machine </a:t>
            </a:r>
            <a:r>
              <a:rPr i="1" lang="en" sz="1600"/>
              <a:t>M</a:t>
            </a:r>
            <a:r>
              <a:rPr baseline="-25000" i="1" lang="en" sz="1600"/>
              <a:t>B</a:t>
            </a:r>
            <a:r>
              <a:rPr lang="en" sz="1600"/>
              <a:t> that decides </a:t>
            </a:r>
            <a:r>
              <a:rPr i="1" lang="en" sz="1600"/>
              <a:t>B</a:t>
            </a:r>
            <a:r>
              <a:rPr lang="en" sz="1600"/>
              <a:t>, what languages based on </a:t>
            </a:r>
            <a:r>
              <a:rPr i="1" lang="en" sz="1600"/>
              <a:t>A</a:t>
            </a:r>
            <a:r>
              <a:rPr lang="en" sz="1600"/>
              <a:t> and </a:t>
            </a:r>
            <a:r>
              <a:rPr i="1" lang="en" sz="1600"/>
              <a:t>B</a:t>
            </a:r>
            <a:r>
              <a:rPr lang="en" sz="1600"/>
              <a:t> can you come up with that are also decidable?</a:t>
            </a:r>
            <a:endParaRPr sz="1600"/>
          </a:p>
        </p:txBody>
      </p:sp>
      <p:sp>
        <p:nvSpPr>
          <p:cNvPr id="494" name="Google Shape;494;p76"/>
          <p:cNvSpPr txBox="1"/>
          <p:nvPr/>
        </p:nvSpPr>
        <p:spPr>
          <a:xfrm>
            <a:off x="7247400" y="0"/>
            <a:ext cx="189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</a:t>
            </a:r>
            <a:endParaRPr/>
          </a:p>
        </p:txBody>
      </p:sp>
      <p:sp>
        <p:nvSpPr>
          <p:cNvPr id="495" name="Google Shape;495;p76"/>
          <p:cNvSpPr txBox="1"/>
          <p:nvPr>
            <p:ph idx="1" type="body"/>
          </p:nvPr>
        </p:nvSpPr>
        <p:spPr>
          <a:xfrm>
            <a:off x="566050" y="2571750"/>
            <a:ext cx="4531800" cy="214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i="1" lang="en">
                <a:solidFill>
                  <a:srgbClr val="FF0000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 ∪ </a:t>
            </a:r>
            <a:r>
              <a:rPr i="1" lang="en">
                <a:solidFill>
                  <a:srgbClr val="FF0000"/>
                </a:solidFill>
              </a:rPr>
              <a:t>B</a:t>
            </a:r>
            <a:endParaRPr i="1">
              <a:solidFill>
                <a:srgbClr val="FF0000"/>
              </a:solidFill>
            </a:endParaRPr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i="1" lang="en"/>
              <a:t>x</a:t>
            </a:r>
            <a:r>
              <a:rPr i="1" lang="en"/>
              <a:t> </a:t>
            </a:r>
            <a:r>
              <a:rPr lang="en"/>
              <a:t>∈ </a:t>
            </a:r>
            <a:r>
              <a:rPr i="1" lang="en">
                <a:solidFill>
                  <a:srgbClr val="FF0000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 ∪ </a:t>
            </a:r>
            <a:r>
              <a:rPr i="1" lang="en">
                <a:solidFill>
                  <a:srgbClr val="FF0000"/>
                </a:solidFill>
              </a:rPr>
              <a:t>B</a:t>
            </a:r>
            <a:r>
              <a:rPr i="1" lang="en"/>
              <a:t> </a:t>
            </a:r>
            <a:r>
              <a:rPr lang="en"/>
              <a:t>⇔ </a:t>
            </a:r>
            <a:r>
              <a:rPr i="1" lang="en"/>
              <a:t>M</a:t>
            </a:r>
            <a:r>
              <a:rPr baseline="-25000" i="1" lang="en"/>
              <a:t>A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accepts OR</a:t>
            </a:r>
            <a:r>
              <a:rPr lang="en"/>
              <a:t> </a:t>
            </a:r>
            <a:r>
              <a:rPr i="1" lang="en"/>
              <a:t>M</a:t>
            </a:r>
            <a:r>
              <a:rPr baseline="-25000" i="1" lang="en"/>
              <a:t>B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accepts</a:t>
            </a:r>
            <a:endParaRPr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>
                <a:solidFill>
                  <a:srgbClr val="FF0000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 \ </a:t>
            </a:r>
            <a:r>
              <a:rPr i="1" lang="en">
                <a:solidFill>
                  <a:srgbClr val="FF0000"/>
                </a:solidFill>
              </a:rPr>
              <a:t>B</a:t>
            </a:r>
            <a:endParaRPr i="1">
              <a:solidFill>
                <a:srgbClr val="FF0000"/>
              </a:solidFill>
            </a:endParaRPr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i="1" lang="en"/>
              <a:t>x </a:t>
            </a:r>
            <a:r>
              <a:rPr lang="en"/>
              <a:t>∈ </a:t>
            </a:r>
            <a:r>
              <a:rPr i="1" lang="en">
                <a:solidFill>
                  <a:srgbClr val="FF0000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 \ </a:t>
            </a:r>
            <a:r>
              <a:rPr i="1" lang="en">
                <a:solidFill>
                  <a:srgbClr val="FF0000"/>
                </a:solidFill>
              </a:rPr>
              <a:t>B</a:t>
            </a:r>
            <a:r>
              <a:rPr i="1" lang="en"/>
              <a:t> </a:t>
            </a:r>
            <a:r>
              <a:rPr lang="en"/>
              <a:t>⇔ </a:t>
            </a:r>
            <a:r>
              <a:rPr i="1" lang="en"/>
              <a:t>M</a:t>
            </a:r>
            <a:r>
              <a:rPr baseline="-25000" i="1" lang="en"/>
              <a:t>A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accepts AND</a:t>
            </a:r>
            <a:r>
              <a:rPr lang="en"/>
              <a:t> </a:t>
            </a:r>
            <a:r>
              <a:rPr i="1" lang="en"/>
              <a:t>M</a:t>
            </a:r>
            <a:r>
              <a:rPr baseline="-25000" i="1" lang="en"/>
              <a:t>B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rejects</a:t>
            </a:r>
            <a:endParaRPr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>
                <a:solidFill>
                  <a:srgbClr val="FF0000"/>
                </a:solidFill>
              </a:rPr>
              <a:t>B</a:t>
            </a:r>
            <a:r>
              <a:rPr lang="en">
                <a:solidFill>
                  <a:srgbClr val="FF0000"/>
                </a:solidFill>
              </a:rPr>
              <a:t> \ </a:t>
            </a:r>
            <a:r>
              <a:rPr i="1" lang="en">
                <a:solidFill>
                  <a:srgbClr val="FF0000"/>
                </a:solidFill>
              </a:rPr>
              <a:t>A</a:t>
            </a:r>
            <a:endParaRPr i="1">
              <a:solidFill>
                <a:srgbClr val="FF0000"/>
              </a:solidFill>
            </a:endParaRPr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i="1" lang="en"/>
              <a:t>x </a:t>
            </a:r>
            <a:r>
              <a:rPr lang="en"/>
              <a:t>∈ </a:t>
            </a:r>
            <a:r>
              <a:rPr i="1" lang="en">
                <a:solidFill>
                  <a:srgbClr val="FF0000"/>
                </a:solidFill>
              </a:rPr>
              <a:t>B</a:t>
            </a:r>
            <a:r>
              <a:rPr lang="en">
                <a:solidFill>
                  <a:srgbClr val="FF0000"/>
                </a:solidFill>
              </a:rPr>
              <a:t> \ </a:t>
            </a:r>
            <a:r>
              <a:rPr i="1" lang="en">
                <a:solidFill>
                  <a:srgbClr val="FF0000"/>
                </a:solidFill>
              </a:rPr>
              <a:t>A</a:t>
            </a:r>
            <a:r>
              <a:rPr i="1" lang="en"/>
              <a:t> </a:t>
            </a:r>
            <a:r>
              <a:rPr lang="en"/>
              <a:t>⇔ </a:t>
            </a:r>
            <a:r>
              <a:rPr i="1" lang="en"/>
              <a:t>M</a:t>
            </a:r>
            <a:r>
              <a:rPr baseline="-25000" i="1" lang="en"/>
              <a:t>A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rejects AND</a:t>
            </a:r>
            <a:r>
              <a:rPr lang="en"/>
              <a:t> </a:t>
            </a:r>
            <a:r>
              <a:rPr i="1" lang="en"/>
              <a:t>M</a:t>
            </a:r>
            <a:r>
              <a:rPr baseline="-25000" i="1" lang="en"/>
              <a:t>B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accepts</a:t>
            </a:r>
            <a:endParaRPr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i="1" lang="en">
                <a:solidFill>
                  <a:srgbClr val="FF0000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 ∩ </a:t>
            </a:r>
            <a:r>
              <a:rPr i="1" lang="en">
                <a:solidFill>
                  <a:srgbClr val="FF0000"/>
                </a:solidFill>
              </a:rPr>
              <a:t>B</a:t>
            </a:r>
            <a:endParaRPr i="1">
              <a:solidFill>
                <a:srgbClr val="FF0000"/>
              </a:solidFill>
            </a:endParaRPr>
          </a:p>
          <a:p>
            <a:pPr indent="-3048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i="1" lang="en"/>
              <a:t>x </a:t>
            </a:r>
            <a:r>
              <a:rPr lang="en"/>
              <a:t>∈ </a:t>
            </a:r>
            <a:r>
              <a:rPr i="1" lang="en">
                <a:solidFill>
                  <a:srgbClr val="FF0000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 ∩ </a:t>
            </a:r>
            <a:r>
              <a:rPr i="1" lang="en">
                <a:solidFill>
                  <a:srgbClr val="FF0000"/>
                </a:solidFill>
              </a:rPr>
              <a:t>B</a:t>
            </a:r>
            <a:r>
              <a:rPr i="1" lang="en"/>
              <a:t> </a:t>
            </a:r>
            <a:r>
              <a:rPr lang="en"/>
              <a:t>⇔ </a:t>
            </a:r>
            <a:r>
              <a:rPr i="1" lang="en"/>
              <a:t>M</a:t>
            </a:r>
            <a:r>
              <a:rPr baseline="-25000" i="1" lang="en"/>
              <a:t>A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accepts AND </a:t>
            </a:r>
            <a:r>
              <a:rPr i="1" lang="en"/>
              <a:t>M</a:t>
            </a:r>
            <a:r>
              <a:rPr baseline="-25000" i="1" lang="en"/>
              <a:t>B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</a:t>
            </a:r>
            <a:r>
              <a:rPr lang="en">
                <a:solidFill>
                  <a:srgbClr val="FF0000"/>
                </a:solidFill>
              </a:rPr>
              <a:t>accepts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96" name="Google Shape;496;p76"/>
          <p:cNvSpPr txBox="1"/>
          <p:nvPr>
            <p:ph idx="1" type="body"/>
          </p:nvPr>
        </p:nvSpPr>
        <p:spPr>
          <a:xfrm>
            <a:off x="5176150" y="3162300"/>
            <a:ext cx="3922200" cy="965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Char char="►"/>
            </a:pPr>
            <a:r>
              <a:rPr lang="en">
                <a:solidFill>
                  <a:srgbClr val="3F3F3F"/>
                </a:solidFill>
              </a:rPr>
              <a:t>We can also decide the </a:t>
            </a:r>
            <a:r>
              <a:rPr lang="en">
                <a:solidFill>
                  <a:srgbClr val="FF0000"/>
                </a:solidFill>
              </a:rPr>
              <a:t>complements </a:t>
            </a:r>
            <a:r>
              <a:rPr lang="en">
                <a:solidFill>
                  <a:srgbClr val="3F3F3F"/>
                </a:solidFill>
              </a:rPr>
              <a:t>of these languages</a:t>
            </a:r>
            <a:endParaRPr>
              <a:solidFill>
                <a:srgbClr val="3F3F3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ECS376-Blue">
  <a:themeElements>
    <a:clrScheme name="Custom 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00274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ECS376-Blue">
  <a:themeElements>
    <a:clrScheme name="Custom 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00274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