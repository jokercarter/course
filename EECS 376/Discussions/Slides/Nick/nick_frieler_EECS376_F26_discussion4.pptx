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0ae1c5a5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fa0ae1c5a5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fa0ae1c5a5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0ae1c5a5_0_6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fa0ae1c5a5_0_6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fa0ae1c5a5_0_6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0ae1c5a5_0_1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a0ae1c5a5_0_1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fa0ae1c5a5_0_1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b279782ab_6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b279782ab_6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3c4bb10d31643002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h3c4bb10d31643002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h3c4bb10d31643002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3c4bb10d3164300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h3c4bb10d3164300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3c4bb10d3164300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h3c4bb10d3164300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3c4bb10d3164300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3c4bb10d3164300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h3c4bb10d3164300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h3c4bb10d3164300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3c4bb10d31643002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h3c4bb10d31643002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h3c4bb10d31643002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3c4bb10d3164300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3c4bb10d3164300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3c4bb10d3164300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3c4bb10d3164300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a17158995_16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a17158995_16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17158995_16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a17158995_16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a17158995_16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a17158995_16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h3c4bb10d3164300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h3c4bb10d3164300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a17158995_16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fa17158995_16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h3c4bb10d31643002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h3c4bb10d31643002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3c4bb10d31643002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h3c4bb10d3164300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3c4bb10d31643002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h3c4bb10d31643002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3c4bb10d3164300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h3c4bb10d3164300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h3c4bb10d31643002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h3c4bb10d31643002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ctrTitle"/>
          </p:nvPr>
        </p:nvSpPr>
        <p:spPr>
          <a:xfrm>
            <a:off x="1659399" y="1776610"/>
            <a:ext cx="5825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69" name="Google Shape;69;p14"/>
          <p:cNvPicPr preferRelativeResize="0"/>
          <p:nvPr/>
        </p:nvPicPr>
        <p:blipFill rotWithShape="1">
          <a:blip r:embed="rId2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1695529" y="521804"/>
            <a:ext cx="58254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83" name="Google Shape;83;p16"/>
          <p:cNvPicPr preferRelativeResize="0"/>
          <p:nvPr/>
        </p:nvPicPr>
        <p:blipFill rotWithShape="1">
          <a:blip r:embed="rId2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2080910" y="4265465"/>
            <a:ext cx="50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508001" y="2025650"/>
            <a:ext cx="64476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508001" y="3395586"/>
            <a:ext cx="644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508001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3817478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506809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3" type="body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3816288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508001" y="1123953"/>
            <a:ext cx="28908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508001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3"/>
          <p:cNvSpPr/>
          <p:nvPr>
            <p:ph idx="2" type="pic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508000" y="4025504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30" name="Google Shape;130;p2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1348250" y="19076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1024604" y="2724150"/>
            <a:ext cx="541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2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7F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2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514349" y="457200"/>
            <a:ext cx="6441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 rot="5400000">
            <a:off x="2276401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aption">
  <p:cSld name="1_Title and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1024700" y="1864811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508000" y="457200"/>
            <a:ext cx="812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508000" y="1620442"/>
            <a:ext cx="81234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ctrTitle"/>
          </p:nvPr>
        </p:nvSpPr>
        <p:spPr>
          <a:xfrm>
            <a:off x="1659399" y="1776610"/>
            <a:ext cx="5825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09" name="Google Shape;209;p34"/>
          <p:cNvPicPr preferRelativeResize="0"/>
          <p:nvPr/>
        </p:nvPicPr>
        <p:blipFill rotWithShape="1">
          <a:blip r:embed="rId2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34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4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2" name="Google Shape;212;p34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1348250" y="19076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ctrTitle"/>
          </p:nvPr>
        </p:nvSpPr>
        <p:spPr>
          <a:xfrm>
            <a:off x="1695529" y="521804"/>
            <a:ext cx="58254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7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25" name="Google Shape;225;p37"/>
          <p:cNvPicPr preferRelativeResize="0"/>
          <p:nvPr/>
        </p:nvPicPr>
        <p:blipFill rotWithShape="1">
          <a:blip r:embed="rId2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37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7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/>
          <p:nvPr>
            <p:ph idx="1" type="subTitle"/>
          </p:nvPr>
        </p:nvSpPr>
        <p:spPr>
          <a:xfrm>
            <a:off x="2080910" y="4265465"/>
            <a:ext cx="50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508001" y="2025650"/>
            <a:ext cx="64476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508001" y="3395586"/>
            <a:ext cx="644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508001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2" type="body"/>
          </p:nvPr>
        </p:nvSpPr>
        <p:spPr>
          <a:xfrm>
            <a:off x="3817478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246" name="Google Shape;246;p40"/>
          <p:cNvSpPr txBox="1"/>
          <p:nvPr>
            <p:ph idx="2" type="body"/>
          </p:nvPr>
        </p:nvSpPr>
        <p:spPr>
          <a:xfrm>
            <a:off x="506809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body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248" name="Google Shape;248;p40"/>
          <p:cNvSpPr txBox="1"/>
          <p:nvPr>
            <p:ph idx="4" type="body"/>
          </p:nvPr>
        </p:nvSpPr>
        <p:spPr>
          <a:xfrm>
            <a:off x="3816288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4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508001" y="1123953"/>
            <a:ext cx="28908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idx="2" type="body"/>
          </p:nvPr>
        </p:nvSpPr>
        <p:spPr>
          <a:xfrm>
            <a:off x="508001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265" name="Google Shape;265;p4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508000" y="4025504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272" name="Google Shape;272;p44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1024604" y="2724150"/>
            <a:ext cx="541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9" name="Google Shape;279;p4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45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45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7F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7" name="Google Shape;287;p4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7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514349" y="457200"/>
            <a:ext cx="6441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3" name="Google Shape;303;p4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4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 rot="5400000">
            <a:off x="2276401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4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50"/>
          <p:cNvSpPr txBox="1"/>
          <p:nvPr>
            <p:ph idx="1" type="body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5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5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aption">
  <p:cSld name="1_Title and Caption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1024700" y="1864811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0" name="Google Shape;320;p51"/>
          <p:cNvSpPr txBox="1"/>
          <p:nvPr>
            <p:ph idx="1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1" name="Google Shape;321;p5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3" name="Google Shape;323;p51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>
            <p:ph type="title"/>
          </p:nvPr>
        </p:nvSpPr>
        <p:spPr>
          <a:xfrm>
            <a:off x="508000" y="457200"/>
            <a:ext cx="812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52"/>
          <p:cNvSpPr txBox="1"/>
          <p:nvPr>
            <p:ph idx="1" type="body"/>
          </p:nvPr>
        </p:nvSpPr>
        <p:spPr>
          <a:xfrm>
            <a:off x="508000" y="1620442"/>
            <a:ext cx="81234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27" name="Google Shape;327;p5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52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8.xml"/><Relationship Id="rId6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39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7.xml"/><Relationship Id="rId6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56" name="Google Shape;56;p13"/>
          <p:cNvPicPr preferRelativeResize="0"/>
          <p:nvPr/>
        </p:nvPicPr>
        <p:blipFill rotWithShape="1">
          <a:blip r:embed="rId1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61" name="Google Shape;61;p13"/>
          <p:cNvPicPr preferRelativeResize="0"/>
          <p:nvPr/>
        </p:nvPicPr>
        <p:blipFill rotWithShape="1">
          <a:blip r:embed="rId1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5" name="Google Shape;195;p3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196" name="Google Shape;196;p33"/>
          <p:cNvPicPr preferRelativeResize="0"/>
          <p:nvPr/>
        </p:nvPicPr>
        <p:blipFill rotWithShape="1">
          <a:blip r:embed="rId1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3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01" name="Google Shape;201;p33"/>
          <p:cNvPicPr preferRelativeResize="0"/>
          <p:nvPr/>
        </p:nvPicPr>
        <p:blipFill rotWithShape="1">
          <a:blip r:embed="rId1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3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3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idx="4294967295" type="subTitle"/>
          </p:nvPr>
        </p:nvSpPr>
        <p:spPr>
          <a:xfrm>
            <a:off x="2117160" y="4265465"/>
            <a:ext cx="5054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8571"/>
              <a:buFont typeface="Noto Sans Symbols"/>
              <a:buNone/>
            </a:pP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Sec </a:t>
            </a:r>
            <a:r>
              <a:rPr lang="en">
                <a:solidFill>
                  <a:srgbClr val="00274C"/>
                </a:solidFill>
              </a:rPr>
              <a:t>16</a:t>
            </a: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: Fr 12:30pm-1:30pm </a:t>
            </a:r>
            <a:r>
              <a:rPr lang="en">
                <a:solidFill>
                  <a:srgbClr val="00274C"/>
                </a:solidFill>
              </a:rPr>
              <a:t>FXB 1024</a:t>
            </a:r>
            <a:b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IA: </a:t>
            </a:r>
            <a:r>
              <a:rPr lang="en">
                <a:solidFill>
                  <a:srgbClr val="00274C"/>
                </a:solidFill>
              </a:rPr>
              <a:t>Nick Frieler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8571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" name="Google Shape;336;p53"/>
          <p:cNvSpPr txBox="1"/>
          <p:nvPr/>
        </p:nvSpPr>
        <p:spPr>
          <a:xfrm>
            <a:off x="1659298" y="749630"/>
            <a:ext cx="58254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" sz="2700">
                <a:solidFill>
                  <a:srgbClr val="00274C"/>
                </a:solidFill>
              </a:rPr>
              <a:t>4</a:t>
            </a:r>
            <a:r>
              <a:rPr b="0" i="0" lang="en" sz="27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700">
                <a:solidFill>
                  <a:srgbClr val="00274C"/>
                </a:solidFill>
              </a:rPr>
              <a:t>Greedy Algorithms and More DP</a:t>
            </a:r>
            <a:endParaRPr sz="1100"/>
          </a:p>
        </p:txBody>
      </p:sp>
      <p:sp>
        <p:nvSpPr>
          <p:cNvPr id="337" name="Google Shape;337;p53"/>
          <p:cNvSpPr txBox="1"/>
          <p:nvPr/>
        </p:nvSpPr>
        <p:spPr>
          <a:xfrm>
            <a:off x="2117160" y="4839553"/>
            <a:ext cx="5126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Slide deck available at course drive/Discussions/Slides/</a:t>
            </a:r>
            <a:r>
              <a:rPr lang="en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Nick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763" y="1441850"/>
            <a:ext cx="2084874" cy="277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DP dimensionality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Shortest path DP</a:t>
            </a:r>
            <a:endParaRPr/>
          </a:p>
          <a:p>
            <a:pPr indent="-2349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SSSP (Bellman-ford)</a:t>
            </a:r>
            <a:endParaRPr/>
          </a:p>
          <a:p>
            <a:pPr indent="-2349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APSP (floyd-Warshall)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Greedy algorithms</a:t>
            </a:r>
            <a:endParaRPr/>
          </a:p>
          <a:p>
            <a:pPr indent="-2349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Exchange arguments</a:t>
            </a:r>
            <a:endParaRPr/>
          </a:p>
        </p:txBody>
      </p:sp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/>
          <p:nvPr>
            <p:ph type="title"/>
          </p:nvPr>
        </p:nvSpPr>
        <p:spPr>
          <a:xfrm>
            <a:off x="2154162" y="2073757"/>
            <a:ext cx="4835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DP Dimensionality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dimensions!?</a:t>
            </a:r>
            <a:endParaRPr/>
          </a:p>
        </p:txBody>
      </p:sp>
      <p:sp>
        <p:nvSpPr>
          <p:cNvPr id="358" name="Google Shape;358;p56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lot of the DP examples we have seen so far have been 1-D DP problems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Fibonacci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LIS (using END-LIS as an auxiliary DP table)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Merge-Sort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But wait, there’s more! 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Some problems are more naturally suited for multi-dimensional DP tables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SugarRush DP table from hw 3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Contiguous subarrays of an array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2154162" y="2073757"/>
            <a:ext cx="4835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Shortest Path DP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for shortest path problems</a:t>
            </a:r>
            <a:endParaRPr/>
          </a:p>
        </p:txBody>
      </p:sp>
      <p:sp>
        <p:nvSpPr>
          <p:cNvPr id="370" name="Google Shape;370;p58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Weighted</a:t>
            </a:r>
            <a:r>
              <a:rPr lang="en"/>
              <a:t> directed graph </a:t>
            </a:r>
            <a:r>
              <a:rPr i="1" lang="en"/>
              <a:t>G</a:t>
            </a:r>
            <a:r>
              <a:rPr lang="en"/>
              <a:t> = (</a:t>
            </a:r>
            <a:r>
              <a:rPr i="1" lang="en"/>
              <a:t>V</a:t>
            </a:r>
            <a:r>
              <a:rPr lang="en"/>
              <a:t>,</a:t>
            </a:r>
            <a:r>
              <a:rPr i="1" lang="en"/>
              <a:t>E</a:t>
            </a:r>
            <a:r>
              <a:rPr lang="en"/>
              <a:t>) with a weighted function </a:t>
            </a:r>
            <a:r>
              <a:rPr i="1" lang="en"/>
              <a:t>w</a:t>
            </a:r>
            <a:r>
              <a:rPr lang="en"/>
              <a:t>: </a:t>
            </a:r>
            <a:r>
              <a:rPr i="1" lang="en"/>
              <a:t>E</a:t>
            </a:r>
            <a:r>
              <a:rPr lang="en"/>
              <a:t> → </a:t>
            </a:r>
            <a:r>
              <a:rPr b="1" lang="en"/>
              <a:t>R </a:t>
            </a:r>
            <a:r>
              <a:rPr lang="en"/>
              <a:t>that maps each edge to a weight/cost/length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Individual edges </a:t>
            </a:r>
            <a:r>
              <a:rPr lang="en" u="sng"/>
              <a:t>can have negative weight</a:t>
            </a:r>
            <a:endParaRPr u="sng"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 u="sng"/>
              <a:t>No negative-weight cycles</a:t>
            </a:r>
            <a:endParaRPr u="sng"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Otherwise the (minimum) distance between some vertices of the graph will not be well-defined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observations</a:t>
            </a:r>
            <a:endParaRPr/>
          </a:p>
        </p:txBody>
      </p:sp>
      <p:sp>
        <p:nvSpPr>
          <p:cNvPr id="376" name="Google Shape;376;p59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If </a:t>
            </a:r>
            <a:r>
              <a:rPr i="1" lang="en"/>
              <a:t>P</a:t>
            </a:r>
            <a:r>
              <a:rPr lang="en"/>
              <a:t> is 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r>
              <a:rPr lang="en"/>
              <a:t> that goes through vertex </a:t>
            </a:r>
            <a:r>
              <a:rPr i="1" lang="en"/>
              <a:t>v</a:t>
            </a:r>
            <a:r>
              <a:rPr lang="en"/>
              <a:t>, then </a:t>
            </a:r>
            <a:r>
              <a:rPr i="1" lang="en"/>
              <a:t>P</a:t>
            </a:r>
            <a:r>
              <a:rPr lang="en"/>
              <a:t> must be: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v</a:t>
            </a:r>
            <a:r>
              <a:rPr lang="en"/>
              <a:t>, followed by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shortest </a:t>
            </a:r>
            <a:r>
              <a:rPr lang="en"/>
              <a:t>path</a:t>
            </a:r>
            <a:r>
              <a:rPr lang="en"/>
              <a:t> from </a:t>
            </a:r>
            <a:r>
              <a:rPr i="1" lang="en"/>
              <a:t>v</a:t>
            </a:r>
            <a:r>
              <a:rPr lang="en"/>
              <a:t> to </a:t>
            </a:r>
            <a:r>
              <a:rPr i="1" lang="en"/>
              <a:t>t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(This is a good exercise for proof by contradiction)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Because there are no negative-weight cycles in the graph, if there is 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r>
              <a:rPr lang="en"/>
              <a:t>, then there is 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r>
              <a:rPr lang="en"/>
              <a:t> with </a:t>
            </a:r>
            <a:r>
              <a:rPr lang="en" u="sng"/>
              <a:t>no cycles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We call this a </a:t>
            </a:r>
            <a:r>
              <a:rPr lang="en" u="sng"/>
              <a:t>simple path</a:t>
            </a:r>
            <a:r>
              <a:rPr lang="en"/>
              <a:t> because no vertex is visited more than once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0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Single-source shortest path (SSSP)</a:t>
            </a:r>
            <a:endParaRPr/>
          </a:p>
        </p:txBody>
      </p:sp>
      <p:sp>
        <p:nvSpPr>
          <p:cNvPr id="382" name="Google Shape;382;p60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Given a source vertex </a:t>
            </a:r>
            <a:r>
              <a:rPr i="1" lang="en"/>
              <a:t>s</a:t>
            </a:r>
            <a:r>
              <a:rPr lang="en"/>
              <a:t>, find the shortest path from </a:t>
            </a:r>
            <a:r>
              <a:rPr i="1" lang="en"/>
              <a:t>s</a:t>
            </a:r>
            <a:r>
              <a:rPr lang="en"/>
              <a:t> to every other vertex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Value version: find the lengths of these shortest paths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Bellman-Ford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d</a:t>
            </a:r>
            <a:r>
              <a:rPr baseline="30000" lang="en"/>
              <a:t>(</a:t>
            </a:r>
            <a:r>
              <a:rPr baseline="30000" i="1" lang="en"/>
              <a:t>i</a:t>
            </a:r>
            <a:r>
              <a:rPr baseline="30000" lang="en"/>
              <a:t>)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is the length of 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r>
              <a:rPr lang="en"/>
              <a:t> </a:t>
            </a:r>
            <a:r>
              <a:rPr lang="en" u="sng"/>
              <a:t>that uses exactly </a:t>
            </a:r>
            <a:r>
              <a:rPr i="1" lang="en" u="sng"/>
              <a:t>i</a:t>
            </a:r>
            <a:r>
              <a:rPr lang="en" u="sng"/>
              <a:t> edges</a:t>
            </a:r>
            <a:endParaRPr u="sng"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= min{ </a:t>
            </a:r>
            <a:r>
              <a:rPr i="1" lang="en"/>
              <a:t>d</a:t>
            </a:r>
            <a:r>
              <a:rPr baseline="30000" lang="en"/>
              <a:t>(1)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), …, </a:t>
            </a:r>
            <a:r>
              <a:rPr i="1" lang="en"/>
              <a:t>d</a:t>
            </a:r>
            <a:r>
              <a:rPr baseline="30000" lang="en"/>
              <a:t>(</a:t>
            </a:r>
            <a:r>
              <a:rPr baseline="30000" i="1" lang="en"/>
              <a:t>n</a:t>
            </a:r>
            <a:r>
              <a:rPr baseline="30000" lang="en"/>
              <a:t>-1)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}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To </a:t>
            </a:r>
            <a:r>
              <a:rPr lang="en"/>
              <a:t>calculate</a:t>
            </a:r>
            <a:r>
              <a:rPr lang="en"/>
              <a:t> </a:t>
            </a:r>
            <a:r>
              <a:rPr i="1" lang="en"/>
              <a:t>d</a:t>
            </a:r>
            <a:r>
              <a:rPr baseline="30000" lang="en"/>
              <a:t>(</a:t>
            </a:r>
            <a:r>
              <a:rPr baseline="30000" i="1" lang="en"/>
              <a:t>i</a:t>
            </a:r>
            <a:r>
              <a:rPr baseline="30000" lang="en"/>
              <a:t>)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we consider </a:t>
            </a:r>
            <a:r>
              <a:rPr i="1" lang="en"/>
              <a:t>d</a:t>
            </a:r>
            <a:r>
              <a:rPr baseline="30000" lang="en"/>
              <a:t>(</a:t>
            </a:r>
            <a:r>
              <a:rPr baseline="30000" i="1" lang="en"/>
              <a:t>i</a:t>
            </a:r>
            <a:r>
              <a:rPr baseline="30000" lang="en"/>
              <a:t>-1)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u</a:t>
            </a:r>
            <a:r>
              <a:rPr lang="en"/>
              <a:t>) for all vertices </a:t>
            </a:r>
            <a:r>
              <a:rPr i="1" lang="en"/>
              <a:t>u</a:t>
            </a:r>
            <a:r>
              <a:rPr lang="en"/>
              <a:t> such that (</a:t>
            </a:r>
            <a:r>
              <a:rPr i="1" lang="en"/>
              <a:t>u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is an edge in the graph and add the weight of edge (</a:t>
            </a:r>
            <a:r>
              <a:rPr i="1" lang="en"/>
              <a:t>u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1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All-pairs shortest paths (APSP)</a:t>
            </a:r>
            <a:endParaRPr/>
          </a:p>
        </p:txBody>
      </p:sp>
      <p:sp>
        <p:nvSpPr>
          <p:cNvPr id="388" name="Google Shape;388;p61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For every pair of vertices 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), find the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Value version: find the lengths of these paths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Floyd-Warshall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Let </a:t>
            </a:r>
            <a:r>
              <a:rPr i="1" lang="en"/>
              <a:t>v</a:t>
            </a:r>
            <a:r>
              <a:rPr baseline="-25000" lang="en"/>
              <a:t>1</a:t>
            </a:r>
            <a:r>
              <a:rPr lang="en"/>
              <a:t>, …, </a:t>
            </a:r>
            <a:r>
              <a:rPr i="1" lang="en"/>
              <a:t>v</a:t>
            </a:r>
            <a:r>
              <a:rPr baseline="-25000" i="1" lang="en"/>
              <a:t>n</a:t>
            </a:r>
            <a:r>
              <a:rPr lang="en"/>
              <a:t> be a fixed ordering of the vertices of the graph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i</a:t>
            </a:r>
            <a:r>
              <a:rPr baseline="30000" lang="en"/>
              <a:t>]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is the length of a shortest path from </a:t>
            </a:r>
            <a:r>
              <a:rPr i="1" lang="en"/>
              <a:t>s</a:t>
            </a:r>
            <a:r>
              <a:rPr lang="en"/>
              <a:t> to </a:t>
            </a:r>
            <a:r>
              <a:rPr i="1" lang="en"/>
              <a:t>t</a:t>
            </a:r>
            <a:r>
              <a:rPr i="1" lang="en"/>
              <a:t> </a:t>
            </a:r>
            <a:r>
              <a:rPr lang="en" u="sng"/>
              <a:t>whose </a:t>
            </a:r>
            <a:r>
              <a:rPr i="1" lang="en" u="sng"/>
              <a:t>internal</a:t>
            </a:r>
            <a:r>
              <a:rPr lang="en" u="sng"/>
              <a:t> vertices (if any) are in</a:t>
            </a:r>
            <a:r>
              <a:rPr lang="en"/>
              <a:t> {</a:t>
            </a:r>
            <a:r>
              <a:rPr i="1" lang="en"/>
              <a:t>v</a:t>
            </a:r>
            <a:r>
              <a:rPr baseline="-25000" lang="en"/>
              <a:t>1</a:t>
            </a:r>
            <a:r>
              <a:rPr lang="en"/>
              <a:t>, …, </a:t>
            </a:r>
            <a:r>
              <a:rPr i="1" lang="en"/>
              <a:t>v</a:t>
            </a:r>
            <a:r>
              <a:rPr baseline="-25000" i="1" lang="en"/>
              <a:t>i</a:t>
            </a:r>
            <a:r>
              <a:rPr lang="en"/>
              <a:t>}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d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= </a:t>
            </a: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n</a:t>
            </a:r>
            <a:r>
              <a:rPr baseline="30000" lang="en"/>
              <a:t>]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To calculate </a:t>
            </a: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i</a:t>
            </a:r>
            <a:r>
              <a:rPr baseline="30000" lang="en"/>
              <a:t>]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we take the minimum of </a:t>
            </a: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i</a:t>
            </a:r>
            <a:r>
              <a:rPr baseline="30000" lang="en"/>
              <a:t>-1]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 and </a:t>
            </a: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i</a:t>
            </a:r>
            <a:r>
              <a:rPr baseline="30000" lang="en"/>
              <a:t>-1]</a:t>
            </a:r>
            <a:r>
              <a:rPr lang="en"/>
              <a:t>(</a:t>
            </a:r>
            <a:r>
              <a:rPr i="1" lang="en"/>
              <a:t>s</a:t>
            </a:r>
            <a:r>
              <a:rPr lang="en"/>
              <a:t>,</a:t>
            </a:r>
            <a:r>
              <a:rPr i="1" lang="en"/>
              <a:t>v</a:t>
            </a:r>
            <a:r>
              <a:rPr baseline="-25000" i="1" lang="en"/>
              <a:t>i</a:t>
            </a:r>
            <a:r>
              <a:rPr lang="en"/>
              <a:t>) + </a:t>
            </a:r>
            <a:r>
              <a:rPr i="1" lang="en"/>
              <a:t>d</a:t>
            </a:r>
            <a:r>
              <a:rPr baseline="30000" lang="en"/>
              <a:t>[</a:t>
            </a:r>
            <a:r>
              <a:rPr baseline="30000" i="1" lang="en"/>
              <a:t>i</a:t>
            </a:r>
            <a:r>
              <a:rPr baseline="30000" lang="en"/>
              <a:t>-1]</a:t>
            </a:r>
            <a:r>
              <a:rPr lang="en"/>
              <a:t>(</a:t>
            </a:r>
            <a:r>
              <a:rPr i="1" lang="en"/>
              <a:t>v</a:t>
            </a:r>
            <a:r>
              <a:rPr baseline="-25000" i="1" lang="en"/>
              <a:t>i</a:t>
            </a:r>
            <a:r>
              <a:rPr lang="en"/>
              <a:t>,</a:t>
            </a:r>
            <a:r>
              <a:rPr i="1" lang="en"/>
              <a:t>t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2154162" y="2073757"/>
            <a:ext cx="4835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Greedy Algorithms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Gimme gimme gimme</a:t>
            </a:r>
            <a:endParaRPr/>
          </a:p>
        </p:txBody>
      </p:sp>
      <p:sp>
        <p:nvSpPr>
          <p:cNvPr id="400" name="Google Shape;400;p63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i="1" lang="en"/>
              <a:t>greedy algorithm</a:t>
            </a:r>
            <a:r>
              <a:rPr lang="en"/>
              <a:t> computes a solution to an optimization problem by making a sequence of locally optimal choices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Cannot “change its mind” about a previously-made decision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In general, no guarantee that a greedy solution is optimal (or even good)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However, there are scenarios where they are (and we can prove they are optimal!)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Exchange argument recipe</a:t>
            </a:r>
            <a:endParaRPr/>
          </a:p>
        </p:txBody>
      </p:sp>
      <p:sp>
        <p:nvSpPr>
          <p:cNvPr id="406" name="Google Shape;406;p64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Let </a:t>
            </a:r>
            <a:r>
              <a:rPr b="1" lang="en"/>
              <a:t>ALG </a:t>
            </a:r>
            <a:r>
              <a:rPr lang="en"/>
              <a:t>= {</a:t>
            </a:r>
            <a:r>
              <a:rPr i="1" lang="en"/>
              <a:t>s</a:t>
            </a:r>
            <a:r>
              <a:rPr baseline="-25000" lang="en"/>
              <a:t>1</a:t>
            </a:r>
            <a:r>
              <a:rPr lang="en"/>
              <a:t>, </a:t>
            </a:r>
            <a:r>
              <a:rPr i="1" lang="en"/>
              <a:t>s</a:t>
            </a:r>
            <a:r>
              <a:rPr baseline="-25000" lang="en"/>
              <a:t>2</a:t>
            </a:r>
            <a:r>
              <a:rPr lang="en"/>
              <a:t>, …, </a:t>
            </a:r>
            <a:r>
              <a:rPr i="1" lang="en"/>
              <a:t>s</a:t>
            </a:r>
            <a:r>
              <a:rPr baseline="-25000" i="1" lang="en"/>
              <a:t>m</a:t>
            </a:r>
            <a:r>
              <a:rPr lang="en"/>
              <a:t>} denote the (greedy) algorithm’s final output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Think of these as the </a:t>
            </a:r>
            <a:r>
              <a:rPr i="1" lang="en"/>
              <a:t>choices</a:t>
            </a:r>
            <a:r>
              <a:rPr lang="en"/>
              <a:t> that the algorithm (greedily) makes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Let </a:t>
            </a:r>
            <a:r>
              <a:rPr b="1" lang="en"/>
              <a:t>OPT </a:t>
            </a:r>
            <a:r>
              <a:rPr lang="en"/>
              <a:t>be some </a:t>
            </a:r>
            <a:r>
              <a:rPr i="1" lang="en"/>
              <a:t>arbitrary</a:t>
            </a:r>
            <a:r>
              <a:rPr lang="en"/>
              <a:t> optimal solution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If </a:t>
            </a:r>
            <a:r>
              <a:rPr b="1" lang="en"/>
              <a:t>ALG </a:t>
            </a:r>
            <a:r>
              <a:rPr lang="en"/>
              <a:t>= </a:t>
            </a:r>
            <a:r>
              <a:rPr b="1" lang="en"/>
              <a:t>OPT</a:t>
            </a:r>
            <a:r>
              <a:rPr lang="en"/>
              <a:t>, then we’re done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Otherwise </a:t>
            </a:r>
            <a:r>
              <a:rPr b="1" lang="en"/>
              <a:t>ALG </a:t>
            </a:r>
            <a:r>
              <a:rPr lang="en"/>
              <a:t>≠</a:t>
            </a:r>
            <a:r>
              <a:rPr lang="en"/>
              <a:t> </a:t>
            </a:r>
            <a:r>
              <a:rPr b="1" lang="en"/>
              <a:t>OPT</a:t>
            </a:r>
            <a:r>
              <a:rPr lang="en"/>
              <a:t>, so there’s some element in </a:t>
            </a:r>
            <a:r>
              <a:rPr b="1" lang="en"/>
              <a:t>ALG </a:t>
            </a:r>
            <a:r>
              <a:rPr lang="en"/>
              <a:t>that’s not in </a:t>
            </a:r>
            <a:r>
              <a:rPr b="1" lang="en"/>
              <a:t>OPT</a:t>
            </a:r>
            <a:r>
              <a:rPr lang="en"/>
              <a:t>, call this </a:t>
            </a:r>
            <a:r>
              <a:rPr i="1" lang="en"/>
              <a:t>s</a:t>
            </a:r>
            <a:r>
              <a:rPr baseline="-25000" lang="en"/>
              <a:t>diff</a:t>
            </a:r>
            <a:endParaRPr baseline="-250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M</a:t>
            </a:r>
            <a:r>
              <a:rPr lang="en"/>
              <a:t>odify </a:t>
            </a:r>
            <a:r>
              <a:rPr b="1" lang="en"/>
              <a:t>OPT </a:t>
            </a:r>
            <a:r>
              <a:rPr lang="en"/>
              <a:t>so that it remains optimal but contains </a:t>
            </a:r>
            <a:r>
              <a:rPr i="1" lang="en"/>
              <a:t>s</a:t>
            </a:r>
            <a:r>
              <a:rPr baseline="-25000" lang="en"/>
              <a:t>diff</a:t>
            </a:r>
            <a:r>
              <a:rPr lang="en"/>
              <a:t> to get a new optimal solution </a:t>
            </a:r>
            <a:r>
              <a:rPr b="1" lang="en"/>
              <a:t>OPT</a:t>
            </a:r>
            <a:r>
              <a:rPr lang="en"/>
              <a:t>’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Apply induction on the number of elements in the output where </a:t>
            </a:r>
            <a:r>
              <a:rPr b="1" lang="en"/>
              <a:t>ALG </a:t>
            </a:r>
            <a:r>
              <a:rPr lang="en"/>
              <a:t>and </a:t>
            </a:r>
            <a:r>
              <a:rPr i="1" lang="en"/>
              <a:t>some </a:t>
            </a:r>
            <a:r>
              <a:rPr lang="en"/>
              <a:t>optimal solution differ to conclude that there exists </a:t>
            </a:r>
            <a:r>
              <a:rPr i="1" lang="en"/>
              <a:t>some </a:t>
            </a:r>
            <a:r>
              <a:rPr lang="en"/>
              <a:t>optimal solution that matches </a:t>
            </a:r>
            <a:r>
              <a:rPr b="1" lang="en"/>
              <a:t>ALG </a:t>
            </a:r>
            <a:r>
              <a:rPr lang="en"/>
              <a:t>fully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This means </a:t>
            </a:r>
            <a:r>
              <a:rPr b="1" lang="en"/>
              <a:t>ALG</a:t>
            </a:r>
            <a:r>
              <a:rPr lang="en"/>
              <a:t> is optimal!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5"/>
          <p:cNvSpPr txBox="1"/>
          <p:nvPr>
            <p:ph type="title"/>
          </p:nvPr>
        </p:nvSpPr>
        <p:spPr>
          <a:xfrm>
            <a:off x="1594800" y="1907700"/>
            <a:ext cx="59544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Any questions before discussion problems?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6"/>
          <p:cNvSpPr txBox="1"/>
          <p:nvPr>
            <p:ph type="title"/>
          </p:nvPr>
        </p:nvSpPr>
        <p:spPr>
          <a:xfrm>
            <a:off x="1348200" y="19077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Discussion Problems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7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Longest Palindromic Subsequence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2" name="Google Shape;422;p67"/>
          <p:cNvSpPr txBox="1"/>
          <p:nvPr>
            <p:ph idx="1" type="body"/>
          </p:nvPr>
        </p:nvSpPr>
        <p:spPr>
          <a:xfrm>
            <a:off x="568350" y="1218163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Give a recurrence relation (including base cases) that is suitable for dynamic programming solutions to the following problem. You do not need to prove your correctness. Given a string S, determine the length of a longest subsequence of S (the characters do not need to be consecutive) that is a palindrome. Recall that a palindrome is a string which is the same forwards and backwards (e.g., “racecar”).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8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Longest Palindromic Subsequence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8" name="Google Shape;428;p68"/>
          <p:cNvSpPr txBox="1"/>
          <p:nvPr>
            <p:ph idx="1" type="body"/>
          </p:nvPr>
        </p:nvSpPr>
        <p:spPr>
          <a:xfrm>
            <a:off x="568350" y="1218163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Give a recurrence relation (including base cases) that is suitable for dynamic programming solutions to the following problem. You do not need to prove your correctness. Given a string S, determine the length of a longest subsequence of S (the characters do not need to be consecutive) that is a palindrome. Recall that a palindrome is a string which is the same forwards and backwards (e.g., “racecar”).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29" name="Google Shape;429;p68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pic>
        <p:nvPicPr>
          <p:cNvPr id="430" name="Google Shape;43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50" y="3220899"/>
            <a:ext cx="8007299" cy="10765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</a:t>
            </a:r>
            <a:endParaRPr/>
          </a:p>
        </p:txBody>
      </p:sp>
      <p:pic>
        <p:nvPicPr>
          <p:cNvPr id="436" name="Google Shape;43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550" y="753600"/>
            <a:ext cx="3636299" cy="363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0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Bellman-Ford and Floyd-Warshall</a:t>
            </a:r>
            <a:endParaRPr/>
          </a:p>
        </p:txBody>
      </p:sp>
      <p:pic>
        <p:nvPicPr>
          <p:cNvPr id="442" name="Google Shape;44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50" y="1201600"/>
            <a:ext cx="7600300" cy="27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1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Bellman-Ford and Floyd-Warshall</a:t>
            </a:r>
            <a:endParaRPr/>
          </a:p>
        </p:txBody>
      </p:sp>
      <p:pic>
        <p:nvPicPr>
          <p:cNvPr id="448" name="Google Shape;4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50" y="1201600"/>
            <a:ext cx="7600300" cy="27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71"/>
          <p:cNvSpPr/>
          <p:nvPr/>
        </p:nvSpPr>
        <p:spPr>
          <a:xfrm>
            <a:off x="836900" y="1309950"/>
            <a:ext cx="192600" cy="182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0" name="Google Shape;450;p71"/>
          <p:cNvSpPr/>
          <p:nvPr/>
        </p:nvSpPr>
        <p:spPr>
          <a:xfrm>
            <a:off x="847602" y="2083096"/>
            <a:ext cx="192600" cy="182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1" name="Google Shape;451;p71"/>
          <p:cNvSpPr/>
          <p:nvPr/>
        </p:nvSpPr>
        <p:spPr>
          <a:xfrm>
            <a:off x="847600" y="3187996"/>
            <a:ext cx="192600" cy="182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2" name="Google Shape;452;p71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2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Dominating sets</a:t>
            </a:r>
            <a:endParaRPr/>
          </a:p>
        </p:txBody>
      </p:sp>
      <p:sp>
        <p:nvSpPr>
          <p:cNvPr id="458" name="Google Shape;458;p72"/>
          <p:cNvSpPr txBox="1"/>
          <p:nvPr>
            <p:ph idx="1" type="body"/>
          </p:nvPr>
        </p:nvSpPr>
        <p:spPr>
          <a:xfrm>
            <a:off x="301800" y="1218175"/>
            <a:ext cx="87225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A dominating set </a:t>
            </a:r>
            <a:r>
              <a:rPr i="1" lang="en" sz="1600"/>
              <a:t>S</a:t>
            </a:r>
            <a:r>
              <a:rPr lang="en" sz="1600"/>
              <a:t> in a graph </a:t>
            </a:r>
            <a:r>
              <a:rPr i="1" lang="en" sz="1600"/>
              <a:t>G</a:t>
            </a:r>
            <a:r>
              <a:rPr lang="en" sz="1600"/>
              <a:t> is a set of vertices for which every vertex of </a:t>
            </a:r>
            <a:r>
              <a:rPr i="1" lang="en" sz="1600"/>
              <a:t>G</a:t>
            </a:r>
            <a:r>
              <a:rPr lang="en" sz="1600"/>
              <a:t> either is in </a:t>
            </a:r>
            <a:r>
              <a:rPr i="1" lang="en" sz="1600"/>
              <a:t>S</a:t>
            </a:r>
            <a:r>
              <a:rPr lang="en" sz="1600"/>
              <a:t>, or is adjacent to some vertex in </a:t>
            </a:r>
            <a:r>
              <a:rPr i="1" lang="en" sz="1600"/>
              <a:t>S</a:t>
            </a:r>
            <a:r>
              <a:rPr lang="en" sz="1600"/>
              <a:t>. We are interested in a smallest dominating set, i.e., one that has the fewest possible vertices.  (</a:t>
            </a:r>
            <a:r>
              <a:rPr i="1" lang="en" sz="1600"/>
              <a:t>There may be more than one.</a:t>
            </a:r>
            <a:r>
              <a:rPr lang="en" sz="1600"/>
              <a:t>) 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For example, this graph has a smallest dominating set </a:t>
            </a:r>
            <a:r>
              <a:rPr i="1" lang="en" sz="1600"/>
              <a:t>S</a:t>
            </a:r>
            <a:r>
              <a:rPr baseline="30000" lang="en" sz="1600"/>
              <a:t>∗</a:t>
            </a:r>
            <a:r>
              <a:rPr lang="en" sz="1600"/>
              <a:t> = {2,4}: every vertex other than 2 and 4 is adjacent to 2 or 4, and there is no dominating set consisting of a single vertex.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59" name="Google Shape;4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263" y="3163575"/>
            <a:ext cx="2579475" cy="15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3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Dominating sets</a:t>
            </a:r>
            <a:endParaRPr/>
          </a:p>
        </p:txBody>
      </p:sp>
      <p:pic>
        <p:nvPicPr>
          <p:cNvPr id="465" name="Google Shape;46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788" y="915375"/>
            <a:ext cx="6968419" cy="1656374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73"/>
          <p:cNvSpPr txBox="1"/>
          <p:nvPr>
            <p:ph idx="1" type="body"/>
          </p:nvPr>
        </p:nvSpPr>
        <p:spPr>
          <a:xfrm>
            <a:off x="0" y="2732275"/>
            <a:ext cx="9144000" cy="180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Give a small graph </a:t>
            </a:r>
            <a:r>
              <a:rPr i="1" lang="en" sz="1600"/>
              <a:t>G</a:t>
            </a:r>
            <a:r>
              <a:rPr lang="en" sz="1600"/>
              <a:t> on which this algorithm might not return a smallest dominating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set. Specifically, give a sequence of vertices that the algorithm might choose to make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up its final output set, and give an optimal dominating set of </a:t>
            </a:r>
            <a:r>
              <a:rPr i="1" lang="en" sz="1600"/>
              <a:t>G</a:t>
            </a:r>
            <a:r>
              <a:rPr lang="en" sz="1600"/>
              <a:t> that is smaller than this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output set.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4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Dominating sets</a:t>
            </a:r>
            <a:endParaRPr/>
          </a:p>
        </p:txBody>
      </p:sp>
      <p:pic>
        <p:nvPicPr>
          <p:cNvPr id="472" name="Google Shape;47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13" y="1384613"/>
            <a:ext cx="26765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74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pic>
        <p:nvPicPr>
          <p:cNvPr id="474" name="Google Shape;47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513" y="1494188"/>
            <a:ext cx="26765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74"/>
          <p:cNvSpPr/>
          <p:nvPr/>
        </p:nvSpPr>
        <p:spPr>
          <a:xfrm>
            <a:off x="1960651" y="1494200"/>
            <a:ext cx="363900" cy="3939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p74"/>
          <p:cNvSpPr/>
          <p:nvPr/>
        </p:nvSpPr>
        <p:spPr>
          <a:xfrm>
            <a:off x="1000025" y="3289875"/>
            <a:ext cx="436200" cy="4524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7" name="Google Shape;477;p74"/>
          <p:cNvSpPr/>
          <p:nvPr/>
        </p:nvSpPr>
        <p:spPr>
          <a:xfrm>
            <a:off x="1924500" y="3348375"/>
            <a:ext cx="436200" cy="3939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8" name="Google Shape;478;p74"/>
          <p:cNvSpPr/>
          <p:nvPr/>
        </p:nvSpPr>
        <p:spPr>
          <a:xfrm>
            <a:off x="2804629" y="3279173"/>
            <a:ext cx="483000" cy="5031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9" name="Google Shape;479;p74"/>
          <p:cNvSpPr/>
          <p:nvPr/>
        </p:nvSpPr>
        <p:spPr>
          <a:xfrm>
            <a:off x="4875038" y="2559313"/>
            <a:ext cx="436200" cy="3939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0" name="Google Shape;480;p74"/>
          <p:cNvSpPr/>
          <p:nvPr/>
        </p:nvSpPr>
        <p:spPr>
          <a:xfrm>
            <a:off x="5771750" y="2505475"/>
            <a:ext cx="436200" cy="3939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1" name="Google Shape;481;p74"/>
          <p:cNvSpPr/>
          <p:nvPr/>
        </p:nvSpPr>
        <p:spPr>
          <a:xfrm>
            <a:off x="6694725" y="2505475"/>
            <a:ext cx="436200" cy="393900"/>
          </a:xfrm>
          <a:prstGeom prst="ellipse">
            <a:avLst/>
          </a:prstGeom>
          <a:solidFill>
            <a:srgbClr val="FF0000">
              <a:alpha val="6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ECS376-Blue">
  <a:themeElements>
    <a:clrScheme name="Custom 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00274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ECS376-Blue">
  <a:themeElements>
    <a:clrScheme name="Custom 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00274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