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4" roundtripDataSignature="AMtx7miZu6DAU3eU5+E4buL0E6JL5piB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409cbc41d6f_0_0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409cbc41d6f_0_0:notes"/>
          <p:cNvSpPr/>
          <p:nvPr>
            <p:ph idx="2" type="sldImg"/>
          </p:nvPr>
        </p:nvSpPr>
        <p:spPr>
          <a:xfrm>
            <a:off x="1143269" y="685791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9cbc41d6f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409cbc41d6f_0_6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09cbc41d6f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409cbc41d6f_0_6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09cbc41d6f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409cbc41d6f_0_7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409cbc41d6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g409cbc41d6f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409cbc41d6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0" name="Google Shape;370;g409cbc41d6f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409cbc41d6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g409cbc41d6f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409cbc41d6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3" name="Google Shape;433;g409cbc41d6f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409cbc41d6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2" name="Google Shape;452;g409cbc41d6f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409cbc41d6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g409cbc41d6f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2" name="Google Shape;5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409cbc41d6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5" name="Google Shape;545;g409cbc41d6f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409cbc41d6f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9" name="Google Shape;559;g409cbc41d6f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409cbc41d6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g409cbc41d6f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6" name="Google Shape;5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8" name="Google Shape;62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409cbc41d6f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2" name="Google Shape;642;g409cbc41d6f_0_2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409cbc41d6f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0" name="Google Shape;660;g409cbc41d6f_0_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409cbc41d6f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g409cbc41d6f_0_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8" name="Google Shape;70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8" name="Google Shape;72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409cbc41d6f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4" name="Google Shape;754;g409cbc41d6f_0_6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9" name="Google Shape;78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409cbc41d6f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9" name="Google Shape;819;g409cbc41d6f_0_3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409cbc41d6f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5" name="Google Shape;845;g409cbc41d6f_0_4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409cbc41d6f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4" name="Google Shape;874;g409cbc41d6f_0_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409cbc41d6f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7" name="Google Shape;897;g409cbc41d6f_0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409cbc41d6f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4" name="Google Shape;924;g409cbc41d6f_0_4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5" name="Google Shape;95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5" name="Google Shape;98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1" name="Google Shape;100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409cbc41d6f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2" name="Google Shape;1012;g409cbc41d6f_0_4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409cbc41d6f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7" name="Google Shape;1027;g409cbc41d6f_0_5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409cbc41d6f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6" name="Google Shape;1046;g409cbc41d6f_0_5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409cbc41d6f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9" name="Google Shape;1069;g409cbc41d6f_0_5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7" name="Google Shape;109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409cbc41d6f_0_604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9" name="Google Shape;1129;g409cbc41d6f_0_604:notes"/>
          <p:cNvSpPr/>
          <p:nvPr>
            <p:ph idx="2" type="sldImg"/>
          </p:nvPr>
        </p:nvSpPr>
        <p:spPr>
          <a:xfrm>
            <a:off x="1143269" y="685791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TITLE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409cbc41d6f_0_27"/>
          <p:cNvSpPr txBox="1"/>
          <p:nvPr>
            <p:ph type="title"/>
          </p:nvPr>
        </p:nvSpPr>
        <p:spPr>
          <a:xfrm>
            <a:off x="503987" y="226080"/>
            <a:ext cx="90714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409cbc41d6f_0_27"/>
          <p:cNvSpPr txBox="1"/>
          <p:nvPr>
            <p:ph idx="1" type="subTitle"/>
          </p:nvPr>
        </p:nvSpPr>
        <p:spPr>
          <a:xfrm>
            <a:off x="503987" y="1326600"/>
            <a:ext cx="9071400" cy="3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" name="Google Shape;14;g409cbc41d6f_0_27"/>
          <p:cNvSpPr txBox="1"/>
          <p:nvPr>
            <p:ph idx="11" type="ftr"/>
          </p:nvPr>
        </p:nvSpPr>
        <p:spPr>
          <a:xfrm>
            <a:off x="3447268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409cbc41d6f_0_27"/>
          <p:cNvSpPr txBox="1"/>
          <p:nvPr>
            <p:ph idx="12" type="sldNum"/>
          </p:nvPr>
        </p:nvSpPr>
        <p:spPr>
          <a:xfrm>
            <a:off x="7227167" y="5165280"/>
            <a:ext cx="23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g409cbc41d6f_0_27"/>
          <p:cNvSpPr txBox="1"/>
          <p:nvPr>
            <p:ph idx="10" type="dt"/>
          </p:nvPr>
        </p:nvSpPr>
        <p:spPr>
          <a:xfrm>
            <a:off x="503987" y="5165280"/>
            <a:ext cx="23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Relationship Id="rId4" Type="http://schemas.openxmlformats.org/officeDocument/2006/relationships/hyperlink" Target="https://forms.gle/om8YkQSWv13GyWb7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09cbc41d6f_0_0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409cbc41d6f_0_0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409cbc41d6f_0_0"/>
          <p:cNvSpPr/>
          <p:nvPr/>
        </p:nvSpPr>
        <p:spPr>
          <a:xfrm>
            <a:off x="658062" y="658080"/>
            <a:ext cx="118800" cy="53493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409cbc41d6f_0_0"/>
          <p:cNvSpPr txBox="1"/>
          <p:nvPr/>
        </p:nvSpPr>
        <p:spPr>
          <a:xfrm>
            <a:off x="1051532" y="960120"/>
            <a:ext cx="4755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CB05"/>
                </a:solidFill>
                <a:latin typeface="Arial"/>
                <a:ea typeface="Arial"/>
                <a:cs typeface="Arial"/>
                <a:sym typeface="Arial"/>
              </a:rPr>
              <a:t>EECS 376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409cbc41d6f_0_0"/>
          <p:cNvSpPr txBox="1"/>
          <p:nvPr/>
        </p:nvSpPr>
        <p:spPr>
          <a:xfrm>
            <a:off x="1051532" y="1627560"/>
            <a:ext cx="96924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Foundations of Computer Science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409cbc41d6f_0_0"/>
          <p:cNvSpPr txBox="1"/>
          <p:nvPr/>
        </p:nvSpPr>
        <p:spPr>
          <a:xfrm>
            <a:off x="1060532" y="2862000"/>
            <a:ext cx="55779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Discussion Sec. 20, Week 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409cbc41d6f_0_0"/>
          <p:cNvSpPr txBox="1"/>
          <p:nvPr/>
        </p:nvSpPr>
        <p:spPr>
          <a:xfrm>
            <a:off x="1060532" y="3492720"/>
            <a:ext cx="58518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Name: Samanway (Rick) Sadhu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Email: samanway@umich.edu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OH    : Thursdays 2-5pm (LNW 2421)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409cbc41d6f_0_0"/>
          <p:cNvSpPr txBox="1"/>
          <p:nvPr/>
        </p:nvSpPr>
        <p:spPr>
          <a:xfrm>
            <a:off x="1060532" y="5852160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University of Michigan · Fall 2026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 &amp; Conquer: key ingredients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320040" y="868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Every divide-and-conquer algorithm needs these three ingredients.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57200" y="1417320"/>
            <a:ext cx="3108960" cy="1965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57200" y="1417320"/>
            <a:ext cx="3108960" cy="32918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484632" y="1435608"/>
            <a:ext cx="3054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530352" y="1792224"/>
            <a:ext cx="2962656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 &amp; Conquer: key ingredients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320040" y="868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Every divide-and-conquer algorithm needs these three ingredients.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57200" y="1417320"/>
            <a:ext cx="3108960" cy="1965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57200" y="1417320"/>
            <a:ext cx="3108960" cy="32918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484632" y="1435608"/>
            <a:ext cx="3054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530352" y="1792224"/>
            <a:ext cx="2962656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069080" y="1417320"/>
            <a:ext cx="3108960" cy="1965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069080" y="1417320"/>
            <a:ext cx="3108960" cy="329184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4096512" y="1435608"/>
            <a:ext cx="3054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142232" y="1792224"/>
            <a:ext cx="2962656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 &amp; Conquer: key ingredients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20040" y="868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Every divide-and-conquer algorithm needs these three ingredients.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57200" y="1417320"/>
            <a:ext cx="3108960" cy="1965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57200" y="1417320"/>
            <a:ext cx="3108960" cy="32918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484632" y="1435608"/>
            <a:ext cx="3054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30352" y="1792224"/>
            <a:ext cx="2962656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069080" y="1417320"/>
            <a:ext cx="3108960" cy="1965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069080" y="1417320"/>
            <a:ext cx="3108960" cy="329184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096512" y="1435608"/>
            <a:ext cx="3054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142232" y="1792224"/>
            <a:ext cx="2962656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7680960" y="1417320"/>
            <a:ext cx="3108960" cy="1965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680960" y="1417320"/>
            <a:ext cx="3108960" cy="329184"/>
          </a:xfrm>
          <a:prstGeom prst="rect">
            <a:avLst/>
          </a:prstGeom>
          <a:solidFill>
            <a:srgbClr val="55A0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7708392" y="1435608"/>
            <a:ext cx="3054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7754112" y="1792224"/>
            <a:ext cx="2962656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 &amp; Conquer: key ingredients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320040" y="868680"/>
            <a:ext cx="112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Every divide-and-conquer algorithm needs these three ingredients.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C63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57200" y="1417320"/>
            <a:ext cx="3108960" cy="1965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57200" y="1417320"/>
            <a:ext cx="3108960" cy="32918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484632" y="1435608"/>
            <a:ext cx="3054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530352" y="1792224"/>
            <a:ext cx="2962656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Solve very small inputs directly.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069080" y="1417320"/>
            <a:ext cx="3108960" cy="1965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069080" y="1417320"/>
            <a:ext cx="3108960" cy="329184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4096512" y="1435608"/>
            <a:ext cx="3054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680960" y="1417320"/>
            <a:ext cx="3108960" cy="1965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680960" y="1417320"/>
            <a:ext cx="3108960" cy="329184"/>
          </a:xfrm>
          <a:prstGeom prst="rect">
            <a:avLst/>
          </a:prstGeom>
          <a:solidFill>
            <a:srgbClr val="55A0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7708392" y="1435608"/>
            <a:ext cx="3054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09cbc41d6f_0_66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409cbc41d6f_0_668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 &amp; Conquer: key ingredients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409cbc41d6f_0_668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409cbc41d6f_0_668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409cbc41d6f_0_668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409cbc41d6f_0_668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409cbc41d6f_0_668"/>
          <p:cNvSpPr txBox="1"/>
          <p:nvPr/>
        </p:nvSpPr>
        <p:spPr>
          <a:xfrm>
            <a:off x="320040" y="868680"/>
            <a:ext cx="112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Every divide-and-conquer algorithm needs these three ingredients.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C63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409cbc41d6f_0_668"/>
          <p:cNvSpPr/>
          <p:nvPr/>
        </p:nvSpPr>
        <p:spPr>
          <a:xfrm>
            <a:off x="457200" y="1417320"/>
            <a:ext cx="3108900" cy="196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409cbc41d6f_0_668"/>
          <p:cNvSpPr/>
          <p:nvPr/>
        </p:nvSpPr>
        <p:spPr>
          <a:xfrm>
            <a:off x="457200" y="1417320"/>
            <a:ext cx="3108900" cy="3291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409cbc41d6f_0_668"/>
          <p:cNvSpPr txBox="1"/>
          <p:nvPr/>
        </p:nvSpPr>
        <p:spPr>
          <a:xfrm>
            <a:off x="484632" y="1435608"/>
            <a:ext cx="3054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409cbc41d6f_0_668"/>
          <p:cNvSpPr txBox="1"/>
          <p:nvPr/>
        </p:nvSpPr>
        <p:spPr>
          <a:xfrm>
            <a:off x="530352" y="1792224"/>
            <a:ext cx="2962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Solve very small inputs directly.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409cbc41d6f_0_668"/>
          <p:cNvSpPr/>
          <p:nvPr/>
        </p:nvSpPr>
        <p:spPr>
          <a:xfrm>
            <a:off x="4069080" y="1417320"/>
            <a:ext cx="3108900" cy="196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409cbc41d6f_0_668"/>
          <p:cNvSpPr/>
          <p:nvPr/>
        </p:nvSpPr>
        <p:spPr>
          <a:xfrm>
            <a:off x="4069080" y="1417320"/>
            <a:ext cx="3108900" cy="3291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409cbc41d6f_0_668"/>
          <p:cNvSpPr txBox="1"/>
          <p:nvPr/>
        </p:nvSpPr>
        <p:spPr>
          <a:xfrm>
            <a:off x="4096512" y="1435608"/>
            <a:ext cx="3054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409cbc41d6f_0_668"/>
          <p:cNvSpPr txBox="1"/>
          <p:nvPr/>
        </p:nvSpPr>
        <p:spPr>
          <a:xfrm>
            <a:off x="4142232" y="1792224"/>
            <a:ext cx="2962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Split the input into smaller subproblems of the same type.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409cbc41d6f_0_668"/>
          <p:cNvSpPr/>
          <p:nvPr/>
        </p:nvSpPr>
        <p:spPr>
          <a:xfrm>
            <a:off x="7680960" y="1417320"/>
            <a:ext cx="3108900" cy="196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409cbc41d6f_0_668"/>
          <p:cNvSpPr/>
          <p:nvPr/>
        </p:nvSpPr>
        <p:spPr>
          <a:xfrm>
            <a:off x="7680960" y="1417320"/>
            <a:ext cx="3108900" cy="329100"/>
          </a:xfrm>
          <a:prstGeom prst="rect">
            <a:avLst/>
          </a:prstGeom>
          <a:solidFill>
            <a:srgbClr val="55A0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409cbc41d6f_0_668"/>
          <p:cNvSpPr txBox="1"/>
          <p:nvPr/>
        </p:nvSpPr>
        <p:spPr>
          <a:xfrm>
            <a:off x="7708392" y="1435608"/>
            <a:ext cx="3054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09cbc41d6f_0_693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409cbc41d6f_0_693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 &amp; Conquer: key ingredients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409cbc41d6f_0_693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409cbc41d6f_0_693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409cbc41d6f_0_693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409cbc41d6f_0_693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409cbc41d6f_0_693"/>
          <p:cNvSpPr txBox="1"/>
          <p:nvPr/>
        </p:nvSpPr>
        <p:spPr>
          <a:xfrm>
            <a:off x="320040" y="868680"/>
            <a:ext cx="112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Every divide-and-conquer algorithm needs these three ingredients.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C63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409cbc41d6f_0_693"/>
          <p:cNvSpPr/>
          <p:nvPr/>
        </p:nvSpPr>
        <p:spPr>
          <a:xfrm>
            <a:off x="457200" y="1417320"/>
            <a:ext cx="3108900" cy="196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409cbc41d6f_0_693"/>
          <p:cNvSpPr/>
          <p:nvPr/>
        </p:nvSpPr>
        <p:spPr>
          <a:xfrm>
            <a:off x="457200" y="1417320"/>
            <a:ext cx="3108900" cy="3291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409cbc41d6f_0_693"/>
          <p:cNvSpPr txBox="1"/>
          <p:nvPr/>
        </p:nvSpPr>
        <p:spPr>
          <a:xfrm>
            <a:off x="484632" y="1435608"/>
            <a:ext cx="3054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409cbc41d6f_0_693"/>
          <p:cNvSpPr txBox="1"/>
          <p:nvPr/>
        </p:nvSpPr>
        <p:spPr>
          <a:xfrm>
            <a:off x="530352" y="1792224"/>
            <a:ext cx="2962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Solve very small inputs directly.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409cbc41d6f_0_693"/>
          <p:cNvSpPr/>
          <p:nvPr/>
        </p:nvSpPr>
        <p:spPr>
          <a:xfrm>
            <a:off x="4069080" y="1417320"/>
            <a:ext cx="3108900" cy="196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409cbc41d6f_0_693"/>
          <p:cNvSpPr/>
          <p:nvPr/>
        </p:nvSpPr>
        <p:spPr>
          <a:xfrm>
            <a:off x="4069080" y="1417320"/>
            <a:ext cx="3108900" cy="3291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409cbc41d6f_0_693"/>
          <p:cNvSpPr txBox="1"/>
          <p:nvPr/>
        </p:nvSpPr>
        <p:spPr>
          <a:xfrm>
            <a:off x="4096512" y="1435608"/>
            <a:ext cx="3054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409cbc41d6f_0_693"/>
          <p:cNvSpPr txBox="1"/>
          <p:nvPr/>
        </p:nvSpPr>
        <p:spPr>
          <a:xfrm>
            <a:off x="4142232" y="1792224"/>
            <a:ext cx="2962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Split the input into smaller subproblems of the same type.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409cbc41d6f_0_693"/>
          <p:cNvSpPr/>
          <p:nvPr/>
        </p:nvSpPr>
        <p:spPr>
          <a:xfrm>
            <a:off x="7680960" y="1417320"/>
            <a:ext cx="3108900" cy="196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409cbc41d6f_0_693"/>
          <p:cNvSpPr/>
          <p:nvPr/>
        </p:nvSpPr>
        <p:spPr>
          <a:xfrm>
            <a:off x="7680960" y="1417320"/>
            <a:ext cx="3108900" cy="329100"/>
          </a:xfrm>
          <a:prstGeom prst="rect">
            <a:avLst/>
          </a:prstGeom>
          <a:solidFill>
            <a:srgbClr val="55A0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409cbc41d6f_0_693"/>
          <p:cNvSpPr txBox="1"/>
          <p:nvPr/>
        </p:nvSpPr>
        <p:spPr>
          <a:xfrm>
            <a:off x="7708392" y="1435608"/>
            <a:ext cx="3054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409cbc41d6f_0_693"/>
          <p:cNvSpPr txBox="1"/>
          <p:nvPr/>
        </p:nvSpPr>
        <p:spPr>
          <a:xfrm>
            <a:off x="7754112" y="1792224"/>
            <a:ext cx="2962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Combine the recursive answers into the final solution.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409cbc41d6f_0_71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409cbc41d6f_0_718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 &amp; Conquer: key ingredients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409cbc41d6f_0_718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409cbc41d6f_0_718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409cbc41d6f_0_718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409cbc41d6f_0_718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409cbc41d6f_0_718"/>
          <p:cNvSpPr txBox="1"/>
          <p:nvPr/>
        </p:nvSpPr>
        <p:spPr>
          <a:xfrm>
            <a:off x="320040" y="868680"/>
            <a:ext cx="112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Every divide-and-conquer algorithm needs these three ingredients.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C63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409cbc41d6f_0_718"/>
          <p:cNvSpPr/>
          <p:nvPr/>
        </p:nvSpPr>
        <p:spPr>
          <a:xfrm>
            <a:off x="457200" y="1417320"/>
            <a:ext cx="3108900" cy="196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409cbc41d6f_0_718"/>
          <p:cNvSpPr/>
          <p:nvPr/>
        </p:nvSpPr>
        <p:spPr>
          <a:xfrm>
            <a:off x="457200" y="1417320"/>
            <a:ext cx="3108900" cy="3291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409cbc41d6f_0_718"/>
          <p:cNvSpPr txBox="1"/>
          <p:nvPr/>
        </p:nvSpPr>
        <p:spPr>
          <a:xfrm>
            <a:off x="484632" y="1435608"/>
            <a:ext cx="3054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409cbc41d6f_0_718"/>
          <p:cNvSpPr txBox="1"/>
          <p:nvPr/>
        </p:nvSpPr>
        <p:spPr>
          <a:xfrm>
            <a:off x="530352" y="1792224"/>
            <a:ext cx="2962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Solve very small inputs directly.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409cbc41d6f_0_718"/>
          <p:cNvSpPr/>
          <p:nvPr/>
        </p:nvSpPr>
        <p:spPr>
          <a:xfrm>
            <a:off x="4069080" y="1417320"/>
            <a:ext cx="3108900" cy="196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409cbc41d6f_0_718"/>
          <p:cNvSpPr/>
          <p:nvPr/>
        </p:nvSpPr>
        <p:spPr>
          <a:xfrm>
            <a:off x="4069080" y="1417320"/>
            <a:ext cx="3108900" cy="3291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409cbc41d6f_0_718"/>
          <p:cNvSpPr txBox="1"/>
          <p:nvPr/>
        </p:nvSpPr>
        <p:spPr>
          <a:xfrm>
            <a:off x="4096512" y="1435608"/>
            <a:ext cx="3054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Divide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409cbc41d6f_0_718"/>
          <p:cNvSpPr txBox="1"/>
          <p:nvPr/>
        </p:nvSpPr>
        <p:spPr>
          <a:xfrm>
            <a:off x="4142232" y="1792224"/>
            <a:ext cx="2962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Split the input into smaller subproblems of the same type.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409cbc41d6f_0_718"/>
          <p:cNvSpPr/>
          <p:nvPr/>
        </p:nvSpPr>
        <p:spPr>
          <a:xfrm>
            <a:off x="7680960" y="1417320"/>
            <a:ext cx="3108900" cy="196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409cbc41d6f_0_718"/>
          <p:cNvSpPr/>
          <p:nvPr/>
        </p:nvSpPr>
        <p:spPr>
          <a:xfrm>
            <a:off x="7680960" y="1417320"/>
            <a:ext cx="3108900" cy="329100"/>
          </a:xfrm>
          <a:prstGeom prst="rect">
            <a:avLst/>
          </a:prstGeom>
          <a:solidFill>
            <a:srgbClr val="55A0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409cbc41d6f_0_718"/>
          <p:cNvSpPr txBox="1"/>
          <p:nvPr/>
        </p:nvSpPr>
        <p:spPr>
          <a:xfrm>
            <a:off x="7708392" y="1435608"/>
            <a:ext cx="3054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409cbc41d6f_0_718"/>
          <p:cNvSpPr txBox="1"/>
          <p:nvPr/>
        </p:nvSpPr>
        <p:spPr>
          <a:xfrm>
            <a:off x="7754112" y="1792224"/>
            <a:ext cx="2962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Combine the recursive answers into the final solution.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409cbc41d6f_0_718"/>
          <p:cNvSpPr/>
          <p:nvPr/>
        </p:nvSpPr>
        <p:spPr>
          <a:xfrm>
            <a:off x="777240" y="3977639"/>
            <a:ext cx="10607100" cy="1188600"/>
          </a:xfrm>
          <a:prstGeom prst="rect">
            <a:avLst/>
          </a:prstGeom>
          <a:solidFill>
            <a:srgbClr val="EAEFF5"/>
          </a:solidFill>
          <a:ln cap="flat" cmpd="sng" w="95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409cbc41d6f_0_718"/>
          <p:cNvSpPr txBox="1"/>
          <p:nvPr/>
        </p:nvSpPr>
        <p:spPr>
          <a:xfrm>
            <a:off x="914400" y="4087368"/>
            <a:ext cx="102414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MergeSort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409cbc41d6f_0_718"/>
          <p:cNvSpPr txBox="1"/>
          <p:nvPr/>
        </p:nvSpPr>
        <p:spPr>
          <a:xfrm>
            <a:off x="914400" y="4370832"/>
            <a:ext cx="10149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[8, 3, 5, 1]  →  split into [8, 3] and [5, 1]  →  recursively sort both halves  →  merge into [1, 3, 5, 8]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Proving correctness: think like induction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 txBox="1"/>
          <p:nvPr/>
        </p:nvSpPr>
        <p:spPr>
          <a:xfrm>
            <a:off x="411480" y="91440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Using MergeSort as the running example.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640080" y="1417320"/>
            <a:ext cx="5303520" cy="329184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40080" y="1417320"/>
            <a:ext cx="5303520" cy="329184"/>
          </a:xfrm>
          <a:prstGeom prst="rect">
            <a:avLst/>
          </a:prstGeom>
          <a:solidFill>
            <a:srgbClr val="55A0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667512" y="1435608"/>
            <a:ext cx="52486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713232" y="1792224"/>
            <a:ext cx="5157216" cy="287121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n ≤ 1.</a:t>
            </a:r>
            <a:b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An array with 0 or 1 elements is already sorted.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263640" y="1417320"/>
            <a:ext cx="5303520" cy="329184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6263640" y="1417320"/>
            <a:ext cx="5303520" cy="329184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 txBox="1"/>
          <p:nvPr/>
        </p:nvSpPr>
        <p:spPr>
          <a:xfrm>
            <a:off x="6291072" y="1435608"/>
            <a:ext cx="52486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Inductive / recursive 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6336792" y="1792224"/>
            <a:ext cx="5157216" cy="287121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Assume the recursive calls correctly sort the left and right halves.</a:t>
            </a:r>
            <a:b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Then Merge combines two sorted halves into one sorted array.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3383280" y="50749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Base case + recursive step  ⇒  correctness for every input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Runtime analysis of divide and conquer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640080" y="1024128"/>
            <a:ext cx="1097280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685800" y="1106424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685800" y="1115568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1060704" y="109728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Define T(n) = running time on an input of size 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640080" y="1792224"/>
            <a:ext cx="10972800" cy="566928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85800" y="1874520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685800" y="1883664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1060704" y="1865376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Count the recursive calls and their input sizes.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40080" y="2560320"/>
            <a:ext cx="1097280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85800" y="2642616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685800" y="265176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1060704" y="2633472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Add the non-recursive work done in the combine step.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640080" y="3328416"/>
            <a:ext cx="10972800" cy="566928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85800" y="3410712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685800" y="3419856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1060704" y="3401568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Write the recurrence: T(n) = k·T(n/b) + f(n).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40080" y="4096512"/>
            <a:ext cx="1097280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85800" y="4178808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685800" y="4187952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"/>
          <p:cNvSpPr txBox="1"/>
          <p:nvPr/>
        </p:nvSpPr>
        <p:spPr>
          <a:xfrm>
            <a:off x="1060704" y="4169664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Apply the Master Theorem when the recurrence has the right form.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868680" y="50749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5A066"/>
                </a:solidFill>
                <a:latin typeface="Arial"/>
                <a:ea typeface="Arial"/>
                <a:cs typeface="Arial"/>
                <a:sym typeface="Arial"/>
              </a:rPr>
              <a:t>MergeSort example: T(n) = 2T(n/2) + O(n)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Master theorem toolbox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02920" y="1005840"/>
            <a:ext cx="5486400" cy="42976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502920" y="1005840"/>
            <a:ext cx="5486400" cy="32918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530352" y="1024128"/>
            <a:ext cx="54315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Theorem 1: Master Theorem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 txBox="1"/>
          <p:nvPr/>
        </p:nvSpPr>
        <p:spPr>
          <a:xfrm>
            <a:off x="576072" y="1380744"/>
            <a:ext cx="5340000" cy="1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T(n) = k·T(n/b) + O(n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), then: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if k &lt; b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,  T(n) = O(n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if k = b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,  T(n) = O(n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log n)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if k &gt; b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,  T(n) = O(n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log_b(k)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6217920" y="1005840"/>
            <a:ext cx="5486400" cy="42976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6217920" y="1005840"/>
            <a:ext cx="5486400" cy="329184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/>
        </p:nvSpPr>
        <p:spPr>
          <a:xfrm>
            <a:off x="6245352" y="1024128"/>
            <a:ext cx="54315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Theorem 2: with log factors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8"/>
          <p:cNvSpPr txBox="1"/>
          <p:nvPr/>
        </p:nvSpPr>
        <p:spPr>
          <a:xfrm>
            <a:off x="6291072" y="1380744"/>
            <a:ext cx="5340000" cy="1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T(n) = k·T(n/b) + Θ(n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log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n), then: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if k &lt; b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,  T(n) = Θ(n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log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n)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if k = b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,  T(n) = Θ(n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log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w+1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n)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if k &gt; b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,  T(n) = Θ(n</a:t>
            </a:r>
            <a:r>
              <a:rPr b="0" baseline="3000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log_b(k)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 txBox="1"/>
          <p:nvPr/>
        </p:nvSpPr>
        <p:spPr>
          <a:xfrm>
            <a:off x="2468880" y="557784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Theorem 2 reduces to Theorem 1 when w = 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1: Majority Element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 txBox="1"/>
          <p:nvPr/>
        </p:nvSpPr>
        <p:spPr>
          <a:xfrm>
            <a:off x="411480" y="88696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Goal: return the unique majority element of A[1..n] if it exists; otherwise return ⊥.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502920" y="1417320"/>
            <a:ext cx="5303520" cy="4480560"/>
          </a:xfrm>
          <a:prstGeom prst="rect">
            <a:avLst/>
          </a:prstGeom>
          <a:solidFill>
            <a:srgbClr val="F5F8FC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02920" y="1417320"/>
            <a:ext cx="5303520" cy="32918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530352" y="1435608"/>
            <a:ext cx="52486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 txBox="1"/>
          <p:nvPr/>
        </p:nvSpPr>
        <p:spPr>
          <a:xfrm>
            <a:off x="576072" y="1792224"/>
            <a:ext cx="5157216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if n = 1: return A[1]</a:t>
            </a:r>
            <a:br>
              <a:rPr b="0" i="0" lang="en-US" sz="18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x ← MajorityElement(left half)</a:t>
            </a:r>
            <a:br>
              <a:rPr b="0" i="0" lang="en-US" sz="18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y ← MajorityElement(right half)</a:t>
            </a:r>
            <a:br>
              <a:rPr b="0" i="0" lang="en-US" sz="18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if x ≠ ⊥ and count(x in A) &gt; n/2: return x</a:t>
            </a:r>
            <a:br>
              <a:rPr b="0" i="0" lang="en-US" sz="18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if y ≠ ⊥ and count(y in A) &gt; n/2: return y</a:t>
            </a:r>
            <a:br>
              <a:rPr b="0" i="0" lang="en-US" sz="18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return 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080760" y="1417320"/>
            <a:ext cx="5623560" cy="44805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6080760" y="1417320"/>
            <a:ext cx="5623560" cy="310896"/>
          </a:xfrm>
          <a:prstGeom prst="rect">
            <a:avLst/>
          </a:prstGeom>
          <a:solidFill>
            <a:srgbClr val="55A0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 txBox="1"/>
          <p:nvPr/>
        </p:nvSpPr>
        <p:spPr>
          <a:xfrm>
            <a:off x="6117336" y="1435608"/>
            <a:ext cx="55504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 txBox="1"/>
          <p:nvPr/>
        </p:nvSpPr>
        <p:spPr>
          <a:xfrm>
            <a:off x="6190488" y="1783080"/>
            <a:ext cx="5422392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Split the array into two halves and recurse on each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Each recursive call returns a candidate majority element for its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Check candidate x against the full array; then do the same for 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neither candidate exceeds n/2 occurrences, return ⊥.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1(a): running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914400" y="1234440"/>
            <a:ext cx="10332720" cy="658368"/>
          </a:xfrm>
          <a:prstGeom prst="roundRect">
            <a:avLst>
              <a:gd fmla="val 16667" name="adj"/>
            </a:avLst>
          </a:prstGeom>
          <a:solidFill>
            <a:srgbClr val="E9F1FA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960120" y="1316736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960120" y="132588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 txBox="1"/>
          <p:nvPr/>
        </p:nvSpPr>
        <p:spPr>
          <a:xfrm>
            <a:off x="1335024" y="1307592"/>
            <a:ext cx="9829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Two recursive calls on subarrays of size n/2.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409cbc41d6f_0_33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409cbc41d6f_0_33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1(a): running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409cbc41d6f_0_33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409cbc41d6f_0_33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409cbc41d6f_0_33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409cbc41d6f_0_33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409cbc41d6f_0_33"/>
          <p:cNvSpPr/>
          <p:nvPr/>
        </p:nvSpPr>
        <p:spPr>
          <a:xfrm>
            <a:off x="914400" y="1234440"/>
            <a:ext cx="10332600" cy="658500"/>
          </a:xfrm>
          <a:prstGeom prst="roundRect">
            <a:avLst>
              <a:gd fmla="val 16667" name="adj"/>
            </a:avLst>
          </a:prstGeom>
          <a:solidFill>
            <a:srgbClr val="E9F1FA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409cbc41d6f_0_33"/>
          <p:cNvSpPr/>
          <p:nvPr/>
        </p:nvSpPr>
        <p:spPr>
          <a:xfrm>
            <a:off x="960120" y="13167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409cbc41d6f_0_33"/>
          <p:cNvSpPr txBox="1"/>
          <p:nvPr/>
        </p:nvSpPr>
        <p:spPr>
          <a:xfrm>
            <a:off x="960120" y="13258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409cbc41d6f_0_33"/>
          <p:cNvSpPr txBox="1"/>
          <p:nvPr/>
        </p:nvSpPr>
        <p:spPr>
          <a:xfrm>
            <a:off x="1335024" y="1307592"/>
            <a:ext cx="9829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Two recursive calls on subarrays of size n/2.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409cbc41d6f_0_33"/>
          <p:cNvSpPr/>
          <p:nvPr/>
        </p:nvSpPr>
        <p:spPr>
          <a:xfrm>
            <a:off x="914400" y="2148840"/>
            <a:ext cx="10332600" cy="658500"/>
          </a:xfrm>
          <a:prstGeom prst="roundRect">
            <a:avLst>
              <a:gd fmla="val 16667" name="adj"/>
            </a:avLst>
          </a:prstGeom>
          <a:solidFill>
            <a:srgbClr val="E9F1FA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409cbc41d6f_0_33"/>
          <p:cNvSpPr/>
          <p:nvPr/>
        </p:nvSpPr>
        <p:spPr>
          <a:xfrm>
            <a:off x="960120" y="22311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409cbc41d6f_0_33"/>
          <p:cNvSpPr txBox="1"/>
          <p:nvPr/>
        </p:nvSpPr>
        <p:spPr>
          <a:xfrm>
            <a:off x="960120" y="22402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409cbc41d6f_0_33"/>
          <p:cNvSpPr txBox="1"/>
          <p:nvPr/>
        </p:nvSpPr>
        <p:spPr>
          <a:xfrm>
            <a:off x="1335024" y="2221992"/>
            <a:ext cx="9829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Verifying x and y requires scanning the array, which is O(n) total.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409cbc41d6f_0_5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409cbc41d6f_0_58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1(a): running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409cbc41d6f_0_58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409cbc41d6f_0_58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409cbc41d6f_0_58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409cbc41d6f_0_58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409cbc41d6f_0_58"/>
          <p:cNvSpPr/>
          <p:nvPr/>
        </p:nvSpPr>
        <p:spPr>
          <a:xfrm>
            <a:off x="914400" y="1234440"/>
            <a:ext cx="10332600" cy="658500"/>
          </a:xfrm>
          <a:prstGeom prst="roundRect">
            <a:avLst>
              <a:gd fmla="val 16667" name="adj"/>
            </a:avLst>
          </a:prstGeom>
          <a:solidFill>
            <a:srgbClr val="E9F1FA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409cbc41d6f_0_58"/>
          <p:cNvSpPr/>
          <p:nvPr/>
        </p:nvSpPr>
        <p:spPr>
          <a:xfrm>
            <a:off x="960120" y="13167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409cbc41d6f_0_58"/>
          <p:cNvSpPr txBox="1"/>
          <p:nvPr/>
        </p:nvSpPr>
        <p:spPr>
          <a:xfrm>
            <a:off x="960120" y="13258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409cbc41d6f_0_58"/>
          <p:cNvSpPr txBox="1"/>
          <p:nvPr/>
        </p:nvSpPr>
        <p:spPr>
          <a:xfrm>
            <a:off x="1335024" y="1307592"/>
            <a:ext cx="9829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Two recursive calls on subarrays of size n/2.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409cbc41d6f_0_58"/>
          <p:cNvSpPr/>
          <p:nvPr/>
        </p:nvSpPr>
        <p:spPr>
          <a:xfrm>
            <a:off x="914400" y="2148840"/>
            <a:ext cx="10332600" cy="658500"/>
          </a:xfrm>
          <a:prstGeom prst="roundRect">
            <a:avLst>
              <a:gd fmla="val 16667" name="adj"/>
            </a:avLst>
          </a:prstGeom>
          <a:solidFill>
            <a:srgbClr val="E9F1FA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409cbc41d6f_0_58"/>
          <p:cNvSpPr/>
          <p:nvPr/>
        </p:nvSpPr>
        <p:spPr>
          <a:xfrm>
            <a:off x="960120" y="22311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409cbc41d6f_0_58"/>
          <p:cNvSpPr txBox="1"/>
          <p:nvPr/>
        </p:nvSpPr>
        <p:spPr>
          <a:xfrm>
            <a:off x="960120" y="22402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409cbc41d6f_0_58"/>
          <p:cNvSpPr txBox="1"/>
          <p:nvPr/>
        </p:nvSpPr>
        <p:spPr>
          <a:xfrm>
            <a:off x="1335024" y="2221992"/>
            <a:ext cx="9829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Verifying x and y requires scanning the array, which is O(n) total.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409cbc41d6f_0_58"/>
          <p:cNvSpPr/>
          <p:nvPr/>
        </p:nvSpPr>
        <p:spPr>
          <a:xfrm>
            <a:off x="914400" y="3063240"/>
            <a:ext cx="10332600" cy="658500"/>
          </a:xfrm>
          <a:prstGeom prst="roundRect">
            <a:avLst>
              <a:gd fmla="val 16667" name="adj"/>
            </a:avLst>
          </a:prstGeom>
          <a:solidFill>
            <a:srgbClr val="FDEFCE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409cbc41d6f_0_58"/>
          <p:cNvSpPr/>
          <p:nvPr/>
        </p:nvSpPr>
        <p:spPr>
          <a:xfrm>
            <a:off x="960120" y="31455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409cbc41d6f_0_58"/>
          <p:cNvSpPr txBox="1"/>
          <p:nvPr/>
        </p:nvSpPr>
        <p:spPr>
          <a:xfrm>
            <a:off x="960120" y="31546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409cbc41d6f_0_58"/>
          <p:cNvSpPr txBox="1"/>
          <p:nvPr/>
        </p:nvSpPr>
        <p:spPr>
          <a:xfrm>
            <a:off x="1335024" y="3136392"/>
            <a:ext cx="9829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Recurrence:  T(n) = 2T(n/2) + O(n).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409cbc41d6f_0_83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409cbc41d6f_0_83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1(a): running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409cbc41d6f_0_83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409cbc41d6f_0_83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409cbc41d6f_0_83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409cbc41d6f_0_83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409cbc41d6f_0_83"/>
          <p:cNvSpPr/>
          <p:nvPr/>
        </p:nvSpPr>
        <p:spPr>
          <a:xfrm>
            <a:off x="914400" y="1234440"/>
            <a:ext cx="10332600" cy="658500"/>
          </a:xfrm>
          <a:prstGeom prst="roundRect">
            <a:avLst>
              <a:gd fmla="val 16667" name="adj"/>
            </a:avLst>
          </a:prstGeom>
          <a:solidFill>
            <a:srgbClr val="E9F1FA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409cbc41d6f_0_83"/>
          <p:cNvSpPr/>
          <p:nvPr/>
        </p:nvSpPr>
        <p:spPr>
          <a:xfrm>
            <a:off x="960120" y="13167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409cbc41d6f_0_83"/>
          <p:cNvSpPr txBox="1"/>
          <p:nvPr/>
        </p:nvSpPr>
        <p:spPr>
          <a:xfrm>
            <a:off x="960120" y="13258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409cbc41d6f_0_83"/>
          <p:cNvSpPr txBox="1"/>
          <p:nvPr/>
        </p:nvSpPr>
        <p:spPr>
          <a:xfrm>
            <a:off x="1335024" y="1307592"/>
            <a:ext cx="9829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Two recursive calls on subarrays of size n/2.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409cbc41d6f_0_83"/>
          <p:cNvSpPr/>
          <p:nvPr/>
        </p:nvSpPr>
        <p:spPr>
          <a:xfrm>
            <a:off x="914400" y="2148840"/>
            <a:ext cx="10332600" cy="658500"/>
          </a:xfrm>
          <a:prstGeom prst="roundRect">
            <a:avLst>
              <a:gd fmla="val 16667" name="adj"/>
            </a:avLst>
          </a:prstGeom>
          <a:solidFill>
            <a:srgbClr val="E9F1FA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409cbc41d6f_0_83"/>
          <p:cNvSpPr/>
          <p:nvPr/>
        </p:nvSpPr>
        <p:spPr>
          <a:xfrm>
            <a:off x="960120" y="22311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409cbc41d6f_0_83"/>
          <p:cNvSpPr txBox="1"/>
          <p:nvPr/>
        </p:nvSpPr>
        <p:spPr>
          <a:xfrm>
            <a:off x="960120" y="22402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409cbc41d6f_0_83"/>
          <p:cNvSpPr txBox="1"/>
          <p:nvPr/>
        </p:nvSpPr>
        <p:spPr>
          <a:xfrm>
            <a:off x="1335024" y="2221992"/>
            <a:ext cx="9829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Verifying x and y requires scanning the array, which is O(n) total.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409cbc41d6f_0_83"/>
          <p:cNvSpPr/>
          <p:nvPr/>
        </p:nvSpPr>
        <p:spPr>
          <a:xfrm>
            <a:off x="914400" y="3063240"/>
            <a:ext cx="10332600" cy="658500"/>
          </a:xfrm>
          <a:prstGeom prst="roundRect">
            <a:avLst>
              <a:gd fmla="val 16667" name="adj"/>
            </a:avLst>
          </a:prstGeom>
          <a:solidFill>
            <a:srgbClr val="FDEFCE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409cbc41d6f_0_83"/>
          <p:cNvSpPr/>
          <p:nvPr/>
        </p:nvSpPr>
        <p:spPr>
          <a:xfrm>
            <a:off x="960120" y="31455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409cbc41d6f_0_83"/>
          <p:cNvSpPr txBox="1"/>
          <p:nvPr/>
        </p:nvSpPr>
        <p:spPr>
          <a:xfrm>
            <a:off x="960120" y="31546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409cbc41d6f_0_83"/>
          <p:cNvSpPr txBox="1"/>
          <p:nvPr/>
        </p:nvSpPr>
        <p:spPr>
          <a:xfrm>
            <a:off x="1335024" y="3136392"/>
            <a:ext cx="9829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Recurrence:  T(n) = 2T(n/2) + O(n).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409cbc41d6f_0_83"/>
          <p:cNvSpPr/>
          <p:nvPr/>
        </p:nvSpPr>
        <p:spPr>
          <a:xfrm>
            <a:off x="914400" y="3977639"/>
            <a:ext cx="10332600" cy="658500"/>
          </a:xfrm>
          <a:prstGeom prst="roundRect">
            <a:avLst>
              <a:gd fmla="val 16667" name="adj"/>
            </a:avLst>
          </a:prstGeom>
          <a:solidFill>
            <a:srgbClr val="DFF3E4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409cbc41d6f_0_83"/>
          <p:cNvSpPr/>
          <p:nvPr/>
        </p:nvSpPr>
        <p:spPr>
          <a:xfrm>
            <a:off x="960120" y="4059935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409cbc41d6f_0_83"/>
          <p:cNvSpPr txBox="1"/>
          <p:nvPr/>
        </p:nvSpPr>
        <p:spPr>
          <a:xfrm>
            <a:off x="960120" y="4069079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409cbc41d6f_0_83"/>
          <p:cNvSpPr txBox="1"/>
          <p:nvPr/>
        </p:nvSpPr>
        <p:spPr>
          <a:xfrm>
            <a:off x="1335024" y="4050791"/>
            <a:ext cx="9829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Master Theorem ⇒  T(n) = O(n log 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1(b): correctness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1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1"/>
          <p:cNvSpPr txBox="1"/>
          <p:nvPr/>
        </p:nvSpPr>
        <p:spPr>
          <a:xfrm>
            <a:off x="502920" y="86868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Main claim: if z is the majority element of A, then z is the majority element of at least one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731520" y="1463040"/>
            <a:ext cx="10789920" cy="6766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777240" y="1545336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 txBox="1"/>
          <p:nvPr/>
        </p:nvSpPr>
        <p:spPr>
          <a:xfrm>
            <a:off x="777240" y="155448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1"/>
          <p:cNvSpPr txBox="1"/>
          <p:nvPr/>
        </p:nvSpPr>
        <p:spPr>
          <a:xfrm>
            <a:off x="1152144" y="1536192"/>
            <a:ext cx="10287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z appears more than n/2 times overall, then it must appear more than n/4 times in at least one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09cbc41d6f_0_10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409cbc41d6f_0_108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1(b): correctness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409cbc41d6f_0_108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409cbc41d6f_0_108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409cbc41d6f_0_108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409cbc41d6f_0_108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409cbc41d6f_0_108"/>
          <p:cNvSpPr txBox="1"/>
          <p:nvPr/>
        </p:nvSpPr>
        <p:spPr>
          <a:xfrm>
            <a:off x="502920" y="868680"/>
            <a:ext cx="1097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Main claim: if z is the majority element of A, then z is the majority element of at least one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409cbc41d6f_0_108"/>
          <p:cNvSpPr/>
          <p:nvPr/>
        </p:nvSpPr>
        <p:spPr>
          <a:xfrm>
            <a:off x="731520" y="1463040"/>
            <a:ext cx="10789800" cy="676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409cbc41d6f_0_108"/>
          <p:cNvSpPr/>
          <p:nvPr/>
        </p:nvSpPr>
        <p:spPr>
          <a:xfrm>
            <a:off x="777240" y="15453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409cbc41d6f_0_108"/>
          <p:cNvSpPr txBox="1"/>
          <p:nvPr/>
        </p:nvSpPr>
        <p:spPr>
          <a:xfrm>
            <a:off x="777240" y="15544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409cbc41d6f_0_108"/>
          <p:cNvSpPr txBox="1"/>
          <p:nvPr/>
        </p:nvSpPr>
        <p:spPr>
          <a:xfrm>
            <a:off x="1152144" y="1536192"/>
            <a:ext cx="10287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z appears more than n/2 times overall, then it must appear more than n/4 times in at least one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g409cbc41d6f_0_108"/>
          <p:cNvSpPr/>
          <p:nvPr/>
        </p:nvSpPr>
        <p:spPr>
          <a:xfrm>
            <a:off x="731520" y="2331720"/>
            <a:ext cx="10789800" cy="676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409cbc41d6f_0_108"/>
          <p:cNvSpPr/>
          <p:nvPr/>
        </p:nvSpPr>
        <p:spPr>
          <a:xfrm>
            <a:off x="777240" y="241401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409cbc41d6f_0_108"/>
          <p:cNvSpPr txBox="1"/>
          <p:nvPr/>
        </p:nvSpPr>
        <p:spPr>
          <a:xfrm>
            <a:off x="777240" y="242316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409cbc41d6f_0_108"/>
          <p:cNvSpPr txBox="1"/>
          <p:nvPr/>
        </p:nvSpPr>
        <p:spPr>
          <a:xfrm>
            <a:off x="1152144" y="2404872"/>
            <a:ext cx="10287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By the recursive hypothesis, that half returns z as its candidate.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409cbc41d6f_0_134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409cbc41d6f_0_134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1(b): correctness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409cbc41d6f_0_134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409cbc41d6f_0_134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409cbc41d6f_0_134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409cbc41d6f_0_134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409cbc41d6f_0_134"/>
          <p:cNvSpPr txBox="1"/>
          <p:nvPr/>
        </p:nvSpPr>
        <p:spPr>
          <a:xfrm>
            <a:off x="502920" y="868680"/>
            <a:ext cx="1097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Main claim: if z is the majority element of A, then z is the majority element of at least one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409cbc41d6f_0_134"/>
          <p:cNvSpPr/>
          <p:nvPr/>
        </p:nvSpPr>
        <p:spPr>
          <a:xfrm>
            <a:off x="731520" y="1463040"/>
            <a:ext cx="10789800" cy="676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409cbc41d6f_0_134"/>
          <p:cNvSpPr/>
          <p:nvPr/>
        </p:nvSpPr>
        <p:spPr>
          <a:xfrm>
            <a:off x="777240" y="15453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409cbc41d6f_0_134"/>
          <p:cNvSpPr txBox="1"/>
          <p:nvPr/>
        </p:nvSpPr>
        <p:spPr>
          <a:xfrm>
            <a:off x="777240" y="15544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409cbc41d6f_0_134"/>
          <p:cNvSpPr txBox="1"/>
          <p:nvPr/>
        </p:nvSpPr>
        <p:spPr>
          <a:xfrm>
            <a:off x="1152144" y="1536192"/>
            <a:ext cx="10287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z appears more than n/2 times overall, then it must appear more than n/4 times in at least one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409cbc41d6f_0_134"/>
          <p:cNvSpPr/>
          <p:nvPr/>
        </p:nvSpPr>
        <p:spPr>
          <a:xfrm>
            <a:off x="731520" y="2331720"/>
            <a:ext cx="10789800" cy="676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409cbc41d6f_0_134"/>
          <p:cNvSpPr/>
          <p:nvPr/>
        </p:nvSpPr>
        <p:spPr>
          <a:xfrm>
            <a:off x="777240" y="241401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409cbc41d6f_0_134"/>
          <p:cNvSpPr txBox="1"/>
          <p:nvPr/>
        </p:nvSpPr>
        <p:spPr>
          <a:xfrm>
            <a:off x="777240" y="242316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409cbc41d6f_0_134"/>
          <p:cNvSpPr txBox="1"/>
          <p:nvPr/>
        </p:nvSpPr>
        <p:spPr>
          <a:xfrm>
            <a:off x="1152144" y="2404872"/>
            <a:ext cx="10287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By the recursive hypothesis, that half returns z as its candidate.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409cbc41d6f_0_134"/>
          <p:cNvSpPr/>
          <p:nvPr/>
        </p:nvSpPr>
        <p:spPr>
          <a:xfrm>
            <a:off x="731520" y="3200400"/>
            <a:ext cx="10789800" cy="676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409cbc41d6f_0_134"/>
          <p:cNvSpPr/>
          <p:nvPr/>
        </p:nvSpPr>
        <p:spPr>
          <a:xfrm>
            <a:off x="777240" y="328269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409cbc41d6f_0_134"/>
          <p:cNvSpPr txBox="1"/>
          <p:nvPr/>
        </p:nvSpPr>
        <p:spPr>
          <a:xfrm>
            <a:off x="777240" y="329184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409cbc41d6f_0_134"/>
          <p:cNvSpPr txBox="1"/>
          <p:nvPr/>
        </p:nvSpPr>
        <p:spPr>
          <a:xfrm>
            <a:off x="1152144" y="3273552"/>
            <a:ext cx="10287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algorithm only outputs a candidate after checking that it appears more than n/2 times in the full array.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409cbc41d6f_0_16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409cbc41d6f_0_160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1(b): correctness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409cbc41d6f_0_160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409cbc41d6f_0_160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409cbc41d6f_0_160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409cbc41d6f_0_160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409cbc41d6f_0_160"/>
          <p:cNvSpPr txBox="1"/>
          <p:nvPr/>
        </p:nvSpPr>
        <p:spPr>
          <a:xfrm>
            <a:off x="502920" y="868680"/>
            <a:ext cx="1097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Main claim: if z is the majority element of A, then z is the majority element of at least one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409cbc41d6f_0_160"/>
          <p:cNvSpPr/>
          <p:nvPr/>
        </p:nvSpPr>
        <p:spPr>
          <a:xfrm>
            <a:off x="731520" y="1463040"/>
            <a:ext cx="10789800" cy="676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409cbc41d6f_0_160"/>
          <p:cNvSpPr/>
          <p:nvPr/>
        </p:nvSpPr>
        <p:spPr>
          <a:xfrm>
            <a:off x="777240" y="15453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409cbc41d6f_0_160"/>
          <p:cNvSpPr txBox="1"/>
          <p:nvPr/>
        </p:nvSpPr>
        <p:spPr>
          <a:xfrm>
            <a:off x="777240" y="15544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409cbc41d6f_0_160"/>
          <p:cNvSpPr txBox="1"/>
          <p:nvPr/>
        </p:nvSpPr>
        <p:spPr>
          <a:xfrm>
            <a:off x="1152144" y="1536192"/>
            <a:ext cx="10287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z appears more than n/2 times overall, then it must appear more than n/4 times in at least one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409cbc41d6f_0_160"/>
          <p:cNvSpPr/>
          <p:nvPr/>
        </p:nvSpPr>
        <p:spPr>
          <a:xfrm>
            <a:off x="731520" y="2331720"/>
            <a:ext cx="10789800" cy="676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409cbc41d6f_0_160"/>
          <p:cNvSpPr/>
          <p:nvPr/>
        </p:nvSpPr>
        <p:spPr>
          <a:xfrm>
            <a:off x="777240" y="241401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409cbc41d6f_0_160"/>
          <p:cNvSpPr txBox="1"/>
          <p:nvPr/>
        </p:nvSpPr>
        <p:spPr>
          <a:xfrm>
            <a:off x="777240" y="242316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409cbc41d6f_0_160"/>
          <p:cNvSpPr txBox="1"/>
          <p:nvPr/>
        </p:nvSpPr>
        <p:spPr>
          <a:xfrm>
            <a:off x="1152144" y="2404872"/>
            <a:ext cx="10287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By the recursive hypothesis, that half returns z as its candidate.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409cbc41d6f_0_160"/>
          <p:cNvSpPr/>
          <p:nvPr/>
        </p:nvSpPr>
        <p:spPr>
          <a:xfrm>
            <a:off x="731520" y="3200400"/>
            <a:ext cx="10789800" cy="676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409cbc41d6f_0_160"/>
          <p:cNvSpPr/>
          <p:nvPr/>
        </p:nvSpPr>
        <p:spPr>
          <a:xfrm>
            <a:off x="777240" y="328269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409cbc41d6f_0_160"/>
          <p:cNvSpPr txBox="1"/>
          <p:nvPr/>
        </p:nvSpPr>
        <p:spPr>
          <a:xfrm>
            <a:off x="777240" y="329184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409cbc41d6f_0_160"/>
          <p:cNvSpPr txBox="1"/>
          <p:nvPr/>
        </p:nvSpPr>
        <p:spPr>
          <a:xfrm>
            <a:off x="1152144" y="3273552"/>
            <a:ext cx="10287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algorithm only outputs a candidate after checking that it appears more than n/2 times in the full array.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409cbc41d6f_0_160"/>
          <p:cNvSpPr/>
          <p:nvPr/>
        </p:nvSpPr>
        <p:spPr>
          <a:xfrm>
            <a:off x="731520" y="4069080"/>
            <a:ext cx="10789800" cy="822900"/>
          </a:xfrm>
          <a:prstGeom prst="roundRect">
            <a:avLst>
              <a:gd fmla="val 16667" name="adj"/>
            </a:avLst>
          </a:prstGeom>
          <a:solidFill>
            <a:srgbClr val="DFF3E4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g409cbc41d6f_0_160"/>
          <p:cNvSpPr/>
          <p:nvPr/>
        </p:nvSpPr>
        <p:spPr>
          <a:xfrm>
            <a:off x="777240" y="415137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409cbc41d6f_0_160"/>
          <p:cNvSpPr txBox="1"/>
          <p:nvPr/>
        </p:nvSpPr>
        <p:spPr>
          <a:xfrm>
            <a:off x="777240" y="416052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409cbc41d6f_0_160"/>
          <p:cNvSpPr txBox="1"/>
          <p:nvPr/>
        </p:nvSpPr>
        <p:spPr>
          <a:xfrm>
            <a:off x="1152144" y="4142232"/>
            <a:ext cx="10287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Therefore the algorithm returns the majority element when one exists, and otherwise returns ⊥.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Complete Binary Tree Local 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2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2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2"/>
          <p:cNvSpPr txBox="1"/>
          <p:nvPr/>
        </p:nvSpPr>
        <p:spPr>
          <a:xfrm>
            <a:off x="411480" y="914400"/>
            <a:ext cx="64008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Given a complete binary tree whose labels are revealed only when you query a node, find a local maximum using just O(log |V|) label queries.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" name="Google Shape;511;p12"/>
          <p:cNvCxnSpPr/>
          <p:nvPr/>
        </p:nvCxnSpPr>
        <p:spPr>
          <a:xfrm flipH="1">
            <a:off x="8759951" y="1581912"/>
            <a:ext cx="640080" cy="731520"/>
          </a:xfrm>
          <a:prstGeom prst="straightConnector1">
            <a:avLst/>
          </a:prstGeom>
          <a:noFill/>
          <a:ln cap="flat" cmpd="sng" w="1905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12" name="Google Shape;512;p12"/>
          <p:cNvCxnSpPr/>
          <p:nvPr/>
        </p:nvCxnSpPr>
        <p:spPr>
          <a:xfrm>
            <a:off x="9400031" y="1581912"/>
            <a:ext cx="640080" cy="731520"/>
          </a:xfrm>
          <a:prstGeom prst="straightConnector1">
            <a:avLst/>
          </a:prstGeom>
          <a:noFill/>
          <a:ln cap="flat" cmpd="sng" w="1905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13" name="Google Shape;513;p12"/>
          <p:cNvCxnSpPr/>
          <p:nvPr/>
        </p:nvCxnSpPr>
        <p:spPr>
          <a:xfrm flipH="1">
            <a:off x="8119871" y="2313432"/>
            <a:ext cx="640080" cy="731520"/>
          </a:xfrm>
          <a:prstGeom prst="straightConnector1">
            <a:avLst/>
          </a:prstGeom>
          <a:noFill/>
          <a:ln cap="flat" cmpd="sng" w="1905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14" name="Google Shape;514;p12"/>
          <p:cNvCxnSpPr/>
          <p:nvPr/>
        </p:nvCxnSpPr>
        <p:spPr>
          <a:xfrm>
            <a:off x="8759951" y="2313432"/>
            <a:ext cx="640080" cy="731520"/>
          </a:xfrm>
          <a:prstGeom prst="straightConnector1">
            <a:avLst/>
          </a:prstGeom>
          <a:noFill/>
          <a:ln cap="flat" cmpd="sng" w="1905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15" name="Google Shape;515;p12"/>
          <p:cNvCxnSpPr/>
          <p:nvPr/>
        </p:nvCxnSpPr>
        <p:spPr>
          <a:xfrm>
            <a:off x="10040111" y="2313432"/>
            <a:ext cx="640080" cy="731520"/>
          </a:xfrm>
          <a:prstGeom prst="straightConnector1">
            <a:avLst/>
          </a:prstGeom>
          <a:noFill/>
          <a:ln cap="flat" cmpd="sng" w="1905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6" name="Google Shape;516;p12"/>
          <p:cNvSpPr/>
          <p:nvPr/>
        </p:nvSpPr>
        <p:spPr>
          <a:xfrm>
            <a:off x="9235439" y="141732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123E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 txBox="1"/>
          <p:nvPr/>
        </p:nvSpPr>
        <p:spPr>
          <a:xfrm>
            <a:off x="9235439" y="1435608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8595359" y="214884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123E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 txBox="1"/>
          <p:nvPr/>
        </p:nvSpPr>
        <p:spPr>
          <a:xfrm>
            <a:off x="8595359" y="2167128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9875519" y="214884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123E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 txBox="1"/>
          <p:nvPr/>
        </p:nvSpPr>
        <p:spPr>
          <a:xfrm>
            <a:off x="9875519" y="2167128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7955279" y="288036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123E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 txBox="1"/>
          <p:nvPr/>
        </p:nvSpPr>
        <p:spPr>
          <a:xfrm>
            <a:off x="7955279" y="2898648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9235439" y="288036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123E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 txBox="1"/>
          <p:nvPr/>
        </p:nvSpPr>
        <p:spPr>
          <a:xfrm>
            <a:off x="9235439" y="2898648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10515599" y="288036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123E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 txBox="1"/>
          <p:nvPr/>
        </p:nvSpPr>
        <p:spPr>
          <a:xfrm>
            <a:off x="10515599" y="2898648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548640" y="2286000"/>
            <a:ext cx="6583680" cy="256032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548640" y="2286000"/>
            <a:ext cx="6583680" cy="310896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 txBox="1"/>
          <p:nvPr/>
        </p:nvSpPr>
        <p:spPr>
          <a:xfrm>
            <a:off x="585216" y="2304288"/>
            <a:ext cx="65105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Reminder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2"/>
          <p:cNvSpPr txBox="1"/>
          <p:nvPr/>
        </p:nvSpPr>
        <p:spPr>
          <a:xfrm>
            <a:off x="658368" y="2651760"/>
            <a:ext cx="6382512" cy="21396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 local maximum is a node whose label is at least the labels of all adjacent 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Adjacent nodes = parent + children (whichever exist).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tree may have multiple local maxima; we only need to return one.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2"/>
          <p:cNvSpPr txBox="1"/>
          <p:nvPr/>
        </p:nvSpPr>
        <p:spPr>
          <a:xfrm>
            <a:off x="7635240" y="44348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A066"/>
                </a:solidFill>
                <a:latin typeface="Arial"/>
                <a:ea typeface="Arial"/>
                <a:cs typeface="Arial"/>
                <a:sym typeface="Arial"/>
              </a:rPr>
              <a:t>Example local maxima: 10, 15, and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intuition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3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3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409cbc41d6f_0_222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409cbc41d6f_0_222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intuition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409cbc41d6f_0_222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409cbc41d6f_0_222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409cbc41d6f_0_222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409cbc41d6f_0_222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409cbc41d6f_0_222"/>
          <p:cNvSpPr/>
          <p:nvPr/>
        </p:nvSpPr>
        <p:spPr>
          <a:xfrm>
            <a:off x="640080" y="1417320"/>
            <a:ext cx="5394900" cy="3383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409cbc41d6f_0_222"/>
          <p:cNvSpPr/>
          <p:nvPr/>
        </p:nvSpPr>
        <p:spPr>
          <a:xfrm>
            <a:off x="640080" y="1417320"/>
            <a:ext cx="5394900" cy="329100"/>
          </a:xfrm>
          <a:prstGeom prst="rect">
            <a:avLst/>
          </a:prstGeom>
          <a:solidFill>
            <a:srgbClr val="55A0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409cbc41d6f_0_222"/>
          <p:cNvSpPr txBox="1"/>
          <p:nvPr/>
        </p:nvSpPr>
        <p:spPr>
          <a:xfrm>
            <a:off x="667512" y="1435608"/>
            <a:ext cx="5340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409cbc41d6f_0_222"/>
          <p:cNvSpPr txBox="1"/>
          <p:nvPr/>
        </p:nvSpPr>
        <p:spPr>
          <a:xfrm>
            <a:off x="713232" y="1792224"/>
            <a:ext cx="52488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the root label is at least both children’s labels, return the root.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409cbc41d6f_0_204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409cbc41d6f_0_204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intuition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409cbc41d6f_0_204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409cbc41d6f_0_204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409cbc41d6f_0_204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409cbc41d6f_0_204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409cbc41d6f_0_204"/>
          <p:cNvSpPr/>
          <p:nvPr/>
        </p:nvSpPr>
        <p:spPr>
          <a:xfrm>
            <a:off x="640080" y="1417320"/>
            <a:ext cx="5394900" cy="3383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409cbc41d6f_0_204"/>
          <p:cNvSpPr/>
          <p:nvPr/>
        </p:nvSpPr>
        <p:spPr>
          <a:xfrm>
            <a:off x="640080" y="1417320"/>
            <a:ext cx="5394900" cy="329100"/>
          </a:xfrm>
          <a:prstGeom prst="rect">
            <a:avLst/>
          </a:prstGeom>
          <a:solidFill>
            <a:srgbClr val="55A0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409cbc41d6f_0_204"/>
          <p:cNvSpPr txBox="1"/>
          <p:nvPr/>
        </p:nvSpPr>
        <p:spPr>
          <a:xfrm>
            <a:off x="667512" y="1435608"/>
            <a:ext cx="5340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409cbc41d6f_0_204"/>
          <p:cNvSpPr txBox="1"/>
          <p:nvPr/>
        </p:nvSpPr>
        <p:spPr>
          <a:xfrm>
            <a:off x="713232" y="1792224"/>
            <a:ext cx="52488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the root label is at least both children’s labels, return the root.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409cbc41d6f_0_204"/>
          <p:cNvSpPr/>
          <p:nvPr/>
        </p:nvSpPr>
        <p:spPr>
          <a:xfrm>
            <a:off x="6217920" y="1417320"/>
            <a:ext cx="5394900" cy="3383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409cbc41d6f_0_204"/>
          <p:cNvSpPr/>
          <p:nvPr/>
        </p:nvSpPr>
        <p:spPr>
          <a:xfrm>
            <a:off x="6217920" y="1417320"/>
            <a:ext cx="5394900" cy="3291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409cbc41d6f_0_204"/>
          <p:cNvSpPr txBox="1"/>
          <p:nvPr/>
        </p:nvSpPr>
        <p:spPr>
          <a:xfrm>
            <a:off x="6245352" y="1435608"/>
            <a:ext cx="5340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Case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409cbc41d6f_0_204"/>
          <p:cNvSpPr txBox="1"/>
          <p:nvPr/>
        </p:nvSpPr>
        <p:spPr>
          <a:xfrm>
            <a:off x="6291072" y="1792224"/>
            <a:ext cx="52488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one or both children are larger, recurse into a child whose label is at least the root’s.</a:t>
            </a:r>
            <a:b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That subtree must contain a local maximum.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409cbc41d6f_0_18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409cbc41d6f_0_186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intuition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409cbc41d6f_0_186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409cbc41d6f_0_186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409cbc41d6f_0_186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409cbc41d6f_0_186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409cbc41d6f_0_186"/>
          <p:cNvSpPr/>
          <p:nvPr/>
        </p:nvSpPr>
        <p:spPr>
          <a:xfrm>
            <a:off x="640080" y="1417320"/>
            <a:ext cx="5394900" cy="3383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409cbc41d6f_0_186"/>
          <p:cNvSpPr/>
          <p:nvPr/>
        </p:nvSpPr>
        <p:spPr>
          <a:xfrm>
            <a:off x="640080" y="1417320"/>
            <a:ext cx="5394900" cy="329100"/>
          </a:xfrm>
          <a:prstGeom prst="rect">
            <a:avLst/>
          </a:prstGeom>
          <a:solidFill>
            <a:srgbClr val="55A0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409cbc41d6f_0_186"/>
          <p:cNvSpPr txBox="1"/>
          <p:nvPr/>
        </p:nvSpPr>
        <p:spPr>
          <a:xfrm>
            <a:off x="667512" y="1435608"/>
            <a:ext cx="5340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409cbc41d6f_0_186"/>
          <p:cNvSpPr txBox="1"/>
          <p:nvPr/>
        </p:nvSpPr>
        <p:spPr>
          <a:xfrm>
            <a:off x="713232" y="1792224"/>
            <a:ext cx="52488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the root label is at least both children’s labels, return the root.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409cbc41d6f_0_186"/>
          <p:cNvSpPr/>
          <p:nvPr/>
        </p:nvSpPr>
        <p:spPr>
          <a:xfrm>
            <a:off x="6217920" y="1417320"/>
            <a:ext cx="5394900" cy="3383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409cbc41d6f_0_186"/>
          <p:cNvSpPr/>
          <p:nvPr/>
        </p:nvSpPr>
        <p:spPr>
          <a:xfrm>
            <a:off x="6217920" y="1417320"/>
            <a:ext cx="5394900" cy="3291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409cbc41d6f_0_186"/>
          <p:cNvSpPr txBox="1"/>
          <p:nvPr/>
        </p:nvSpPr>
        <p:spPr>
          <a:xfrm>
            <a:off x="6245352" y="1435608"/>
            <a:ext cx="5340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Case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409cbc41d6f_0_186"/>
          <p:cNvSpPr txBox="1"/>
          <p:nvPr/>
        </p:nvSpPr>
        <p:spPr>
          <a:xfrm>
            <a:off x="6291072" y="1792224"/>
            <a:ext cx="52488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one or both children are larger, recurse into a child whose label is at least the root’s.</a:t>
            </a:r>
            <a:b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That subtree must contain a local maximum.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409cbc41d6f_0_186"/>
          <p:cNvSpPr txBox="1"/>
          <p:nvPr/>
        </p:nvSpPr>
        <p:spPr>
          <a:xfrm>
            <a:off x="1828800" y="5166360"/>
            <a:ext cx="8503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Follow an “uphill” direction until you cannot go higher.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4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4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4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4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868680" y="1325880"/>
            <a:ext cx="5760720" cy="4480560"/>
          </a:xfrm>
          <a:prstGeom prst="rect">
            <a:avLst/>
          </a:prstGeom>
          <a:solidFill>
            <a:srgbClr val="F5F8FC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4"/>
          <p:cNvSpPr/>
          <p:nvPr/>
        </p:nvSpPr>
        <p:spPr>
          <a:xfrm>
            <a:off x="868680" y="1325880"/>
            <a:ext cx="5760720" cy="32918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4"/>
          <p:cNvSpPr txBox="1"/>
          <p:nvPr/>
        </p:nvSpPr>
        <p:spPr>
          <a:xfrm>
            <a:off x="896112" y="1344168"/>
            <a:ext cx="5705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Recursive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4"/>
          <p:cNvSpPr txBox="1"/>
          <p:nvPr/>
        </p:nvSpPr>
        <p:spPr>
          <a:xfrm>
            <a:off x="941832" y="1700784"/>
            <a:ext cx="5614416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LocalMaximum(T = (V, E, r))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if label(r) ≥ labels of all children: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    return r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    choose a child r′ with label(r′) ≥ label(r)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    let T′ be the subtree rooted at r′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    return LocalMaximum(T′)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8" name="Google Shape;608;p14"/>
          <p:cNvCxnSpPr/>
          <p:nvPr/>
        </p:nvCxnSpPr>
        <p:spPr>
          <a:xfrm flipH="1">
            <a:off x="8183880" y="1764792"/>
            <a:ext cx="704088" cy="804672"/>
          </a:xfrm>
          <a:prstGeom prst="straightConnector1">
            <a:avLst/>
          </a:prstGeom>
          <a:noFill/>
          <a:ln cap="flat" cmpd="sng" w="1905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9" name="Google Shape;609;p14"/>
          <p:cNvCxnSpPr/>
          <p:nvPr/>
        </p:nvCxnSpPr>
        <p:spPr>
          <a:xfrm>
            <a:off x="8887968" y="1764792"/>
            <a:ext cx="704088" cy="804672"/>
          </a:xfrm>
          <a:prstGeom prst="straightConnector1">
            <a:avLst/>
          </a:prstGeom>
          <a:noFill/>
          <a:ln cap="flat" cmpd="sng" w="1905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0" name="Google Shape;610;p14"/>
          <p:cNvCxnSpPr/>
          <p:nvPr/>
        </p:nvCxnSpPr>
        <p:spPr>
          <a:xfrm flipH="1">
            <a:off x="7479792" y="2569464"/>
            <a:ext cx="704088" cy="804672"/>
          </a:xfrm>
          <a:prstGeom prst="straightConnector1">
            <a:avLst/>
          </a:prstGeom>
          <a:noFill/>
          <a:ln cap="flat" cmpd="sng" w="1905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1" name="Google Shape;611;p14"/>
          <p:cNvCxnSpPr/>
          <p:nvPr/>
        </p:nvCxnSpPr>
        <p:spPr>
          <a:xfrm>
            <a:off x="8183880" y="2569464"/>
            <a:ext cx="704088" cy="804672"/>
          </a:xfrm>
          <a:prstGeom prst="straightConnector1">
            <a:avLst/>
          </a:prstGeom>
          <a:noFill/>
          <a:ln cap="flat" cmpd="sng" w="1905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2" name="Google Shape;612;p14"/>
          <p:cNvCxnSpPr/>
          <p:nvPr/>
        </p:nvCxnSpPr>
        <p:spPr>
          <a:xfrm>
            <a:off x="9592056" y="2569464"/>
            <a:ext cx="704088" cy="804672"/>
          </a:xfrm>
          <a:prstGeom prst="straightConnector1">
            <a:avLst/>
          </a:prstGeom>
          <a:noFill/>
          <a:ln cap="flat" cmpd="sng" w="1905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13" name="Google Shape;613;p14"/>
          <p:cNvSpPr/>
          <p:nvPr/>
        </p:nvSpPr>
        <p:spPr>
          <a:xfrm>
            <a:off x="8723376" y="160020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123E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4"/>
          <p:cNvSpPr txBox="1"/>
          <p:nvPr/>
        </p:nvSpPr>
        <p:spPr>
          <a:xfrm>
            <a:off x="8723376" y="1618488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4"/>
          <p:cNvSpPr/>
          <p:nvPr/>
        </p:nvSpPr>
        <p:spPr>
          <a:xfrm>
            <a:off x="8019288" y="2404872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123E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4"/>
          <p:cNvSpPr txBox="1"/>
          <p:nvPr/>
        </p:nvSpPr>
        <p:spPr>
          <a:xfrm>
            <a:off x="8019288" y="2423160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4"/>
          <p:cNvSpPr/>
          <p:nvPr/>
        </p:nvSpPr>
        <p:spPr>
          <a:xfrm>
            <a:off x="9427464" y="2404872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123E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4"/>
          <p:cNvSpPr txBox="1"/>
          <p:nvPr/>
        </p:nvSpPr>
        <p:spPr>
          <a:xfrm>
            <a:off x="9427464" y="2423160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4"/>
          <p:cNvSpPr/>
          <p:nvPr/>
        </p:nvSpPr>
        <p:spPr>
          <a:xfrm>
            <a:off x="7315200" y="3209544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123E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4"/>
          <p:cNvSpPr txBox="1"/>
          <p:nvPr/>
        </p:nvSpPr>
        <p:spPr>
          <a:xfrm>
            <a:off x="7315200" y="3227832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4"/>
          <p:cNvSpPr/>
          <p:nvPr/>
        </p:nvSpPr>
        <p:spPr>
          <a:xfrm>
            <a:off x="8723376" y="3209544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123E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4"/>
          <p:cNvSpPr txBox="1"/>
          <p:nvPr/>
        </p:nvSpPr>
        <p:spPr>
          <a:xfrm>
            <a:off x="8723376" y="3227832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4"/>
          <p:cNvSpPr/>
          <p:nvPr/>
        </p:nvSpPr>
        <p:spPr>
          <a:xfrm>
            <a:off x="10131552" y="3209544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123E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4"/>
          <p:cNvSpPr txBox="1"/>
          <p:nvPr/>
        </p:nvSpPr>
        <p:spPr>
          <a:xfrm>
            <a:off x="10131552" y="3227832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4"/>
          <p:cNvSpPr txBox="1"/>
          <p:nvPr/>
        </p:nvSpPr>
        <p:spPr>
          <a:xfrm>
            <a:off x="6949440" y="457200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At each step, compare the root only with its children.</a:t>
            </a:r>
            <a:b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needed, recurse into just one subtree.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5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correctness and runtime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5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5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5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5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5"/>
          <p:cNvSpPr/>
          <p:nvPr/>
        </p:nvSpPr>
        <p:spPr>
          <a:xfrm>
            <a:off x="685800" y="1234440"/>
            <a:ext cx="1088136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5"/>
          <p:cNvSpPr/>
          <p:nvPr/>
        </p:nvSpPr>
        <p:spPr>
          <a:xfrm>
            <a:off x="731520" y="1316736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5"/>
          <p:cNvSpPr txBox="1"/>
          <p:nvPr/>
        </p:nvSpPr>
        <p:spPr>
          <a:xfrm>
            <a:off x="731520" y="132588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5"/>
          <p:cNvSpPr txBox="1"/>
          <p:nvPr/>
        </p:nvSpPr>
        <p:spPr>
          <a:xfrm>
            <a:off x="1106424" y="1307592"/>
            <a:ext cx="103784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Invariant: the root of the current subtree has label at least as large as its parent (if it has one).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409cbc41d6f_0_24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g409cbc41d6f_0_240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correctness and runtime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409cbc41d6f_0_240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409cbc41d6f_0_240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409cbc41d6f_0_240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409cbc41d6f_0_240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409cbc41d6f_0_240"/>
          <p:cNvSpPr/>
          <p:nvPr/>
        </p:nvSpPr>
        <p:spPr>
          <a:xfrm>
            <a:off x="685800" y="1234440"/>
            <a:ext cx="10881300" cy="71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g409cbc41d6f_0_240"/>
          <p:cNvSpPr/>
          <p:nvPr/>
        </p:nvSpPr>
        <p:spPr>
          <a:xfrm>
            <a:off x="731520" y="13167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409cbc41d6f_0_240"/>
          <p:cNvSpPr txBox="1"/>
          <p:nvPr/>
        </p:nvSpPr>
        <p:spPr>
          <a:xfrm>
            <a:off x="731520" y="13258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409cbc41d6f_0_240"/>
          <p:cNvSpPr txBox="1"/>
          <p:nvPr/>
        </p:nvSpPr>
        <p:spPr>
          <a:xfrm>
            <a:off x="1106424" y="1307592"/>
            <a:ext cx="10378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Invariant: the root of the current subtree has label at least as large as its parent (if it has one).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409cbc41d6f_0_240"/>
          <p:cNvSpPr/>
          <p:nvPr/>
        </p:nvSpPr>
        <p:spPr>
          <a:xfrm>
            <a:off x="685800" y="2167128"/>
            <a:ext cx="10881300" cy="7131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409cbc41d6f_0_240"/>
          <p:cNvSpPr/>
          <p:nvPr/>
        </p:nvSpPr>
        <p:spPr>
          <a:xfrm>
            <a:off x="731520" y="2249424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409cbc41d6f_0_240"/>
          <p:cNvSpPr txBox="1"/>
          <p:nvPr/>
        </p:nvSpPr>
        <p:spPr>
          <a:xfrm>
            <a:off x="731520" y="2258568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409cbc41d6f_0_240"/>
          <p:cNvSpPr txBox="1"/>
          <p:nvPr/>
        </p:nvSpPr>
        <p:spPr>
          <a:xfrm>
            <a:off x="1106424" y="2240280"/>
            <a:ext cx="10378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Base case: if the current tree is a single leaf, that leaf is a local maximum.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09cbc41d6f_0_267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409cbc41d6f_0_267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correctness and runtime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409cbc41d6f_0_267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g409cbc41d6f_0_267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409cbc41d6f_0_267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409cbc41d6f_0_267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409cbc41d6f_0_267"/>
          <p:cNvSpPr/>
          <p:nvPr/>
        </p:nvSpPr>
        <p:spPr>
          <a:xfrm>
            <a:off x="685800" y="1234440"/>
            <a:ext cx="10881300" cy="71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409cbc41d6f_0_267"/>
          <p:cNvSpPr/>
          <p:nvPr/>
        </p:nvSpPr>
        <p:spPr>
          <a:xfrm>
            <a:off x="731520" y="13167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g409cbc41d6f_0_267"/>
          <p:cNvSpPr txBox="1"/>
          <p:nvPr/>
        </p:nvSpPr>
        <p:spPr>
          <a:xfrm>
            <a:off x="731520" y="13258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409cbc41d6f_0_267"/>
          <p:cNvSpPr txBox="1"/>
          <p:nvPr/>
        </p:nvSpPr>
        <p:spPr>
          <a:xfrm>
            <a:off x="1106424" y="1307592"/>
            <a:ext cx="10378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Invariant: the root of the current subtree has label at least as large as its parent (if it has one).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409cbc41d6f_0_267"/>
          <p:cNvSpPr/>
          <p:nvPr/>
        </p:nvSpPr>
        <p:spPr>
          <a:xfrm>
            <a:off x="685800" y="2167128"/>
            <a:ext cx="10881300" cy="7131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g409cbc41d6f_0_267"/>
          <p:cNvSpPr/>
          <p:nvPr/>
        </p:nvSpPr>
        <p:spPr>
          <a:xfrm>
            <a:off x="731520" y="2249424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g409cbc41d6f_0_267"/>
          <p:cNvSpPr txBox="1"/>
          <p:nvPr/>
        </p:nvSpPr>
        <p:spPr>
          <a:xfrm>
            <a:off x="731520" y="2258568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409cbc41d6f_0_267"/>
          <p:cNvSpPr txBox="1"/>
          <p:nvPr/>
        </p:nvSpPr>
        <p:spPr>
          <a:xfrm>
            <a:off x="1106424" y="2240280"/>
            <a:ext cx="10378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Base case: if the current tree is a single leaf, that leaf is a local maximum.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409cbc41d6f_0_267"/>
          <p:cNvSpPr/>
          <p:nvPr/>
        </p:nvSpPr>
        <p:spPr>
          <a:xfrm>
            <a:off x="685800" y="3099816"/>
            <a:ext cx="10881300" cy="71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409cbc41d6f_0_267"/>
          <p:cNvSpPr/>
          <p:nvPr/>
        </p:nvSpPr>
        <p:spPr>
          <a:xfrm>
            <a:off x="731520" y="3182112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g409cbc41d6f_0_267"/>
          <p:cNvSpPr txBox="1"/>
          <p:nvPr/>
        </p:nvSpPr>
        <p:spPr>
          <a:xfrm>
            <a:off x="731520" y="3191256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409cbc41d6f_0_267"/>
          <p:cNvSpPr txBox="1"/>
          <p:nvPr/>
        </p:nvSpPr>
        <p:spPr>
          <a:xfrm>
            <a:off x="1106424" y="3172968"/>
            <a:ext cx="1037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the root is not a local maximum, recurse into a child with label at least the root’s; that subtree contains a local maximum.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409cbc41d6f_0_294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g409cbc41d6f_0_294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correctness and runtime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409cbc41d6f_0_294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g409cbc41d6f_0_294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409cbc41d6f_0_294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409cbc41d6f_0_294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409cbc41d6f_0_294"/>
          <p:cNvSpPr/>
          <p:nvPr/>
        </p:nvSpPr>
        <p:spPr>
          <a:xfrm>
            <a:off x="685800" y="1234440"/>
            <a:ext cx="10881300" cy="71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g409cbc41d6f_0_294"/>
          <p:cNvSpPr/>
          <p:nvPr/>
        </p:nvSpPr>
        <p:spPr>
          <a:xfrm>
            <a:off x="731520" y="131673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409cbc41d6f_0_294"/>
          <p:cNvSpPr txBox="1"/>
          <p:nvPr/>
        </p:nvSpPr>
        <p:spPr>
          <a:xfrm>
            <a:off x="731520" y="132588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409cbc41d6f_0_294"/>
          <p:cNvSpPr txBox="1"/>
          <p:nvPr/>
        </p:nvSpPr>
        <p:spPr>
          <a:xfrm>
            <a:off x="1106424" y="1307592"/>
            <a:ext cx="10378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Invariant: the root of the current subtree has label at least as large as its parent (if it has one).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409cbc41d6f_0_294"/>
          <p:cNvSpPr/>
          <p:nvPr/>
        </p:nvSpPr>
        <p:spPr>
          <a:xfrm>
            <a:off x="685800" y="2167128"/>
            <a:ext cx="10881300" cy="7131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g409cbc41d6f_0_294"/>
          <p:cNvSpPr/>
          <p:nvPr/>
        </p:nvSpPr>
        <p:spPr>
          <a:xfrm>
            <a:off x="731520" y="2249424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g409cbc41d6f_0_294"/>
          <p:cNvSpPr txBox="1"/>
          <p:nvPr/>
        </p:nvSpPr>
        <p:spPr>
          <a:xfrm>
            <a:off x="731520" y="2258568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409cbc41d6f_0_294"/>
          <p:cNvSpPr txBox="1"/>
          <p:nvPr/>
        </p:nvSpPr>
        <p:spPr>
          <a:xfrm>
            <a:off x="1106424" y="2240280"/>
            <a:ext cx="10378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Base case: if the current tree is a single leaf, that leaf is a local maximum.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409cbc41d6f_0_294"/>
          <p:cNvSpPr/>
          <p:nvPr/>
        </p:nvSpPr>
        <p:spPr>
          <a:xfrm>
            <a:off x="685800" y="3099816"/>
            <a:ext cx="10881300" cy="71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g409cbc41d6f_0_294"/>
          <p:cNvSpPr/>
          <p:nvPr/>
        </p:nvSpPr>
        <p:spPr>
          <a:xfrm>
            <a:off x="731520" y="3182112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g409cbc41d6f_0_294"/>
          <p:cNvSpPr txBox="1"/>
          <p:nvPr/>
        </p:nvSpPr>
        <p:spPr>
          <a:xfrm>
            <a:off x="731520" y="3191256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g409cbc41d6f_0_294"/>
          <p:cNvSpPr txBox="1"/>
          <p:nvPr/>
        </p:nvSpPr>
        <p:spPr>
          <a:xfrm>
            <a:off x="1106424" y="3172968"/>
            <a:ext cx="1037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the root is not a local maximum, recurse into a child with label at least the root’s; that subtree contains a local maximum.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409cbc41d6f_0_294"/>
          <p:cNvSpPr/>
          <p:nvPr/>
        </p:nvSpPr>
        <p:spPr>
          <a:xfrm>
            <a:off x="685800" y="4032504"/>
            <a:ext cx="10881300" cy="868800"/>
          </a:xfrm>
          <a:prstGeom prst="roundRect">
            <a:avLst>
              <a:gd fmla="val 16667" name="adj"/>
            </a:avLst>
          </a:prstGeom>
          <a:solidFill>
            <a:srgbClr val="DFF3E4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g409cbc41d6f_0_294"/>
          <p:cNvSpPr/>
          <p:nvPr/>
        </p:nvSpPr>
        <p:spPr>
          <a:xfrm>
            <a:off x="731520" y="4114800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g409cbc41d6f_0_294"/>
          <p:cNvSpPr txBox="1"/>
          <p:nvPr/>
        </p:nvSpPr>
        <p:spPr>
          <a:xfrm>
            <a:off x="731520" y="4123944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g409cbc41d6f_0_294"/>
          <p:cNvSpPr txBox="1"/>
          <p:nvPr/>
        </p:nvSpPr>
        <p:spPr>
          <a:xfrm>
            <a:off x="1106424" y="4105656"/>
            <a:ext cx="1037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Each call uses O(1) label queries, and the recursion depth is the tree height = O(log |V|) because the tree is complete.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6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3: Divide &amp; Conquer for integer multiplication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6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6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6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6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6"/>
          <p:cNvSpPr txBox="1"/>
          <p:nvPr/>
        </p:nvSpPr>
        <p:spPr>
          <a:xfrm>
            <a:off x="411480" y="9144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Break each n-digit input into three pieces of size about n/3. Then compare two recursive multiplication strategies.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6"/>
          <p:cNvSpPr/>
          <p:nvPr/>
        </p:nvSpPr>
        <p:spPr>
          <a:xfrm>
            <a:off x="640080" y="1783080"/>
            <a:ext cx="5212080" cy="3200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6"/>
          <p:cNvSpPr/>
          <p:nvPr/>
        </p:nvSpPr>
        <p:spPr>
          <a:xfrm>
            <a:off x="640080" y="1783080"/>
            <a:ext cx="5212080" cy="32918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6"/>
          <p:cNvSpPr txBox="1"/>
          <p:nvPr/>
        </p:nvSpPr>
        <p:spPr>
          <a:xfrm>
            <a:off x="667512" y="1801368"/>
            <a:ext cx="5157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6"/>
          <p:cNvSpPr txBox="1"/>
          <p:nvPr/>
        </p:nvSpPr>
        <p:spPr>
          <a:xfrm>
            <a:off x="713232" y="2157984"/>
            <a:ext cx="5065776" cy="277977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Uses 9 recursive multiplications on inputs of size n/3,</a:t>
            </a:r>
            <a:b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then combines the results in O(n)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6"/>
          <p:cNvSpPr/>
          <p:nvPr/>
        </p:nvSpPr>
        <p:spPr>
          <a:xfrm>
            <a:off x="6355080" y="1783080"/>
            <a:ext cx="5212080" cy="3200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6"/>
          <p:cNvSpPr/>
          <p:nvPr/>
        </p:nvSpPr>
        <p:spPr>
          <a:xfrm>
            <a:off x="6355080" y="1783080"/>
            <a:ext cx="5212080" cy="329184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"/>
          <p:cNvSpPr txBox="1"/>
          <p:nvPr/>
        </p:nvSpPr>
        <p:spPr>
          <a:xfrm>
            <a:off x="6382512" y="1801368"/>
            <a:ext cx="5157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Algorithm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6"/>
          <p:cNvSpPr txBox="1"/>
          <p:nvPr/>
        </p:nvSpPr>
        <p:spPr>
          <a:xfrm>
            <a:off x="6428232" y="2157984"/>
            <a:ext cx="5065776" cy="277977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Uses only 5 recursive multiplications on inputs of size about n/3,</a:t>
            </a:r>
            <a:b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then combines the results in O(n)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6"/>
          <p:cNvSpPr txBox="1"/>
          <p:nvPr/>
        </p:nvSpPr>
        <p:spPr>
          <a:xfrm>
            <a:off x="2103120" y="52578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A066"/>
                </a:solidFill>
                <a:latin typeface="Arial"/>
                <a:ea typeface="Arial"/>
                <a:cs typeface="Arial"/>
                <a:sym typeface="Arial"/>
              </a:rPr>
              <a:t>Question: which one is asymptotically faster, and how do they compare to Karatsuba?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7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3: recurrences and conclusions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7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7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7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7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7"/>
          <p:cNvSpPr/>
          <p:nvPr/>
        </p:nvSpPr>
        <p:spPr>
          <a:xfrm>
            <a:off x="640080" y="1325880"/>
            <a:ext cx="2011680" cy="41148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7"/>
          <p:cNvSpPr txBox="1"/>
          <p:nvPr/>
        </p:nvSpPr>
        <p:spPr>
          <a:xfrm>
            <a:off x="667512" y="1389888"/>
            <a:ext cx="1956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7"/>
          <p:cNvSpPr/>
          <p:nvPr/>
        </p:nvSpPr>
        <p:spPr>
          <a:xfrm>
            <a:off x="2834640" y="1325880"/>
            <a:ext cx="3657600" cy="41148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7"/>
          <p:cNvSpPr txBox="1"/>
          <p:nvPr/>
        </p:nvSpPr>
        <p:spPr>
          <a:xfrm>
            <a:off x="2862072" y="1389888"/>
            <a:ext cx="3602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Recurrence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17"/>
          <p:cNvSpPr/>
          <p:nvPr/>
        </p:nvSpPr>
        <p:spPr>
          <a:xfrm>
            <a:off x="640080" y="1783080"/>
            <a:ext cx="20116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7"/>
          <p:cNvSpPr txBox="1"/>
          <p:nvPr/>
        </p:nvSpPr>
        <p:spPr>
          <a:xfrm>
            <a:off x="685800" y="184708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Algorithm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7"/>
          <p:cNvSpPr/>
          <p:nvPr/>
        </p:nvSpPr>
        <p:spPr>
          <a:xfrm>
            <a:off x="2834640" y="1783080"/>
            <a:ext cx="365760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7"/>
          <p:cNvSpPr txBox="1"/>
          <p:nvPr/>
        </p:nvSpPr>
        <p:spPr>
          <a:xfrm>
            <a:off x="2880360" y="1847088"/>
            <a:ext cx="3566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T(n) = 9T(n/3) + O(n)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7"/>
          <p:cNvSpPr/>
          <p:nvPr/>
        </p:nvSpPr>
        <p:spPr>
          <a:xfrm>
            <a:off x="640080" y="2788920"/>
            <a:ext cx="2011680" cy="868680"/>
          </a:xfrm>
          <a:prstGeom prst="rect">
            <a:avLst/>
          </a:prstGeom>
          <a:solidFill>
            <a:srgbClr val="DFF3E4"/>
          </a:solidFill>
          <a:ln cap="flat" cmpd="sng" w="95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7"/>
          <p:cNvSpPr txBox="1"/>
          <p:nvPr/>
        </p:nvSpPr>
        <p:spPr>
          <a:xfrm>
            <a:off x="685800" y="285292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Algorithm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7"/>
          <p:cNvSpPr/>
          <p:nvPr/>
        </p:nvSpPr>
        <p:spPr>
          <a:xfrm>
            <a:off x="2834640" y="2788920"/>
            <a:ext cx="3657600" cy="868680"/>
          </a:xfrm>
          <a:prstGeom prst="rect">
            <a:avLst/>
          </a:prstGeom>
          <a:solidFill>
            <a:srgbClr val="DFF3E4"/>
          </a:solidFill>
          <a:ln cap="flat" cmpd="sng" w="95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7"/>
          <p:cNvSpPr txBox="1"/>
          <p:nvPr/>
        </p:nvSpPr>
        <p:spPr>
          <a:xfrm>
            <a:off x="2880360" y="2852928"/>
            <a:ext cx="3566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T(n) = 5T(n/3) + O(n)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7"/>
          <p:cNvSpPr/>
          <p:nvPr/>
        </p:nvSpPr>
        <p:spPr>
          <a:xfrm>
            <a:off x="640080" y="3794760"/>
            <a:ext cx="2011680" cy="868680"/>
          </a:xfrm>
          <a:prstGeom prst="rect">
            <a:avLst/>
          </a:prstGeom>
          <a:solidFill>
            <a:srgbClr val="EAEFF5"/>
          </a:solidFill>
          <a:ln cap="flat" cmpd="sng" w="95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7"/>
          <p:cNvSpPr txBox="1"/>
          <p:nvPr/>
        </p:nvSpPr>
        <p:spPr>
          <a:xfrm>
            <a:off x="685800" y="385876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Karatsuba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7"/>
          <p:cNvSpPr/>
          <p:nvPr/>
        </p:nvSpPr>
        <p:spPr>
          <a:xfrm>
            <a:off x="2834640" y="3794760"/>
            <a:ext cx="3657600" cy="868680"/>
          </a:xfrm>
          <a:prstGeom prst="rect">
            <a:avLst/>
          </a:prstGeom>
          <a:solidFill>
            <a:srgbClr val="EAEFF5"/>
          </a:solidFill>
          <a:ln cap="flat" cmpd="sng" w="95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7"/>
          <p:cNvSpPr txBox="1"/>
          <p:nvPr/>
        </p:nvSpPr>
        <p:spPr>
          <a:xfrm>
            <a:off x="2880360" y="3858768"/>
            <a:ext cx="3566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T(n) = 3T(n/2) + O(n)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409cbc41d6f_0_632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g409cbc41d6f_0_632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3: recurrences and conclusions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g409cbc41d6f_0_632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g409cbc41d6f_0_632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g409cbc41d6f_0_632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g409cbc41d6f_0_632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g409cbc41d6f_0_632"/>
          <p:cNvSpPr/>
          <p:nvPr/>
        </p:nvSpPr>
        <p:spPr>
          <a:xfrm>
            <a:off x="640080" y="1325880"/>
            <a:ext cx="2011800" cy="4116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g409cbc41d6f_0_632"/>
          <p:cNvSpPr txBox="1"/>
          <p:nvPr/>
        </p:nvSpPr>
        <p:spPr>
          <a:xfrm>
            <a:off x="667512" y="1389888"/>
            <a:ext cx="1956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g409cbc41d6f_0_632"/>
          <p:cNvSpPr/>
          <p:nvPr/>
        </p:nvSpPr>
        <p:spPr>
          <a:xfrm>
            <a:off x="2834640" y="1325880"/>
            <a:ext cx="3657600" cy="4116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409cbc41d6f_0_632"/>
          <p:cNvSpPr txBox="1"/>
          <p:nvPr/>
        </p:nvSpPr>
        <p:spPr>
          <a:xfrm>
            <a:off x="2862072" y="1389888"/>
            <a:ext cx="36027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Recurrence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409cbc41d6f_0_632"/>
          <p:cNvSpPr/>
          <p:nvPr/>
        </p:nvSpPr>
        <p:spPr>
          <a:xfrm>
            <a:off x="6629400" y="1325880"/>
            <a:ext cx="4937700" cy="4116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g409cbc41d6f_0_632"/>
          <p:cNvSpPr txBox="1"/>
          <p:nvPr/>
        </p:nvSpPr>
        <p:spPr>
          <a:xfrm>
            <a:off x="6656832" y="1389888"/>
            <a:ext cx="4882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Master-Theorem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409cbc41d6f_0_632"/>
          <p:cNvSpPr/>
          <p:nvPr/>
        </p:nvSpPr>
        <p:spPr>
          <a:xfrm>
            <a:off x="640080" y="1783080"/>
            <a:ext cx="2011800" cy="86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g409cbc41d6f_0_632"/>
          <p:cNvSpPr txBox="1"/>
          <p:nvPr/>
        </p:nvSpPr>
        <p:spPr>
          <a:xfrm>
            <a:off x="685800" y="1847088"/>
            <a:ext cx="192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Algorithm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409cbc41d6f_0_632"/>
          <p:cNvSpPr/>
          <p:nvPr/>
        </p:nvSpPr>
        <p:spPr>
          <a:xfrm>
            <a:off x="2834640" y="1783080"/>
            <a:ext cx="3657600" cy="86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g409cbc41d6f_0_632"/>
          <p:cNvSpPr txBox="1"/>
          <p:nvPr/>
        </p:nvSpPr>
        <p:spPr>
          <a:xfrm>
            <a:off x="2880360" y="1847088"/>
            <a:ext cx="3566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T(n) = 9T(n/3) + O(n)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409cbc41d6f_0_632"/>
          <p:cNvSpPr/>
          <p:nvPr/>
        </p:nvSpPr>
        <p:spPr>
          <a:xfrm>
            <a:off x="6629400" y="1783080"/>
            <a:ext cx="4937700" cy="86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409cbc41d6f_0_632"/>
          <p:cNvSpPr txBox="1"/>
          <p:nvPr/>
        </p:nvSpPr>
        <p:spPr>
          <a:xfrm>
            <a:off x="6675120" y="1847088"/>
            <a:ext cx="48462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O(n</a:t>
            </a:r>
            <a:r>
              <a:rPr b="0" baseline="3000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409cbc41d6f_0_632"/>
          <p:cNvSpPr/>
          <p:nvPr/>
        </p:nvSpPr>
        <p:spPr>
          <a:xfrm>
            <a:off x="640080" y="2788920"/>
            <a:ext cx="2011800" cy="868800"/>
          </a:xfrm>
          <a:prstGeom prst="rect">
            <a:avLst/>
          </a:prstGeom>
          <a:solidFill>
            <a:srgbClr val="DFF3E4"/>
          </a:solidFill>
          <a:ln cap="flat" cmpd="sng" w="95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409cbc41d6f_0_632"/>
          <p:cNvSpPr txBox="1"/>
          <p:nvPr/>
        </p:nvSpPr>
        <p:spPr>
          <a:xfrm>
            <a:off x="685800" y="2852928"/>
            <a:ext cx="192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Algorithm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409cbc41d6f_0_632"/>
          <p:cNvSpPr/>
          <p:nvPr/>
        </p:nvSpPr>
        <p:spPr>
          <a:xfrm>
            <a:off x="2834640" y="2788920"/>
            <a:ext cx="3657600" cy="868800"/>
          </a:xfrm>
          <a:prstGeom prst="rect">
            <a:avLst/>
          </a:prstGeom>
          <a:solidFill>
            <a:srgbClr val="DFF3E4"/>
          </a:solidFill>
          <a:ln cap="flat" cmpd="sng" w="95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g409cbc41d6f_0_632"/>
          <p:cNvSpPr txBox="1"/>
          <p:nvPr/>
        </p:nvSpPr>
        <p:spPr>
          <a:xfrm>
            <a:off x="2880360" y="2852928"/>
            <a:ext cx="3566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T(n) = 5T(n/3) + O(n)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409cbc41d6f_0_632"/>
          <p:cNvSpPr/>
          <p:nvPr/>
        </p:nvSpPr>
        <p:spPr>
          <a:xfrm>
            <a:off x="6629400" y="2788920"/>
            <a:ext cx="4937700" cy="868800"/>
          </a:xfrm>
          <a:prstGeom prst="rect">
            <a:avLst/>
          </a:prstGeom>
          <a:solidFill>
            <a:srgbClr val="DFF3E4"/>
          </a:solidFill>
          <a:ln cap="flat" cmpd="sng" w="95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g409cbc41d6f_0_632"/>
          <p:cNvSpPr txBox="1"/>
          <p:nvPr/>
        </p:nvSpPr>
        <p:spPr>
          <a:xfrm>
            <a:off x="6675120" y="2852928"/>
            <a:ext cx="48462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O(n</a:t>
            </a:r>
            <a:r>
              <a:rPr b="0" baseline="3000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log_3 (5)</a:t>
            </a: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) ≈ O(n</a:t>
            </a:r>
            <a:r>
              <a:rPr b="0" baseline="3000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1.465</a:t>
            </a: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g409cbc41d6f_0_632"/>
          <p:cNvSpPr/>
          <p:nvPr/>
        </p:nvSpPr>
        <p:spPr>
          <a:xfrm>
            <a:off x="640080" y="3794760"/>
            <a:ext cx="2011800" cy="868800"/>
          </a:xfrm>
          <a:prstGeom prst="rect">
            <a:avLst/>
          </a:prstGeom>
          <a:solidFill>
            <a:srgbClr val="EAEFF5"/>
          </a:solidFill>
          <a:ln cap="flat" cmpd="sng" w="95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g409cbc41d6f_0_632"/>
          <p:cNvSpPr txBox="1"/>
          <p:nvPr/>
        </p:nvSpPr>
        <p:spPr>
          <a:xfrm>
            <a:off x="685800" y="3858768"/>
            <a:ext cx="192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Karatsuba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g409cbc41d6f_0_632"/>
          <p:cNvSpPr/>
          <p:nvPr/>
        </p:nvSpPr>
        <p:spPr>
          <a:xfrm>
            <a:off x="2834640" y="3794760"/>
            <a:ext cx="3657600" cy="868800"/>
          </a:xfrm>
          <a:prstGeom prst="rect">
            <a:avLst/>
          </a:prstGeom>
          <a:solidFill>
            <a:srgbClr val="EAEFF5"/>
          </a:solidFill>
          <a:ln cap="flat" cmpd="sng" w="95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g409cbc41d6f_0_632"/>
          <p:cNvSpPr txBox="1"/>
          <p:nvPr/>
        </p:nvSpPr>
        <p:spPr>
          <a:xfrm>
            <a:off x="2880360" y="3858768"/>
            <a:ext cx="3566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T(n) = 3T(n/2) + O(n)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g409cbc41d6f_0_632"/>
          <p:cNvSpPr/>
          <p:nvPr/>
        </p:nvSpPr>
        <p:spPr>
          <a:xfrm>
            <a:off x="6629400" y="3794760"/>
            <a:ext cx="4937700" cy="868800"/>
          </a:xfrm>
          <a:prstGeom prst="rect">
            <a:avLst/>
          </a:prstGeom>
          <a:solidFill>
            <a:srgbClr val="EAEFF5"/>
          </a:solidFill>
          <a:ln cap="flat" cmpd="sng" w="95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g409cbc41d6f_0_632"/>
          <p:cNvSpPr txBox="1"/>
          <p:nvPr/>
        </p:nvSpPr>
        <p:spPr>
          <a:xfrm>
            <a:off x="6675120" y="3858768"/>
            <a:ext cx="48462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O(n</a:t>
            </a:r>
            <a:r>
              <a:rPr b="0" baseline="3000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log_2 (3)</a:t>
            </a: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) ≈ O(n</a:t>
            </a:r>
            <a:r>
              <a:rPr b="0" baseline="3000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1.585</a:t>
            </a: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g409cbc41d6f_0_632"/>
          <p:cNvSpPr txBox="1"/>
          <p:nvPr/>
        </p:nvSpPr>
        <p:spPr>
          <a:xfrm>
            <a:off x="2377440" y="5212080"/>
            <a:ext cx="74982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Asymptotic ranking:  B fastest  &lt;  Karatsuba  &lt;  A slowest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8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4: 2D Closest-Pair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18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8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8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8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8"/>
          <p:cNvSpPr txBox="1"/>
          <p:nvPr/>
        </p:nvSpPr>
        <p:spPr>
          <a:xfrm>
            <a:off x="457200" y="89611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In the conquer step, focus on the 2δ-by-δ strip around the median line. Points on the same side are already known to be at least δ apart.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8"/>
          <p:cNvSpPr/>
          <p:nvPr/>
        </p:nvSpPr>
        <p:spPr>
          <a:xfrm>
            <a:off x="7223760" y="1508760"/>
            <a:ext cx="3840480" cy="1920240"/>
          </a:xfrm>
          <a:prstGeom prst="rect">
            <a:avLst/>
          </a:prstGeom>
          <a:solidFill>
            <a:srgbClr val="EAEFF5"/>
          </a:solidFill>
          <a:ln cap="flat" cmpd="sng" w="9525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8"/>
          <p:cNvSpPr/>
          <p:nvPr/>
        </p:nvSpPr>
        <p:spPr>
          <a:xfrm>
            <a:off x="9131300" y="1508760"/>
            <a:ext cx="25400" cy="1920240"/>
          </a:xfrm>
          <a:prstGeom prst="rect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0" name="Google Shape;800;p18"/>
          <p:cNvCxnSpPr/>
          <p:nvPr/>
        </p:nvCxnSpPr>
        <p:spPr>
          <a:xfrm>
            <a:off x="8183880" y="1508760"/>
            <a:ext cx="0" cy="1920240"/>
          </a:xfrm>
          <a:prstGeom prst="straightConnector1">
            <a:avLst/>
          </a:prstGeom>
          <a:noFill/>
          <a:ln cap="flat" cmpd="sng" w="1270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01" name="Google Shape;801;p18"/>
          <p:cNvCxnSpPr/>
          <p:nvPr/>
        </p:nvCxnSpPr>
        <p:spPr>
          <a:xfrm>
            <a:off x="10104120" y="1508760"/>
            <a:ext cx="0" cy="1920240"/>
          </a:xfrm>
          <a:prstGeom prst="straightConnector1">
            <a:avLst/>
          </a:prstGeom>
          <a:noFill/>
          <a:ln cap="flat" cmpd="sng" w="1270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02" name="Google Shape;802;p18"/>
          <p:cNvCxnSpPr/>
          <p:nvPr/>
        </p:nvCxnSpPr>
        <p:spPr>
          <a:xfrm>
            <a:off x="7223760" y="2468880"/>
            <a:ext cx="3840480" cy="0"/>
          </a:xfrm>
          <a:prstGeom prst="straightConnector1">
            <a:avLst/>
          </a:prstGeom>
          <a:noFill/>
          <a:ln cap="flat" cmpd="sng" w="1270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03" name="Google Shape;803;p18"/>
          <p:cNvSpPr/>
          <p:nvPr/>
        </p:nvSpPr>
        <p:spPr>
          <a:xfrm>
            <a:off x="7543800" y="1828800"/>
            <a:ext cx="109728" cy="109728"/>
          </a:xfrm>
          <a:prstGeom prst="ellipse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8"/>
          <p:cNvSpPr/>
          <p:nvPr/>
        </p:nvSpPr>
        <p:spPr>
          <a:xfrm>
            <a:off x="8641080" y="2011680"/>
            <a:ext cx="109728" cy="109728"/>
          </a:xfrm>
          <a:prstGeom prst="ellipse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8"/>
          <p:cNvSpPr/>
          <p:nvPr/>
        </p:nvSpPr>
        <p:spPr>
          <a:xfrm>
            <a:off x="7909560" y="2834640"/>
            <a:ext cx="109728" cy="109728"/>
          </a:xfrm>
          <a:prstGeom prst="ellipse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8"/>
          <p:cNvSpPr/>
          <p:nvPr/>
        </p:nvSpPr>
        <p:spPr>
          <a:xfrm>
            <a:off x="8641080" y="3017520"/>
            <a:ext cx="109728" cy="109728"/>
          </a:xfrm>
          <a:prstGeom prst="ellipse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8"/>
          <p:cNvSpPr/>
          <p:nvPr/>
        </p:nvSpPr>
        <p:spPr>
          <a:xfrm>
            <a:off x="9555480" y="1920240"/>
            <a:ext cx="109728" cy="109728"/>
          </a:xfrm>
          <a:prstGeom prst="ellipse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8"/>
          <p:cNvSpPr/>
          <p:nvPr/>
        </p:nvSpPr>
        <p:spPr>
          <a:xfrm>
            <a:off x="10378440" y="2148840"/>
            <a:ext cx="109728" cy="109728"/>
          </a:xfrm>
          <a:prstGeom prst="ellipse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8"/>
          <p:cNvSpPr/>
          <p:nvPr/>
        </p:nvSpPr>
        <p:spPr>
          <a:xfrm>
            <a:off x="9875520" y="2926080"/>
            <a:ext cx="109728" cy="109728"/>
          </a:xfrm>
          <a:prstGeom prst="ellipse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8"/>
          <p:cNvSpPr/>
          <p:nvPr/>
        </p:nvSpPr>
        <p:spPr>
          <a:xfrm>
            <a:off x="10652760" y="2743200"/>
            <a:ext cx="109728" cy="109728"/>
          </a:xfrm>
          <a:prstGeom prst="ellipse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8138160" y="347472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δ × 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9921240" y="347472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δ × 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8"/>
          <p:cNvSpPr/>
          <p:nvPr/>
        </p:nvSpPr>
        <p:spPr>
          <a:xfrm>
            <a:off x="594360" y="1828800"/>
            <a:ext cx="6126480" cy="3108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8"/>
          <p:cNvSpPr/>
          <p:nvPr/>
        </p:nvSpPr>
        <p:spPr>
          <a:xfrm>
            <a:off x="594360" y="1828800"/>
            <a:ext cx="6126480" cy="310896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630936" y="1847088"/>
            <a:ext cx="60533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704088" y="2194560"/>
            <a:ext cx="5925312" cy="2688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We only need to find cross-side pairs whose distance is less than δ.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each point needs only O(1) cross comparisons, the conquer step is O(n).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two subparts explain why a constant bound exists.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409cbc41d6f_0_321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g409cbc41d6f_0_321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4(a): at most 4 points per 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409cbc41d6f_0_321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g409cbc41d6f_0_321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409cbc41d6f_0_321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409cbc41d6f_0_321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409cbc41d6f_0_321"/>
          <p:cNvSpPr txBox="1"/>
          <p:nvPr/>
        </p:nvSpPr>
        <p:spPr>
          <a:xfrm>
            <a:off x="411480" y="868680"/>
            <a:ext cx="1097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Goal: show that each δ × δ side of the strip can contain at most 4 points from its own subset.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409cbc41d6f_0_321"/>
          <p:cNvSpPr/>
          <p:nvPr/>
        </p:nvSpPr>
        <p:spPr>
          <a:xfrm>
            <a:off x="685800" y="1325880"/>
            <a:ext cx="109272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g409cbc41d6f_0_321"/>
          <p:cNvSpPr/>
          <p:nvPr/>
        </p:nvSpPr>
        <p:spPr>
          <a:xfrm>
            <a:off x="731520" y="140817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g409cbc41d6f_0_321"/>
          <p:cNvSpPr txBox="1"/>
          <p:nvPr/>
        </p:nvSpPr>
        <p:spPr>
          <a:xfrm>
            <a:off x="731520" y="141732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g409cbc41d6f_0_321"/>
          <p:cNvSpPr txBox="1"/>
          <p:nvPr/>
        </p:nvSpPr>
        <p:spPr>
          <a:xfrm>
            <a:off x="1106424" y="1399032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Partition one δ × δ square into 4 congruent smaller squares.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409cbc41d6f_0_321"/>
          <p:cNvSpPr/>
          <p:nvPr/>
        </p:nvSpPr>
        <p:spPr>
          <a:xfrm>
            <a:off x="685800" y="2121408"/>
            <a:ext cx="10927200" cy="7773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g409cbc41d6f_0_321"/>
          <p:cNvSpPr/>
          <p:nvPr/>
        </p:nvSpPr>
        <p:spPr>
          <a:xfrm>
            <a:off x="731520" y="2203704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g409cbc41d6f_0_321"/>
          <p:cNvSpPr txBox="1"/>
          <p:nvPr/>
        </p:nvSpPr>
        <p:spPr>
          <a:xfrm>
            <a:off x="731520" y="2212848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409cbc41d6f_0_321"/>
          <p:cNvSpPr txBox="1"/>
          <p:nvPr/>
        </p:nvSpPr>
        <p:spPr>
          <a:xfrm>
            <a:off x="1106424" y="2194560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two points lie in the same small square, their distance is at most the diagonal: (√2/2)·δ &lt; δ.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409cbc41d6f_0_321"/>
          <p:cNvSpPr/>
          <p:nvPr/>
        </p:nvSpPr>
        <p:spPr>
          <a:xfrm>
            <a:off x="4931280" y="3741925"/>
            <a:ext cx="1933200" cy="1920300"/>
          </a:xfrm>
          <a:prstGeom prst="rect">
            <a:avLst/>
          </a:prstGeom>
          <a:solidFill>
            <a:srgbClr val="EAEFF5"/>
          </a:solidFill>
          <a:ln cap="flat" cmpd="sng" w="9525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g409cbc41d6f_0_321"/>
          <p:cNvSpPr/>
          <p:nvPr/>
        </p:nvSpPr>
        <p:spPr>
          <a:xfrm>
            <a:off x="6838825" y="3741935"/>
            <a:ext cx="25500" cy="1920300"/>
          </a:xfrm>
          <a:prstGeom prst="rect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8" name="Google Shape;838;g409cbc41d6f_0_321"/>
          <p:cNvCxnSpPr/>
          <p:nvPr/>
        </p:nvCxnSpPr>
        <p:spPr>
          <a:xfrm>
            <a:off x="5891405" y="3741935"/>
            <a:ext cx="0" cy="1920300"/>
          </a:xfrm>
          <a:prstGeom prst="straightConnector1">
            <a:avLst/>
          </a:prstGeom>
          <a:noFill/>
          <a:ln cap="flat" cmpd="sng" w="1270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39" name="Google Shape;839;g409cbc41d6f_0_321"/>
          <p:cNvCxnSpPr>
            <a:endCxn id="837" idx="3"/>
          </p:cNvCxnSpPr>
          <p:nvPr/>
        </p:nvCxnSpPr>
        <p:spPr>
          <a:xfrm>
            <a:off x="4931425" y="4702085"/>
            <a:ext cx="1932900" cy="0"/>
          </a:xfrm>
          <a:prstGeom prst="straightConnector1">
            <a:avLst/>
          </a:prstGeom>
          <a:noFill/>
          <a:ln cap="flat" cmpd="sng" w="1270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40" name="Google Shape;840;g409cbc41d6f_0_321"/>
          <p:cNvSpPr txBox="1"/>
          <p:nvPr/>
        </p:nvSpPr>
        <p:spPr>
          <a:xfrm>
            <a:off x="5571310" y="5707895"/>
            <a:ext cx="640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δ × 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409cbc41d6f_0_321"/>
          <p:cNvSpPr txBox="1"/>
          <p:nvPr/>
        </p:nvSpPr>
        <p:spPr>
          <a:xfrm>
            <a:off x="6956985" y="4033220"/>
            <a:ext cx="640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δ/2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409cbc41d6f_0_321"/>
          <p:cNvSpPr txBox="1"/>
          <p:nvPr/>
        </p:nvSpPr>
        <p:spPr>
          <a:xfrm>
            <a:off x="5998385" y="3363845"/>
            <a:ext cx="640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δ/2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409cbc41d6f_0_46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g409cbc41d6f_0_468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4(a): at most 4 points per 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g409cbc41d6f_0_468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g409cbc41d6f_0_468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g409cbc41d6f_0_468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g409cbc41d6f_0_468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g409cbc41d6f_0_468"/>
          <p:cNvSpPr txBox="1"/>
          <p:nvPr/>
        </p:nvSpPr>
        <p:spPr>
          <a:xfrm>
            <a:off x="411480" y="868680"/>
            <a:ext cx="1097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Goal: show that each δ × δ side of the strip can contain at most 4 points from its own subset.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g409cbc41d6f_0_468"/>
          <p:cNvSpPr/>
          <p:nvPr/>
        </p:nvSpPr>
        <p:spPr>
          <a:xfrm>
            <a:off x="685800" y="1325880"/>
            <a:ext cx="109272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g409cbc41d6f_0_468"/>
          <p:cNvSpPr/>
          <p:nvPr/>
        </p:nvSpPr>
        <p:spPr>
          <a:xfrm>
            <a:off x="731520" y="140817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g409cbc41d6f_0_468"/>
          <p:cNvSpPr txBox="1"/>
          <p:nvPr/>
        </p:nvSpPr>
        <p:spPr>
          <a:xfrm>
            <a:off x="731520" y="141732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g409cbc41d6f_0_468"/>
          <p:cNvSpPr txBox="1"/>
          <p:nvPr/>
        </p:nvSpPr>
        <p:spPr>
          <a:xfrm>
            <a:off x="1106424" y="1399032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Partition one δ × δ square into 4 congruent smaller squares.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g409cbc41d6f_0_468"/>
          <p:cNvSpPr/>
          <p:nvPr/>
        </p:nvSpPr>
        <p:spPr>
          <a:xfrm>
            <a:off x="685800" y="2121408"/>
            <a:ext cx="10927200" cy="7773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g409cbc41d6f_0_468"/>
          <p:cNvSpPr/>
          <p:nvPr/>
        </p:nvSpPr>
        <p:spPr>
          <a:xfrm>
            <a:off x="731520" y="2203704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g409cbc41d6f_0_468"/>
          <p:cNvSpPr txBox="1"/>
          <p:nvPr/>
        </p:nvSpPr>
        <p:spPr>
          <a:xfrm>
            <a:off x="731520" y="2212848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g409cbc41d6f_0_468"/>
          <p:cNvSpPr txBox="1"/>
          <p:nvPr/>
        </p:nvSpPr>
        <p:spPr>
          <a:xfrm>
            <a:off x="1106424" y="2194560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two points lie in the same small square, their distance is at most the diagonal: (√2/2)·δ &lt; δ.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g409cbc41d6f_0_468"/>
          <p:cNvSpPr/>
          <p:nvPr/>
        </p:nvSpPr>
        <p:spPr>
          <a:xfrm>
            <a:off x="4931280" y="3741925"/>
            <a:ext cx="1933200" cy="1920300"/>
          </a:xfrm>
          <a:prstGeom prst="rect">
            <a:avLst/>
          </a:prstGeom>
          <a:solidFill>
            <a:srgbClr val="EAEFF5"/>
          </a:solidFill>
          <a:ln cap="flat" cmpd="sng" w="9525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g409cbc41d6f_0_468"/>
          <p:cNvSpPr/>
          <p:nvPr/>
        </p:nvSpPr>
        <p:spPr>
          <a:xfrm>
            <a:off x="6838825" y="3741935"/>
            <a:ext cx="25500" cy="1920300"/>
          </a:xfrm>
          <a:prstGeom prst="rect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4" name="Google Shape;864;g409cbc41d6f_0_468"/>
          <p:cNvCxnSpPr/>
          <p:nvPr/>
        </p:nvCxnSpPr>
        <p:spPr>
          <a:xfrm>
            <a:off x="5891405" y="3741935"/>
            <a:ext cx="0" cy="1920300"/>
          </a:xfrm>
          <a:prstGeom prst="straightConnector1">
            <a:avLst/>
          </a:prstGeom>
          <a:noFill/>
          <a:ln cap="flat" cmpd="sng" w="1270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65" name="Google Shape;865;g409cbc41d6f_0_468"/>
          <p:cNvCxnSpPr>
            <a:endCxn id="863" idx="3"/>
          </p:cNvCxnSpPr>
          <p:nvPr/>
        </p:nvCxnSpPr>
        <p:spPr>
          <a:xfrm>
            <a:off x="4931425" y="4702085"/>
            <a:ext cx="1932900" cy="0"/>
          </a:xfrm>
          <a:prstGeom prst="straightConnector1">
            <a:avLst/>
          </a:prstGeom>
          <a:noFill/>
          <a:ln cap="flat" cmpd="sng" w="12700">
            <a:solidFill>
              <a:srgbClr val="5C63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66" name="Google Shape;866;g409cbc41d6f_0_468"/>
          <p:cNvSpPr txBox="1"/>
          <p:nvPr/>
        </p:nvSpPr>
        <p:spPr>
          <a:xfrm>
            <a:off x="5571310" y="5707895"/>
            <a:ext cx="640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δ × 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g409cbc41d6f_0_468"/>
          <p:cNvSpPr txBox="1"/>
          <p:nvPr/>
        </p:nvSpPr>
        <p:spPr>
          <a:xfrm>
            <a:off x="6956985" y="4033220"/>
            <a:ext cx="640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δ/2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g409cbc41d6f_0_468"/>
          <p:cNvSpPr txBox="1"/>
          <p:nvPr/>
        </p:nvSpPr>
        <p:spPr>
          <a:xfrm>
            <a:off x="5998385" y="3363845"/>
            <a:ext cx="640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δ/2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g409cbc41d6f_0_468"/>
          <p:cNvSpPr/>
          <p:nvPr/>
        </p:nvSpPr>
        <p:spPr>
          <a:xfrm>
            <a:off x="5965060" y="4471640"/>
            <a:ext cx="109800" cy="109800"/>
          </a:xfrm>
          <a:prstGeom prst="ellipse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g409cbc41d6f_0_468"/>
          <p:cNvSpPr/>
          <p:nvPr/>
        </p:nvSpPr>
        <p:spPr>
          <a:xfrm>
            <a:off x="6636385" y="4161390"/>
            <a:ext cx="109800" cy="109800"/>
          </a:xfrm>
          <a:prstGeom prst="ellipse">
            <a:avLst/>
          </a:prstGeom>
          <a:solidFill>
            <a:srgbClr val="123E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1" name="Google Shape;871;g409cbc41d6f_0_468"/>
          <p:cNvCxnSpPr>
            <a:endCxn id="863" idx="0"/>
          </p:cNvCxnSpPr>
          <p:nvPr/>
        </p:nvCxnSpPr>
        <p:spPr>
          <a:xfrm flipH="1" rot="10800000">
            <a:off x="5898775" y="3741935"/>
            <a:ext cx="952800" cy="95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409cbc41d6f_0_351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g409cbc41d6f_0_351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4(a): at most 4 points per 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g409cbc41d6f_0_351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g409cbc41d6f_0_351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g409cbc41d6f_0_351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409cbc41d6f_0_351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g409cbc41d6f_0_351"/>
          <p:cNvSpPr txBox="1"/>
          <p:nvPr/>
        </p:nvSpPr>
        <p:spPr>
          <a:xfrm>
            <a:off x="411480" y="868680"/>
            <a:ext cx="1097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Goal: show that each δ × δ side of the strip can contain at most 4 points from its own subset.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g409cbc41d6f_0_351"/>
          <p:cNvSpPr/>
          <p:nvPr/>
        </p:nvSpPr>
        <p:spPr>
          <a:xfrm>
            <a:off x="685800" y="1325880"/>
            <a:ext cx="109272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g409cbc41d6f_0_351"/>
          <p:cNvSpPr/>
          <p:nvPr/>
        </p:nvSpPr>
        <p:spPr>
          <a:xfrm>
            <a:off x="731520" y="140817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g409cbc41d6f_0_351"/>
          <p:cNvSpPr txBox="1"/>
          <p:nvPr/>
        </p:nvSpPr>
        <p:spPr>
          <a:xfrm>
            <a:off x="731520" y="141732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g409cbc41d6f_0_351"/>
          <p:cNvSpPr txBox="1"/>
          <p:nvPr/>
        </p:nvSpPr>
        <p:spPr>
          <a:xfrm>
            <a:off x="1106424" y="1399032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Partition one δ × δ square into 4 congruent smaller squares.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g409cbc41d6f_0_351"/>
          <p:cNvSpPr/>
          <p:nvPr/>
        </p:nvSpPr>
        <p:spPr>
          <a:xfrm>
            <a:off x="685800" y="2121408"/>
            <a:ext cx="10927200" cy="7773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g409cbc41d6f_0_351"/>
          <p:cNvSpPr/>
          <p:nvPr/>
        </p:nvSpPr>
        <p:spPr>
          <a:xfrm>
            <a:off x="731520" y="2203704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g409cbc41d6f_0_351"/>
          <p:cNvSpPr txBox="1"/>
          <p:nvPr/>
        </p:nvSpPr>
        <p:spPr>
          <a:xfrm>
            <a:off x="731520" y="2212848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g409cbc41d6f_0_351"/>
          <p:cNvSpPr txBox="1"/>
          <p:nvPr/>
        </p:nvSpPr>
        <p:spPr>
          <a:xfrm>
            <a:off x="1106424" y="2194560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two points lie in the same small square, their distance is at most the diagonal: (√2/2)·δ &lt; δ.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g409cbc41d6f_0_351"/>
          <p:cNvSpPr/>
          <p:nvPr/>
        </p:nvSpPr>
        <p:spPr>
          <a:xfrm>
            <a:off x="685800" y="2916936"/>
            <a:ext cx="109272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g409cbc41d6f_0_351"/>
          <p:cNvSpPr/>
          <p:nvPr/>
        </p:nvSpPr>
        <p:spPr>
          <a:xfrm>
            <a:off x="731520" y="2999232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g409cbc41d6f_0_351"/>
          <p:cNvSpPr txBox="1"/>
          <p:nvPr/>
        </p:nvSpPr>
        <p:spPr>
          <a:xfrm>
            <a:off x="731520" y="3008376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g409cbc41d6f_0_351"/>
          <p:cNvSpPr txBox="1"/>
          <p:nvPr/>
        </p:nvSpPr>
        <p:spPr>
          <a:xfrm>
            <a:off x="1106424" y="2990088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But points from the same subset are all at least δ apart.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409cbc41d6f_0_381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g409cbc41d6f_0_381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4(a): at most 4 points per 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g409cbc41d6f_0_381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g409cbc41d6f_0_381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409cbc41d6f_0_381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409cbc41d6f_0_381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409cbc41d6f_0_381"/>
          <p:cNvSpPr txBox="1"/>
          <p:nvPr/>
        </p:nvSpPr>
        <p:spPr>
          <a:xfrm>
            <a:off x="411480" y="868680"/>
            <a:ext cx="1097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Goal: show that each δ × δ side of the strip can contain at most 4 points from its own subset.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409cbc41d6f_0_381"/>
          <p:cNvSpPr/>
          <p:nvPr/>
        </p:nvSpPr>
        <p:spPr>
          <a:xfrm>
            <a:off x="685800" y="1325880"/>
            <a:ext cx="109272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g409cbc41d6f_0_381"/>
          <p:cNvSpPr/>
          <p:nvPr/>
        </p:nvSpPr>
        <p:spPr>
          <a:xfrm>
            <a:off x="731520" y="140817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409cbc41d6f_0_381"/>
          <p:cNvSpPr txBox="1"/>
          <p:nvPr/>
        </p:nvSpPr>
        <p:spPr>
          <a:xfrm>
            <a:off x="731520" y="141732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409cbc41d6f_0_381"/>
          <p:cNvSpPr txBox="1"/>
          <p:nvPr/>
        </p:nvSpPr>
        <p:spPr>
          <a:xfrm>
            <a:off x="1106424" y="1399032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Partition one δ × δ square into 4 congruent smaller squares.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409cbc41d6f_0_381"/>
          <p:cNvSpPr/>
          <p:nvPr/>
        </p:nvSpPr>
        <p:spPr>
          <a:xfrm>
            <a:off x="685800" y="2121408"/>
            <a:ext cx="10927200" cy="7773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g409cbc41d6f_0_381"/>
          <p:cNvSpPr/>
          <p:nvPr/>
        </p:nvSpPr>
        <p:spPr>
          <a:xfrm>
            <a:off x="731520" y="2203704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g409cbc41d6f_0_381"/>
          <p:cNvSpPr txBox="1"/>
          <p:nvPr/>
        </p:nvSpPr>
        <p:spPr>
          <a:xfrm>
            <a:off x="731520" y="2212848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g409cbc41d6f_0_381"/>
          <p:cNvSpPr txBox="1"/>
          <p:nvPr/>
        </p:nvSpPr>
        <p:spPr>
          <a:xfrm>
            <a:off x="1106424" y="2194560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two points lie in the same small square, their distance is at most the diagonal: (√2/2)·δ &lt; δ.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g409cbc41d6f_0_381"/>
          <p:cNvSpPr/>
          <p:nvPr/>
        </p:nvSpPr>
        <p:spPr>
          <a:xfrm>
            <a:off x="685800" y="2916936"/>
            <a:ext cx="109272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g409cbc41d6f_0_381"/>
          <p:cNvSpPr/>
          <p:nvPr/>
        </p:nvSpPr>
        <p:spPr>
          <a:xfrm>
            <a:off x="731520" y="2999232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409cbc41d6f_0_381"/>
          <p:cNvSpPr txBox="1"/>
          <p:nvPr/>
        </p:nvSpPr>
        <p:spPr>
          <a:xfrm>
            <a:off x="731520" y="3008376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g409cbc41d6f_0_381"/>
          <p:cNvSpPr txBox="1"/>
          <p:nvPr/>
        </p:nvSpPr>
        <p:spPr>
          <a:xfrm>
            <a:off x="1106424" y="2990088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But points from the same subset are all at least δ apart.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g409cbc41d6f_0_381"/>
          <p:cNvSpPr/>
          <p:nvPr/>
        </p:nvSpPr>
        <p:spPr>
          <a:xfrm>
            <a:off x="685800" y="3712463"/>
            <a:ext cx="10927200" cy="5943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g409cbc41d6f_0_381"/>
          <p:cNvSpPr/>
          <p:nvPr/>
        </p:nvSpPr>
        <p:spPr>
          <a:xfrm>
            <a:off x="731520" y="3794759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g409cbc41d6f_0_381"/>
          <p:cNvSpPr txBox="1"/>
          <p:nvPr/>
        </p:nvSpPr>
        <p:spPr>
          <a:xfrm>
            <a:off x="731520" y="3803903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g409cbc41d6f_0_381"/>
          <p:cNvSpPr txBox="1"/>
          <p:nvPr/>
        </p:nvSpPr>
        <p:spPr>
          <a:xfrm>
            <a:off x="1106424" y="3785615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So each small square can contain at most one point.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409cbc41d6f_0_411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g409cbc41d6f_0_411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4(a): at most 4 points per 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409cbc41d6f_0_411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g409cbc41d6f_0_411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409cbc41d6f_0_411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409cbc41d6f_0_411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409cbc41d6f_0_411"/>
          <p:cNvSpPr txBox="1"/>
          <p:nvPr/>
        </p:nvSpPr>
        <p:spPr>
          <a:xfrm>
            <a:off x="411480" y="868680"/>
            <a:ext cx="1097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Goal: show that each δ × δ side of the strip can contain at most 4 points from its own subset.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409cbc41d6f_0_411"/>
          <p:cNvSpPr/>
          <p:nvPr/>
        </p:nvSpPr>
        <p:spPr>
          <a:xfrm>
            <a:off x="685800" y="1325880"/>
            <a:ext cx="109272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409cbc41d6f_0_411"/>
          <p:cNvSpPr/>
          <p:nvPr/>
        </p:nvSpPr>
        <p:spPr>
          <a:xfrm>
            <a:off x="731520" y="140817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g409cbc41d6f_0_411"/>
          <p:cNvSpPr txBox="1"/>
          <p:nvPr/>
        </p:nvSpPr>
        <p:spPr>
          <a:xfrm>
            <a:off x="731520" y="141732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409cbc41d6f_0_411"/>
          <p:cNvSpPr txBox="1"/>
          <p:nvPr/>
        </p:nvSpPr>
        <p:spPr>
          <a:xfrm>
            <a:off x="1106424" y="1399032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Partition one δ × δ square into 4 congruent smaller squares.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409cbc41d6f_0_411"/>
          <p:cNvSpPr/>
          <p:nvPr/>
        </p:nvSpPr>
        <p:spPr>
          <a:xfrm>
            <a:off x="685800" y="2121408"/>
            <a:ext cx="10927200" cy="7773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g409cbc41d6f_0_411"/>
          <p:cNvSpPr/>
          <p:nvPr/>
        </p:nvSpPr>
        <p:spPr>
          <a:xfrm>
            <a:off x="731520" y="2203704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g409cbc41d6f_0_411"/>
          <p:cNvSpPr txBox="1"/>
          <p:nvPr/>
        </p:nvSpPr>
        <p:spPr>
          <a:xfrm>
            <a:off x="731520" y="2212848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409cbc41d6f_0_411"/>
          <p:cNvSpPr txBox="1"/>
          <p:nvPr/>
        </p:nvSpPr>
        <p:spPr>
          <a:xfrm>
            <a:off x="1106424" y="2194560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two points lie in the same small square, their distance is at most the diagonal: (√2/2)·δ &lt; δ.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409cbc41d6f_0_411"/>
          <p:cNvSpPr/>
          <p:nvPr/>
        </p:nvSpPr>
        <p:spPr>
          <a:xfrm>
            <a:off x="685800" y="2916936"/>
            <a:ext cx="109272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g409cbc41d6f_0_411"/>
          <p:cNvSpPr/>
          <p:nvPr/>
        </p:nvSpPr>
        <p:spPr>
          <a:xfrm>
            <a:off x="731520" y="2999232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g409cbc41d6f_0_411"/>
          <p:cNvSpPr txBox="1"/>
          <p:nvPr/>
        </p:nvSpPr>
        <p:spPr>
          <a:xfrm>
            <a:off x="731520" y="3008376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409cbc41d6f_0_411"/>
          <p:cNvSpPr txBox="1"/>
          <p:nvPr/>
        </p:nvSpPr>
        <p:spPr>
          <a:xfrm>
            <a:off x="1106424" y="2990088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But points from the same subset are all at least δ apart.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409cbc41d6f_0_411"/>
          <p:cNvSpPr/>
          <p:nvPr/>
        </p:nvSpPr>
        <p:spPr>
          <a:xfrm>
            <a:off x="685800" y="3712463"/>
            <a:ext cx="10927200" cy="5943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g409cbc41d6f_0_411"/>
          <p:cNvSpPr/>
          <p:nvPr/>
        </p:nvSpPr>
        <p:spPr>
          <a:xfrm>
            <a:off x="731520" y="3794759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g409cbc41d6f_0_411"/>
          <p:cNvSpPr txBox="1"/>
          <p:nvPr/>
        </p:nvSpPr>
        <p:spPr>
          <a:xfrm>
            <a:off x="731520" y="3803903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409cbc41d6f_0_411"/>
          <p:cNvSpPr txBox="1"/>
          <p:nvPr/>
        </p:nvSpPr>
        <p:spPr>
          <a:xfrm>
            <a:off x="1106424" y="3785615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So each small square can contain at most one point.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409cbc41d6f_0_411"/>
          <p:cNvSpPr/>
          <p:nvPr/>
        </p:nvSpPr>
        <p:spPr>
          <a:xfrm>
            <a:off x="685800" y="4507992"/>
            <a:ext cx="109272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7B5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g409cbc41d6f_0_411"/>
          <p:cNvSpPr/>
          <p:nvPr/>
        </p:nvSpPr>
        <p:spPr>
          <a:xfrm>
            <a:off x="731520" y="4590288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g409cbc41d6f_0_411"/>
          <p:cNvSpPr txBox="1"/>
          <p:nvPr/>
        </p:nvSpPr>
        <p:spPr>
          <a:xfrm>
            <a:off x="731520" y="4599432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409cbc41d6f_0_411"/>
          <p:cNvSpPr txBox="1"/>
          <p:nvPr/>
        </p:nvSpPr>
        <p:spPr>
          <a:xfrm>
            <a:off x="1106424" y="4581144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Therefore 5 points are impossible: by the pigeonhole principle, two would land in the same small square.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0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4(b): why only check the next 8 points?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20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0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20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20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20"/>
          <p:cNvSpPr/>
          <p:nvPr/>
        </p:nvSpPr>
        <p:spPr>
          <a:xfrm>
            <a:off x="685800" y="1280160"/>
            <a:ext cx="10927080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0"/>
          <p:cNvSpPr/>
          <p:nvPr/>
        </p:nvSpPr>
        <p:spPr>
          <a:xfrm>
            <a:off x="731520" y="1362456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0"/>
          <p:cNvSpPr txBox="1"/>
          <p:nvPr/>
        </p:nvSpPr>
        <p:spPr>
          <a:xfrm>
            <a:off x="731520" y="137160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20"/>
          <p:cNvSpPr txBox="1"/>
          <p:nvPr/>
        </p:nvSpPr>
        <p:spPr>
          <a:xfrm>
            <a:off x="1106424" y="1353312"/>
            <a:ext cx="10424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Suppose dist(p, q) &lt; δ and p appears before q in the y-sorted array.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20"/>
          <p:cNvSpPr/>
          <p:nvPr/>
        </p:nvSpPr>
        <p:spPr>
          <a:xfrm>
            <a:off x="685800" y="2066543"/>
            <a:ext cx="10927080" cy="603504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0"/>
          <p:cNvSpPr/>
          <p:nvPr/>
        </p:nvSpPr>
        <p:spPr>
          <a:xfrm>
            <a:off x="731520" y="2148839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0"/>
          <p:cNvSpPr txBox="1"/>
          <p:nvPr/>
        </p:nvSpPr>
        <p:spPr>
          <a:xfrm>
            <a:off x="731520" y="2157983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20"/>
          <p:cNvSpPr txBox="1"/>
          <p:nvPr/>
        </p:nvSpPr>
        <p:spPr>
          <a:xfrm>
            <a:off x="1106424" y="2139695"/>
            <a:ext cx="10424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Then q must lie in the 2δ × δ rectangle whose long edge is aligned with 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20"/>
          <p:cNvSpPr/>
          <p:nvPr/>
        </p:nvSpPr>
        <p:spPr>
          <a:xfrm>
            <a:off x="685800" y="2852928"/>
            <a:ext cx="10927080" cy="7863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0"/>
          <p:cNvSpPr/>
          <p:nvPr/>
        </p:nvSpPr>
        <p:spPr>
          <a:xfrm>
            <a:off x="731520" y="2935224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0"/>
          <p:cNvSpPr txBox="1"/>
          <p:nvPr/>
        </p:nvSpPr>
        <p:spPr>
          <a:xfrm>
            <a:off x="731520" y="2944368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20"/>
          <p:cNvSpPr txBox="1"/>
          <p:nvPr/>
        </p:nvSpPr>
        <p:spPr>
          <a:xfrm>
            <a:off x="1106424" y="2926080"/>
            <a:ext cx="10424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By part (a), the left half of that rectangle holds at most 4 left points, and the right half holds at most 4 right points.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0"/>
          <p:cNvSpPr/>
          <p:nvPr/>
        </p:nvSpPr>
        <p:spPr>
          <a:xfrm>
            <a:off x="685800" y="3639312"/>
            <a:ext cx="10927080" cy="603504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0"/>
          <p:cNvSpPr/>
          <p:nvPr/>
        </p:nvSpPr>
        <p:spPr>
          <a:xfrm>
            <a:off x="731520" y="3721608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0"/>
          <p:cNvSpPr txBox="1"/>
          <p:nvPr/>
        </p:nvSpPr>
        <p:spPr>
          <a:xfrm>
            <a:off x="731520" y="3730752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20"/>
          <p:cNvSpPr txBox="1"/>
          <p:nvPr/>
        </p:nvSpPr>
        <p:spPr>
          <a:xfrm>
            <a:off x="1106424" y="3712464"/>
            <a:ext cx="10424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So the rectangle contains at most 8 relevant points total.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20"/>
          <p:cNvSpPr/>
          <p:nvPr/>
        </p:nvSpPr>
        <p:spPr>
          <a:xfrm>
            <a:off x="685800" y="4425696"/>
            <a:ext cx="10927080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0"/>
          <p:cNvSpPr/>
          <p:nvPr/>
        </p:nvSpPr>
        <p:spPr>
          <a:xfrm>
            <a:off x="731520" y="4507992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0"/>
          <p:cNvSpPr txBox="1"/>
          <p:nvPr/>
        </p:nvSpPr>
        <p:spPr>
          <a:xfrm>
            <a:off x="731520" y="4517136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20"/>
          <p:cNvSpPr txBox="1"/>
          <p:nvPr/>
        </p:nvSpPr>
        <p:spPr>
          <a:xfrm>
            <a:off x="1106424" y="4498848"/>
            <a:ext cx="10424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Therefore, if a closer cross-side point exists, it must be among the next 7 points after p in y-order.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1"/>
          <p:cNvSpPr txBox="1"/>
          <p:nvPr/>
        </p:nvSpPr>
        <p:spPr>
          <a:xfrm>
            <a:off x="256032" y="118872"/>
            <a:ext cx="804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Problem 2: Pikachu — I trade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21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1"/>
          <p:cNvSpPr txBox="1"/>
          <p:nvPr/>
        </p:nvSpPr>
        <p:spPr>
          <a:xfrm>
            <a:off x="10588752" y="155448"/>
            <a:ext cx="1042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21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21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21"/>
          <p:cNvSpPr txBox="1"/>
          <p:nvPr/>
        </p:nvSpPr>
        <p:spPr>
          <a:xfrm>
            <a:off x="411480" y="89611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Choose days 1 ≤ i ≤ j ≤ n to maximize the product A[i]·A[i+1]·…·A[j].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21"/>
          <p:cNvSpPr/>
          <p:nvPr/>
        </p:nvSpPr>
        <p:spPr>
          <a:xfrm>
            <a:off x="685800" y="1600200"/>
            <a:ext cx="10972800" cy="283464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1"/>
          <p:cNvSpPr/>
          <p:nvPr/>
        </p:nvSpPr>
        <p:spPr>
          <a:xfrm>
            <a:off x="685800" y="1600200"/>
            <a:ext cx="10972800" cy="310896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1"/>
          <p:cNvSpPr txBox="1"/>
          <p:nvPr/>
        </p:nvSpPr>
        <p:spPr>
          <a:xfrm>
            <a:off x="722376" y="1618488"/>
            <a:ext cx="108996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21"/>
          <p:cNvSpPr txBox="1"/>
          <p:nvPr/>
        </p:nvSpPr>
        <p:spPr>
          <a:xfrm>
            <a:off x="795528" y="1965960"/>
            <a:ext cx="10771632" cy="24140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A[t] is the multiplicative change in value on day 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Buying at the start of day i and selling at the end of day j yields product A[i]…A[j].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Find the maximum possible aggregate growth; optionally choose not to trade if every option is bad.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We want a divide-and-conquer solution.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21"/>
          <p:cNvSpPr txBox="1"/>
          <p:nvPr/>
        </p:nvSpPr>
        <p:spPr>
          <a:xfrm>
            <a:off x="1005840" y="4892040"/>
            <a:ext cx="10149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5A066"/>
                </a:solidFill>
                <a:latin typeface="Arial"/>
                <a:ea typeface="Arial"/>
                <a:cs typeface="Arial"/>
                <a:sym typeface="Arial"/>
              </a:rPr>
              <a:t>Example: [0.8, 1.1, 0.95, 1.5, 0.8, 1.25] has optimal growth 1.5675, achieved by days (2,4) or (2,6).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2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2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Problem 2(a): best interval crossing day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22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2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22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22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22"/>
          <p:cNvSpPr txBox="1"/>
          <p:nvPr/>
        </p:nvSpPr>
        <p:spPr>
          <a:xfrm>
            <a:off x="411480" y="8686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Goal: among all intervals with i ≤ k &lt; j, maximize A[i]·…·A[j].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409cbc41d6f_0_49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g409cbc41d6f_0_496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Problem 2(a): best interval crossing day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g409cbc41d6f_0_496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g409cbc41d6f_0_496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g409cbc41d6f_0_496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g409cbc41d6f_0_496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g409cbc41d6f_0_496"/>
          <p:cNvSpPr txBox="1"/>
          <p:nvPr/>
        </p:nvSpPr>
        <p:spPr>
          <a:xfrm>
            <a:off x="411480" y="868680"/>
            <a:ext cx="11064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Goal: among all intervals with i ≤ k &lt; j, maximize A[i]·…·A[j].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g409cbc41d6f_0_496"/>
          <p:cNvSpPr/>
          <p:nvPr/>
        </p:nvSpPr>
        <p:spPr>
          <a:xfrm>
            <a:off x="594360" y="1417320"/>
            <a:ext cx="53034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g409cbc41d6f_0_496"/>
          <p:cNvSpPr/>
          <p:nvPr/>
        </p:nvSpPr>
        <p:spPr>
          <a:xfrm>
            <a:off x="640080" y="149961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g409cbc41d6f_0_496"/>
          <p:cNvSpPr txBox="1"/>
          <p:nvPr/>
        </p:nvSpPr>
        <p:spPr>
          <a:xfrm>
            <a:off x="640080" y="150876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g409cbc41d6f_0_496"/>
          <p:cNvSpPr txBox="1"/>
          <p:nvPr/>
        </p:nvSpPr>
        <p:spPr>
          <a:xfrm>
            <a:off x="1014984" y="1490472"/>
            <a:ext cx="48006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Scan left from k to find the best suffix A[i]…A[k].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409cbc41d6f_0_523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g409cbc41d6f_0_523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Problem 2(a): best interval crossing day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g409cbc41d6f_0_523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g409cbc41d6f_0_523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g409cbc41d6f_0_523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g409cbc41d6f_0_523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g409cbc41d6f_0_523"/>
          <p:cNvSpPr txBox="1"/>
          <p:nvPr/>
        </p:nvSpPr>
        <p:spPr>
          <a:xfrm>
            <a:off x="411480" y="868680"/>
            <a:ext cx="11064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Goal: among all intervals with i ≤ k &lt; j, maximize A[i]·…·A[j].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g409cbc41d6f_0_523"/>
          <p:cNvSpPr/>
          <p:nvPr/>
        </p:nvSpPr>
        <p:spPr>
          <a:xfrm>
            <a:off x="594360" y="1417320"/>
            <a:ext cx="53034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g409cbc41d6f_0_523"/>
          <p:cNvSpPr/>
          <p:nvPr/>
        </p:nvSpPr>
        <p:spPr>
          <a:xfrm>
            <a:off x="640080" y="149961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g409cbc41d6f_0_523"/>
          <p:cNvSpPr txBox="1"/>
          <p:nvPr/>
        </p:nvSpPr>
        <p:spPr>
          <a:xfrm>
            <a:off x="640080" y="150876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g409cbc41d6f_0_523"/>
          <p:cNvSpPr txBox="1"/>
          <p:nvPr/>
        </p:nvSpPr>
        <p:spPr>
          <a:xfrm>
            <a:off x="1014984" y="1490472"/>
            <a:ext cx="48006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Scan left from k to find the best suffix A[i]…A[k].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g409cbc41d6f_0_523"/>
          <p:cNvSpPr/>
          <p:nvPr/>
        </p:nvSpPr>
        <p:spPr>
          <a:xfrm>
            <a:off x="594360" y="2194560"/>
            <a:ext cx="5303400" cy="5943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g409cbc41d6f_0_523"/>
          <p:cNvSpPr/>
          <p:nvPr/>
        </p:nvSpPr>
        <p:spPr>
          <a:xfrm>
            <a:off x="640080" y="227685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g409cbc41d6f_0_523"/>
          <p:cNvSpPr txBox="1"/>
          <p:nvPr/>
        </p:nvSpPr>
        <p:spPr>
          <a:xfrm>
            <a:off x="640080" y="228600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g409cbc41d6f_0_523"/>
          <p:cNvSpPr txBox="1"/>
          <p:nvPr/>
        </p:nvSpPr>
        <p:spPr>
          <a:xfrm>
            <a:off x="1014984" y="2171637"/>
            <a:ext cx="480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Scan right from k+1 to find the best prefix A[k+1]…A[j].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409cbc41d6f_0_55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g409cbc41d6f_0_550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Problem 2(a): best interval crossing day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g409cbc41d6f_0_550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g409cbc41d6f_0_550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g409cbc41d6f_0_550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g409cbc41d6f_0_550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g409cbc41d6f_0_550"/>
          <p:cNvSpPr txBox="1"/>
          <p:nvPr/>
        </p:nvSpPr>
        <p:spPr>
          <a:xfrm>
            <a:off x="411480" y="868680"/>
            <a:ext cx="11064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Goal: among all intervals with i ≤ k &lt; j, maximize A[i]·…·A[j].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g409cbc41d6f_0_550"/>
          <p:cNvSpPr/>
          <p:nvPr/>
        </p:nvSpPr>
        <p:spPr>
          <a:xfrm>
            <a:off x="594360" y="1417320"/>
            <a:ext cx="53034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g409cbc41d6f_0_550"/>
          <p:cNvSpPr/>
          <p:nvPr/>
        </p:nvSpPr>
        <p:spPr>
          <a:xfrm>
            <a:off x="640080" y="149961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g409cbc41d6f_0_550"/>
          <p:cNvSpPr txBox="1"/>
          <p:nvPr/>
        </p:nvSpPr>
        <p:spPr>
          <a:xfrm>
            <a:off x="640080" y="150876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g409cbc41d6f_0_550"/>
          <p:cNvSpPr txBox="1"/>
          <p:nvPr/>
        </p:nvSpPr>
        <p:spPr>
          <a:xfrm>
            <a:off x="1014984" y="1490472"/>
            <a:ext cx="48006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Scan left from k to find the best suffix A[i]…A[k].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g409cbc41d6f_0_550"/>
          <p:cNvSpPr/>
          <p:nvPr/>
        </p:nvSpPr>
        <p:spPr>
          <a:xfrm>
            <a:off x="594360" y="2194560"/>
            <a:ext cx="5303400" cy="5943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g409cbc41d6f_0_550"/>
          <p:cNvSpPr/>
          <p:nvPr/>
        </p:nvSpPr>
        <p:spPr>
          <a:xfrm>
            <a:off x="640080" y="227685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g409cbc41d6f_0_550"/>
          <p:cNvSpPr txBox="1"/>
          <p:nvPr/>
        </p:nvSpPr>
        <p:spPr>
          <a:xfrm>
            <a:off x="640080" y="228600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g409cbc41d6f_0_550"/>
          <p:cNvSpPr txBox="1"/>
          <p:nvPr/>
        </p:nvSpPr>
        <p:spPr>
          <a:xfrm>
            <a:off x="1014984" y="2171637"/>
            <a:ext cx="480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Scan right from k+1 to find the best prefix A[k+1]…A[j].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g409cbc41d6f_0_550"/>
          <p:cNvSpPr/>
          <p:nvPr/>
        </p:nvSpPr>
        <p:spPr>
          <a:xfrm>
            <a:off x="594360" y="2971800"/>
            <a:ext cx="53034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g409cbc41d6f_0_550"/>
          <p:cNvSpPr/>
          <p:nvPr/>
        </p:nvSpPr>
        <p:spPr>
          <a:xfrm>
            <a:off x="640080" y="305409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g409cbc41d6f_0_550"/>
          <p:cNvSpPr txBox="1"/>
          <p:nvPr/>
        </p:nvSpPr>
        <p:spPr>
          <a:xfrm>
            <a:off x="640080" y="306324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g409cbc41d6f_0_550"/>
          <p:cNvSpPr txBox="1"/>
          <p:nvPr/>
        </p:nvSpPr>
        <p:spPr>
          <a:xfrm>
            <a:off x="1014984" y="2971777"/>
            <a:ext cx="480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Multiply these two optimal pieces and return the combined interval.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409cbc41d6f_0_577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g409cbc41d6f_0_577"/>
          <p:cNvSpPr txBox="1"/>
          <p:nvPr/>
        </p:nvSpPr>
        <p:spPr>
          <a:xfrm>
            <a:off x="256032" y="118872"/>
            <a:ext cx="8046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Problem 2(a): best interval crossing day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g409cbc41d6f_0_577"/>
          <p:cNvSpPr/>
          <p:nvPr/>
        </p:nvSpPr>
        <p:spPr>
          <a:xfrm>
            <a:off x="10561320" y="137160"/>
            <a:ext cx="10974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g409cbc41d6f_0_577"/>
          <p:cNvSpPr txBox="1"/>
          <p:nvPr/>
        </p:nvSpPr>
        <p:spPr>
          <a:xfrm>
            <a:off x="10588752" y="155448"/>
            <a:ext cx="1042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g409cbc41d6f_0_577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g409cbc41d6f_0_577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g409cbc41d6f_0_577"/>
          <p:cNvSpPr txBox="1"/>
          <p:nvPr/>
        </p:nvSpPr>
        <p:spPr>
          <a:xfrm>
            <a:off x="411480" y="868680"/>
            <a:ext cx="11064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Goal: among all intervals with i ≤ k &lt; j, maximize A[i]·…·A[j].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g409cbc41d6f_0_577"/>
          <p:cNvSpPr/>
          <p:nvPr/>
        </p:nvSpPr>
        <p:spPr>
          <a:xfrm>
            <a:off x="594360" y="1417320"/>
            <a:ext cx="53034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g409cbc41d6f_0_577"/>
          <p:cNvSpPr/>
          <p:nvPr/>
        </p:nvSpPr>
        <p:spPr>
          <a:xfrm>
            <a:off x="640080" y="149961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g409cbc41d6f_0_577"/>
          <p:cNvSpPr txBox="1"/>
          <p:nvPr/>
        </p:nvSpPr>
        <p:spPr>
          <a:xfrm>
            <a:off x="640080" y="150876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g409cbc41d6f_0_577"/>
          <p:cNvSpPr txBox="1"/>
          <p:nvPr/>
        </p:nvSpPr>
        <p:spPr>
          <a:xfrm>
            <a:off x="1014984" y="1490472"/>
            <a:ext cx="48006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Scan left from k to find the best suffix A[i]…A[k].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g409cbc41d6f_0_577"/>
          <p:cNvSpPr/>
          <p:nvPr/>
        </p:nvSpPr>
        <p:spPr>
          <a:xfrm>
            <a:off x="594360" y="2194560"/>
            <a:ext cx="5303400" cy="59430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g409cbc41d6f_0_577"/>
          <p:cNvSpPr/>
          <p:nvPr/>
        </p:nvSpPr>
        <p:spPr>
          <a:xfrm>
            <a:off x="640080" y="227685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g409cbc41d6f_0_577"/>
          <p:cNvSpPr txBox="1"/>
          <p:nvPr/>
        </p:nvSpPr>
        <p:spPr>
          <a:xfrm>
            <a:off x="640080" y="228600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g409cbc41d6f_0_577"/>
          <p:cNvSpPr txBox="1"/>
          <p:nvPr/>
        </p:nvSpPr>
        <p:spPr>
          <a:xfrm>
            <a:off x="1014984" y="2171637"/>
            <a:ext cx="480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Scan right from k+1 to find the best prefix A[k+1]…A[j].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g409cbc41d6f_0_577"/>
          <p:cNvSpPr/>
          <p:nvPr/>
        </p:nvSpPr>
        <p:spPr>
          <a:xfrm>
            <a:off x="594360" y="2971800"/>
            <a:ext cx="53034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g409cbc41d6f_0_577"/>
          <p:cNvSpPr/>
          <p:nvPr/>
        </p:nvSpPr>
        <p:spPr>
          <a:xfrm>
            <a:off x="640080" y="3054096"/>
            <a:ext cx="310800" cy="310800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g409cbc41d6f_0_577"/>
          <p:cNvSpPr txBox="1"/>
          <p:nvPr/>
        </p:nvSpPr>
        <p:spPr>
          <a:xfrm>
            <a:off x="640080" y="3063240"/>
            <a:ext cx="310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409cbc41d6f_0_577"/>
          <p:cNvSpPr txBox="1"/>
          <p:nvPr/>
        </p:nvSpPr>
        <p:spPr>
          <a:xfrm>
            <a:off x="1014984" y="2971777"/>
            <a:ext cx="480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Multiply these two optimal pieces and return the combined interval.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g409cbc41d6f_0_577"/>
          <p:cNvSpPr/>
          <p:nvPr/>
        </p:nvSpPr>
        <p:spPr>
          <a:xfrm>
            <a:off x="6217920" y="1417320"/>
            <a:ext cx="5029200" cy="28347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55A0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g409cbc41d6f_0_577"/>
          <p:cNvSpPr/>
          <p:nvPr/>
        </p:nvSpPr>
        <p:spPr>
          <a:xfrm>
            <a:off x="6217920" y="1417320"/>
            <a:ext cx="5029200" cy="329100"/>
          </a:xfrm>
          <a:prstGeom prst="rect">
            <a:avLst/>
          </a:prstGeom>
          <a:solidFill>
            <a:srgbClr val="55A0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g409cbc41d6f_0_577"/>
          <p:cNvSpPr txBox="1"/>
          <p:nvPr/>
        </p:nvSpPr>
        <p:spPr>
          <a:xfrm>
            <a:off x="6245352" y="1435608"/>
            <a:ext cx="4974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g409cbc41d6f_0_577"/>
          <p:cNvSpPr txBox="1"/>
          <p:nvPr/>
        </p:nvSpPr>
        <p:spPr>
          <a:xfrm>
            <a:off x="6291072" y="1792224"/>
            <a:ext cx="48828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MaxGrowthIncluding(A, k)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a ← best suffix ending at k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b ← best prefix starting at k+1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return (a·b, i, 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g409cbc41d6f_0_577"/>
          <p:cNvSpPr txBox="1"/>
          <p:nvPr/>
        </p:nvSpPr>
        <p:spPr>
          <a:xfrm>
            <a:off x="6446520" y="4572000"/>
            <a:ext cx="45720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Runtime: O(n) total scans.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2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3"/>
          <p:cNvSpPr txBox="1"/>
          <p:nvPr/>
        </p:nvSpPr>
        <p:spPr>
          <a:xfrm>
            <a:off x="256032" y="11887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Problem 2(b): divide-and-conquer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23"/>
          <p:cNvSpPr/>
          <p:nvPr/>
        </p:nvSpPr>
        <p:spPr>
          <a:xfrm>
            <a:off x="10561320" y="137160"/>
            <a:ext cx="109728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3"/>
          <p:cNvSpPr txBox="1"/>
          <p:nvPr/>
        </p:nvSpPr>
        <p:spPr>
          <a:xfrm>
            <a:off x="10588752" y="155448"/>
            <a:ext cx="1042415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23"/>
          <p:cNvSpPr txBox="1"/>
          <p:nvPr/>
        </p:nvSpPr>
        <p:spPr>
          <a:xfrm>
            <a:off x="182880" y="65379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23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23"/>
          <p:cNvSpPr/>
          <p:nvPr/>
        </p:nvSpPr>
        <p:spPr>
          <a:xfrm>
            <a:off x="594360" y="1143000"/>
            <a:ext cx="1088136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3"/>
          <p:cNvSpPr/>
          <p:nvPr/>
        </p:nvSpPr>
        <p:spPr>
          <a:xfrm>
            <a:off x="640080" y="1225296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3"/>
          <p:cNvSpPr txBox="1"/>
          <p:nvPr/>
        </p:nvSpPr>
        <p:spPr>
          <a:xfrm>
            <a:off x="640080" y="123444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23"/>
          <p:cNvSpPr txBox="1"/>
          <p:nvPr/>
        </p:nvSpPr>
        <p:spPr>
          <a:xfrm>
            <a:off x="1014984" y="1216152"/>
            <a:ext cx="10378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Split the array into a left half and a right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23"/>
          <p:cNvSpPr/>
          <p:nvPr/>
        </p:nvSpPr>
        <p:spPr>
          <a:xfrm>
            <a:off x="594360" y="1837943"/>
            <a:ext cx="10881360" cy="54864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3"/>
          <p:cNvSpPr/>
          <p:nvPr/>
        </p:nvSpPr>
        <p:spPr>
          <a:xfrm>
            <a:off x="640080" y="1920239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3"/>
          <p:cNvSpPr txBox="1"/>
          <p:nvPr/>
        </p:nvSpPr>
        <p:spPr>
          <a:xfrm>
            <a:off x="640080" y="1929383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23"/>
          <p:cNvSpPr txBox="1"/>
          <p:nvPr/>
        </p:nvSpPr>
        <p:spPr>
          <a:xfrm>
            <a:off x="1014984" y="1911095"/>
            <a:ext cx="10378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Recursively compute the best interval fully inside the left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23"/>
          <p:cNvSpPr/>
          <p:nvPr/>
        </p:nvSpPr>
        <p:spPr>
          <a:xfrm>
            <a:off x="594360" y="2532888"/>
            <a:ext cx="1088136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3"/>
          <p:cNvSpPr/>
          <p:nvPr/>
        </p:nvSpPr>
        <p:spPr>
          <a:xfrm>
            <a:off x="640080" y="2615184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23"/>
          <p:cNvSpPr txBox="1"/>
          <p:nvPr/>
        </p:nvSpPr>
        <p:spPr>
          <a:xfrm>
            <a:off x="640080" y="2624328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23"/>
          <p:cNvSpPr txBox="1"/>
          <p:nvPr/>
        </p:nvSpPr>
        <p:spPr>
          <a:xfrm>
            <a:off x="1014984" y="2606040"/>
            <a:ext cx="10378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Recursively compute the best interval fully inside the right half.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23"/>
          <p:cNvSpPr/>
          <p:nvPr/>
        </p:nvSpPr>
        <p:spPr>
          <a:xfrm>
            <a:off x="594360" y="3227832"/>
            <a:ext cx="10881360" cy="548640"/>
          </a:xfrm>
          <a:prstGeom prst="roundRect">
            <a:avLst>
              <a:gd fmla="val 16667" name="adj"/>
            </a:avLst>
          </a:prstGeom>
          <a:solidFill>
            <a:srgbClr val="EAEFF5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3"/>
          <p:cNvSpPr/>
          <p:nvPr/>
        </p:nvSpPr>
        <p:spPr>
          <a:xfrm>
            <a:off x="640080" y="3310128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3"/>
          <p:cNvSpPr txBox="1"/>
          <p:nvPr/>
        </p:nvSpPr>
        <p:spPr>
          <a:xfrm>
            <a:off x="640080" y="3319272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23"/>
          <p:cNvSpPr txBox="1"/>
          <p:nvPr/>
        </p:nvSpPr>
        <p:spPr>
          <a:xfrm>
            <a:off x="1014984" y="3300984"/>
            <a:ext cx="10378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Use MaxGrowthIncluding at the midpoint to get the best crossing interval.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23"/>
          <p:cNvSpPr/>
          <p:nvPr/>
        </p:nvSpPr>
        <p:spPr>
          <a:xfrm>
            <a:off x="594360" y="3922776"/>
            <a:ext cx="1088136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577D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3"/>
          <p:cNvSpPr/>
          <p:nvPr/>
        </p:nvSpPr>
        <p:spPr>
          <a:xfrm>
            <a:off x="640080" y="4005072"/>
            <a:ext cx="310896" cy="310896"/>
          </a:xfrm>
          <a:prstGeom prst="ellipse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3"/>
          <p:cNvSpPr txBox="1"/>
          <p:nvPr/>
        </p:nvSpPr>
        <p:spPr>
          <a:xfrm>
            <a:off x="640080" y="4014216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23"/>
          <p:cNvSpPr txBox="1"/>
          <p:nvPr/>
        </p:nvSpPr>
        <p:spPr>
          <a:xfrm>
            <a:off x="1014984" y="3995928"/>
            <a:ext cx="10378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Return the best of the three candidates (or “no trade” if all gains are &lt; 1).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23"/>
          <p:cNvSpPr txBox="1"/>
          <p:nvPr/>
        </p:nvSpPr>
        <p:spPr>
          <a:xfrm>
            <a:off x="914400" y="4956048"/>
            <a:ext cx="10332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Recurrence:  T(n) = 2T(n/2) + O(n)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23"/>
          <p:cNvSpPr txBox="1"/>
          <p:nvPr/>
        </p:nvSpPr>
        <p:spPr>
          <a:xfrm>
            <a:off x="914400" y="5321808"/>
            <a:ext cx="10332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5A066"/>
                </a:solidFill>
                <a:latin typeface="Arial"/>
                <a:ea typeface="Arial"/>
                <a:cs typeface="Arial"/>
                <a:sym typeface="Arial"/>
              </a:rPr>
              <a:t>Master Theorem ⇒  T(n) = O(n log 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409cbc41d6f_0_604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g409cbc41d6f_0_604"/>
          <p:cNvSpPr/>
          <p:nvPr/>
        </p:nvSpPr>
        <p:spPr>
          <a:xfrm>
            <a:off x="0" y="0"/>
            <a:ext cx="12191100" cy="1005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g409cbc41d6f_0_604"/>
          <p:cNvSpPr txBox="1"/>
          <p:nvPr/>
        </p:nvSpPr>
        <p:spPr>
          <a:xfrm>
            <a:off x="548625" y="292320"/>
            <a:ext cx="97839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Attendance Form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4" name="Google Shape;1134;g409cbc41d6f_0_604"/>
          <p:cNvCxnSpPr/>
          <p:nvPr/>
        </p:nvCxnSpPr>
        <p:spPr>
          <a:xfrm>
            <a:off x="548625" y="941760"/>
            <a:ext cx="1108200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5" name="Google Shape;1135;g409cbc41d6f_0_604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g409cbc41d6f_0_604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7" name="Google Shape;1137;g409cbc41d6f_0_604" title="Untitled desig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475" y="1002875"/>
            <a:ext cx="4752275" cy="4953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g409cbc41d6f_0_604"/>
          <p:cNvSpPr txBox="1"/>
          <p:nvPr/>
        </p:nvSpPr>
        <p:spPr>
          <a:xfrm>
            <a:off x="2454463" y="6104325"/>
            <a:ext cx="715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https://forms.gle/om8YkQSWv13GyWb7A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