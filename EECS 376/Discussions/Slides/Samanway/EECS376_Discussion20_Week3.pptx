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mDC2Q9qjYAwMlECbT47l32i9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409cbc41d6f_0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409cbc41d6f_0_0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409f75f860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409f75f860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09f75f86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409f75f860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409f75f86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409f75f860f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409f75f860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409f75f860f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409f75f860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409f75f860f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409f75f860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409f75f860f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409f75f86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409f75f860f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409f75f860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409f75f860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409cbc41d6f_0_60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9" name="Google Shape;739;g409cbc41d6f_0_604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409f75f860f_0_106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1" name="Google Shape;751;g409f75f860f_0_106:notes"/>
          <p:cNvSpPr/>
          <p:nvPr>
            <p:ph idx="2" type="sldImg"/>
          </p:nvPr>
        </p:nvSpPr>
        <p:spPr>
          <a:xfrm>
            <a:off x="1143269" y="685791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9cbc41d6f_0_27"/>
          <p:cNvSpPr txBox="1"/>
          <p:nvPr>
            <p:ph type="title"/>
          </p:nvPr>
        </p:nvSpPr>
        <p:spPr>
          <a:xfrm>
            <a:off x="503987" y="226080"/>
            <a:ext cx="9071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409cbc41d6f_0_27"/>
          <p:cNvSpPr txBox="1"/>
          <p:nvPr>
            <p:ph idx="1" type="subTitle"/>
          </p:nvPr>
        </p:nvSpPr>
        <p:spPr>
          <a:xfrm>
            <a:off x="503987" y="1326600"/>
            <a:ext cx="90714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" name="Google Shape;14;g409cbc41d6f_0_27"/>
          <p:cNvSpPr txBox="1"/>
          <p:nvPr>
            <p:ph idx="11" type="ftr"/>
          </p:nvPr>
        </p:nvSpPr>
        <p:spPr>
          <a:xfrm>
            <a:off x="3447268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409cbc41d6f_0_27"/>
          <p:cNvSpPr txBox="1"/>
          <p:nvPr>
            <p:ph idx="12" type="sldNum"/>
          </p:nvPr>
        </p:nvSpPr>
        <p:spPr>
          <a:xfrm>
            <a:off x="7227167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g409cbc41d6f_0_27"/>
          <p:cNvSpPr txBox="1"/>
          <p:nvPr>
            <p:ph idx="10" type="dt"/>
          </p:nvPr>
        </p:nvSpPr>
        <p:spPr>
          <a:xfrm>
            <a:off x="503987" y="5165280"/>
            <a:ext cx="23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hyperlink" Target="https://forms.gle/66SiVXziDAjWkFJM8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hyperlink" Target="https://forms.gle/YRpHUXZGEcuUagCc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09cbc41d6f_0_0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409cbc41d6f_0_0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409cbc41d6f_0_0"/>
          <p:cNvSpPr/>
          <p:nvPr/>
        </p:nvSpPr>
        <p:spPr>
          <a:xfrm>
            <a:off x="658062" y="658080"/>
            <a:ext cx="118800" cy="53493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409cbc41d6f_0_0"/>
          <p:cNvSpPr txBox="1"/>
          <p:nvPr/>
        </p:nvSpPr>
        <p:spPr>
          <a:xfrm>
            <a:off x="1051532" y="960120"/>
            <a:ext cx="4755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CB05"/>
                </a:solidFill>
                <a:latin typeface="Arial"/>
                <a:ea typeface="Arial"/>
                <a:cs typeface="Arial"/>
                <a:sym typeface="Arial"/>
              </a:rPr>
              <a:t>EECS 376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409cbc41d6f_0_0"/>
          <p:cNvSpPr txBox="1"/>
          <p:nvPr/>
        </p:nvSpPr>
        <p:spPr>
          <a:xfrm>
            <a:off x="1051532" y="1627560"/>
            <a:ext cx="9692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 of Computer Science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409cbc41d6f_0_0"/>
          <p:cNvSpPr txBox="1"/>
          <p:nvPr/>
        </p:nvSpPr>
        <p:spPr>
          <a:xfrm>
            <a:off x="1060532" y="2862000"/>
            <a:ext cx="55779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Discussion Sec. 20, Week </a:t>
            </a:r>
            <a:r>
              <a:rPr lang="en-US" sz="2400">
                <a:solidFill>
                  <a:srgbClr val="FFFFFF"/>
                </a:solidFill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409cbc41d6f_0_0"/>
          <p:cNvSpPr txBox="1"/>
          <p:nvPr/>
        </p:nvSpPr>
        <p:spPr>
          <a:xfrm>
            <a:off x="1060532" y="3492720"/>
            <a:ext cx="58518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Name: Samanway (Rick) Sadhu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Email: samanway@umich.edu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OH    : </a:t>
            </a:r>
            <a:r>
              <a:rPr lang="en-US" sz="2100">
                <a:solidFill>
                  <a:srgbClr val="FFFFFF"/>
                </a:solidFill>
              </a:rPr>
              <a:t>Mondays</a:t>
            </a:r>
            <a:r>
              <a:rPr lang="en-US" sz="2100">
                <a:solidFill>
                  <a:srgbClr val="FFFFFF"/>
                </a:solidFill>
              </a:rPr>
              <a:t> 5-6:30pm </a:t>
            </a:r>
            <a:r>
              <a:rPr lang="en-US" sz="2100">
                <a:solidFill>
                  <a:schemeClr val="lt1"/>
                </a:solidFill>
              </a:rPr>
              <a:t>(LNW 2421)</a:t>
            </a:r>
            <a:endParaRPr sz="21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    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Thursdays 2-5pm (LNW 2421)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409cbc41d6f_0_0"/>
          <p:cNvSpPr txBox="1"/>
          <p:nvPr/>
        </p:nvSpPr>
        <p:spPr>
          <a:xfrm>
            <a:off x="1060532" y="5852160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University of Michigan · Fall 2026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 idea 1: optimal substructure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502920" y="9601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An optimal / correct answer to a larger state can be built from answers to smaller states.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746545" y="3428990"/>
            <a:ext cx="10698600" cy="260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975145" y="3657590"/>
            <a:ext cx="2926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Think about the last move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066585" y="4343390"/>
            <a:ext cx="98754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The final move must come from </a:t>
            </a:r>
            <a:r>
              <a:rPr lang="en-US" sz="2200">
                <a:solidFill>
                  <a:srgbClr val="072854"/>
                </a:solidFill>
              </a:rPr>
              <a:t>tiles</a:t>
            </a:r>
            <a:r>
              <a:rPr b="0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n−1 with 1 x 1 tile or n−2 with a 2 x 1 tile.</a:t>
            </a:r>
            <a:br>
              <a:rPr b="0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So every full solution is assembled from solutions to smaller stair problems.</a:t>
            </a:r>
            <a:endParaRPr sz="1200"/>
          </a:p>
        </p:txBody>
      </p:sp>
      <p:sp>
        <p:nvSpPr>
          <p:cNvPr id="112" name="Google Shape;112;p1"/>
          <p:cNvSpPr/>
          <p:nvPr/>
        </p:nvSpPr>
        <p:spPr>
          <a:xfrm>
            <a:off x="449320" y="1897433"/>
            <a:ext cx="11109900" cy="9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2807950" y="2199000"/>
            <a:ext cx="6392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Ways(n): # ways to </a:t>
            </a:r>
            <a:r>
              <a:rPr lang="en-US" sz="1600">
                <a:solidFill>
                  <a:srgbClr val="20252B"/>
                </a:solidFill>
              </a:rPr>
              <a:t>cover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n x 1 </a:t>
            </a:r>
            <a:r>
              <a:rPr lang="en-US" sz="1600">
                <a:solidFill>
                  <a:srgbClr val="20252B"/>
                </a:solidFill>
              </a:rPr>
              <a:t>tiles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using only 1 </a:t>
            </a:r>
            <a:r>
              <a:rPr lang="en-US" sz="1600">
                <a:solidFill>
                  <a:srgbClr val="20252B"/>
                </a:solidFill>
              </a:rPr>
              <a:t>x 1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or 2 </a:t>
            </a:r>
            <a:r>
              <a:rPr lang="en-US" sz="1600">
                <a:solidFill>
                  <a:srgbClr val="20252B"/>
                </a:solidFill>
              </a:rPr>
              <a:t>x 1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rgbClr val="20252B"/>
                </a:solidFill>
              </a:rPr>
              <a:t>tile</a:t>
            </a:r>
            <a:r>
              <a:rPr b="0" i="0" lang="en-US" sz="16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 idea 2: overlapping subproblems</a:t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502920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 naive recursive solution may recompute the same state many times.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822960" y="1554480"/>
            <a:ext cx="10515600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5029215" y="1865375"/>
            <a:ext cx="1920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Ways(5)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3200400" y="24231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Ways(4)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6949440" y="24231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Ways(3)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1920225" y="3246120"/>
            <a:ext cx="192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Ways(3)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4423650" y="3246120"/>
            <a:ext cx="192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Ways(2)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6170850" y="3235045"/>
            <a:ext cx="192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Ways(2)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2743200" y="388620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Ways(3) and Ways(2) repeat → store them once.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8366760" y="51937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Memoize / tabulate repeated states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8091150" y="3246120"/>
            <a:ext cx="192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Ways(</a:t>
            </a:r>
            <a:r>
              <a:rPr b="1" lang="en-US" sz="1800">
                <a:solidFill>
                  <a:srgbClr val="E0A436"/>
                </a:solidFill>
              </a:rPr>
              <a:t>1</a:t>
            </a:r>
            <a:r>
              <a:rPr b="1" i="0" lang="en-US" sz="18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cxnSp>
        <p:nvCxnSpPr>
          <p:cNvPr id="135" name="Google Shape;135;p19"/>
          <p:cNvCxnSpPr>
            <a:stCxn id="126" idx="2"/>
            <a:endCxn id="127" idx="0"/>
          </p:cNvCxnSpPr>
          <p:nvPr/>
        </p:nvCxnSpPr>
        <p:spPr>
          <a:xfrm flipH="1">
            <a:off x="4160565" y="2299475"/>
            <a:ext cx="1828800" cy="1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9"/>
          <p:cNvCxnSpPr>
            <a:stCxn id="126" idx="2"/>
            <a:endCxn id="128" idx="0"/>
          </p:cNvCxnSpPr>
          <p:nvPr/>
        </p:nvCxnSpPr>
        <p:spPr>
          <a:xfrm>
            <a:off x="5989365" y="2299475"/>
            <a:ext cx="1920300" cy="1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9"/>
          <p:cNvCxnSpPr>
            <a:stCxn id="127" idx="2"/>
            <a:endCxn id="129" idx="0"/>
          </p:cNvCxnSpPr>
          <p:nvPr/>
        </p:nvCxnSpPr>
        <p:spPr>
          <a:xfrm flipH="1">
            <a:off x="2880420" y="2788920"/>
            <a:ext cx="12801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>
            <a:stCxn id="127" idx="2"/>
            <a:endCxn id="130" idx="0"/>
          </p:cNvCxnSpPr>
          <p:nvPr/>
        </p:nvCxnSpPr>
        <p:spPr>
          <a:xfrm>
            <a:off x="4160520" y="2788920"/>
            <a:ext cx="12234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9"/>
          <p:cNvCxnSpPr>
            <a:stCxn id="128" idx="2"/>
            <a:endCxn id="131" idx="0"/>
          </p:cNvCxnSpPr>
          <p:nvPr/>
        </p:nvCxnSpPr>
        <p:spPr>
          <a:xfrm flipH="1">
            <a:off x="7131060" y="2788920"/>
            <a:ext cx="7785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9"/>
          <p:cNvCxnSpPr>
            <a:stCxn id="128" idx="2"/>
            <a:endCxn id="134" idx="0"/>
          </p:cNvCxnSpPr>
          <p:nvPr/>
        </p:nvCxnSpPr>
        <p:spPr>
          <a:xfrm>
            <a:off x="7909560" y="2788920"/>
            <a:ext cx="11418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6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 cookbook: define the state / value</a:t>
            </a:r>
            <a:endParaRPr/>
          </a:p>
        </p:txBody>
      </p:sp>
      <p:sp>
        <p:nvSpPr>
          <p:cNvPr id="147" name="Google Shape;147;p36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6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49" name="Google Shape;149;p36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150" name="Google Shape;150;p36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1" name="Google Shape;151;p36"/>
          <p:cNvSpPr txBox="1"/>
          <p:nvPr/>
        </p:nvSpPr>
        <p:spPr>
          <a:xfrm>
            <a:off x="502920" y="94183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First decide exactly what one table entry means. A good state makes the recurrence almost inevitable.</a:t>
            </a:r>
            <a:endParaRPr/>
          </a:p>
        </p:txBody>
      </p:sp>
      <p:sp>
        <p:nvSpPr>
          <p:cNvPr id="152" name="Google Shape;152;p36"/>
          <p:cNvSpPr/>
          <p:nvPr/>
        </p:nvSpPr>
        <p:spPr>
          <a:xfrm>
            <a:off x="868680" y="1645920"/>
            <a:ext cx="1033272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6"/>
          <p:cNvSpPr txBox="1"/>
          <p:nvPr/>
        </p:nvSpPr>
        <p:spPr>
          <a:xfrm>
            <a:off x="1097280" y="1874519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State definition</a:t>
            </a:r>
            <a:endParaRPr/>
          </a:p>
        </p:txBody>
      </p:sp>
      <p:sp>
        <p:nvSpPr>
          <p:cNvPr id="154" name="Google Shape;154;p36"/>
          <p:cNvSpPr txBox="1"/>
          <p:nvPr/>
        </p:nvSpPr>
        <p:spPr>
          <a:xfrm>
            <a:off x="2011680" y="2697480"/>
            <a:ext cx="8046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DP[i] = </a:t>
            </a:r>
            <a:r>
              <a:rPr b="1" lang="en-US" sz="2800">
                <a:solidFill>
                  <a:srgbClr val="072854"/>
                </a:solidFill>
              </a:rPr>
              <a:t>cover</a:t>
            </a: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 i x 1 tile</a:t>
            </a:r>
            <a:endParaRPr/>
          </a:p>
        </p:txBody>
      </p:sp>
      <p:sp>
        <p:nvSpPr>
          <p:cNvPr id="155" name="Google Shape;155;p36"/>
          <p:cNvSpPr txBox="1"/>
          <p:nvPr/>
        </p:nvSpPr>
        <p:spPr>
          <a:xfrm>
            <a:off x="2011680" y="34930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Final answer = DP[n]</a:t>
            </a:r>
            <a:endParaRPr/>
          </a:p>
        </p:txBody>
      </p:sp>
      <p:sp>
        <p:nvSpPr>
          <p:cNvPr id="156" name="Google Shape;156;p36"/>
          <p:cNvSpPr txBox="1"/>
          <p:nvPr/>
        </p:nvSpPr>
        <p:spPr>
          <a:xfrm>
            <a:off x="8366760" y="51937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One state per stair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7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 cookbook: identify the base cases</a:t>
            </a:r>
            <a:endParaRPr/>
          </a:p>
        </p:txBody>
      </p:sp>
      <p:sp>
        <p:nvSpPr>
          <p:cNvPr id="163" name="Google Shape;163;p37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7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65" name="Google Shape;165;p37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166" name="Google Shape;166;p37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67" name="Google Shape;167;p37"/>
          <p:cNvSpPr txBox="1"/>
          <p:nvPr/>
        </p:nvSpPr>
        <p:spPr>
          <a:xfrm>
            <a:off x="502920" y="94183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Ask: what are the smallest inputs whose answers are immediate?</a:t>
            </a:r>
            <a:endParaRPr/>
          </a:p>
        </p:txBody>
      </p:sp>
      <p:sp>
        <p:nvSpPr>
          <p:cNvPr id="168" name="Google Shape;168;p37"/>
          <p:cNvSpPr/>
          <p:nvPr/>
        </p:nvSpPr>
        <p:spPr>
          <a:xfrm>
            <a:off x="777240" y="169164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7"/>
          <p:cNvSpPr/>
          <p:nvPr/>
        </p:nvSpPr>
        <p:spPr>
          <a:xfrm>
            <a:off x="914400" y="184708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7"/>
          <p:cNvSpPr txBox="1"/>
          <p:nvPr/>
        </p:nvSpPr>
        <p:spPr>
          <a:xfrm>
            <a:off x="914400" y="185166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1" name="Google Shape;171;p37"/>
          <p:cNvSpPr txBox="1"/>
          <p:nvPr/>
        </p:nvSpPr>
        <p:spPr>
          <a:xfrm>
            <a:off x="1335024" y="17922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172" name="Google Shape;172;p37"/>
          <p:cNvSpPr txBox="1"/>
          <p:nvPr/>
        </p:nvSpPr>
        <p:spPr>
          <a:xfrm>
            <a:off x="3255227" y="1721529"/>
            <a:ext cx="78639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DP[0] = 1  — there is one way to </a:t>
            </a:r>
            <a:r>
              <a:rPr lang="en-US" sz="2000">
                <a:solidFill>
                  <a:srgbClr val="20252B"/>
                </a:solidFill>
              </a:rPr>
              <a:t>cover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 “zero remaining </a:t>
            </a:r>
            <a:r>
              <a:rPr lang="en-US" sz="2000">
                <a:solidFill>
                  <a:srgbClr val="20252B"/>
                </a:solidFill>
              </a:rPr>
              <a:t>tiles</a:t>
            </a: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s”: do nothing.</a:t>
            </a:r>
            <a:endParaRPr/>
          </a:p>
        </p:txBody>
      </p:sp>
      <p:sp>
        <p:nvSpPr>
          <p:cNvPr id="173" name="Google Shape;173;p37"/>
          <p:cNvSpPr/>
          <p:nvPr/>
        </p:nvSpPr>
        <p:spPr>
          <a:xfrm>
            <a:off x="777240" y="26517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914400" y="2807208"/>
            <a:ext cx="310896" cy="310896"/>
          </a:xfrm>
          <a:prstGeom prst="ellipse">
            <a:avLst/>
          </a:prstGeom>
          <a:solidFill>
            <a:srgbClr val="4172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914400" y="28117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6" name="Google Shape;176;p37"/>
          <p:cNvSpPr txBox="1"/>
          <p:nvPr/>
        </p:nvSpPr>
        <p:spPr>
          <a:xfrm>
            <a:off x="1335024" y="27523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177" name="Google Shape;177;p37"/>
          <p:cNvSpPr txBox="1"/>
          <p:nvPr/>
        </p:nvSpPr>
        <p:spPr>
          <a:xfrm>
            <a:off x="3255264" y="27249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DP[1] = 1  — the only way is one 1-step move.</a:t>
            </a:r>
            <a:endParaRPr/>
          </a:p>
        </p:txBody>
      </p:sp>
      <p:sp>
        <p:nvSpPr>
          <p:cNvPr id="178" name="Google Shape;178;p37"/>
          <p:cNvSpPr txBox="1"/>
          <p:nvPr/>
        </p:nvSpPr>
        <p:spPr>
          <a:xfrm>
            <a:off x="2057400" y="38404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Base cases anchor the entire table.</a:t>
            </a:r>
            <a:endParaRPr/>
          </a:p>
        </p:txBody>
      </p:sp>
      <p:sp>
        <p:nvSpPr>
          <p:cNvPr id="179" name="Google Shape;179;p37"/>
          <p:cNvSpPr txBox="1"/>
          <p:nvPr/>
        </p:nvSpPr>
        <p:spPr>
          <a:xfrm>
            <a:off x="8366760" y="51937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DP[0]=1, DP[1]=1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8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 cookbook: derive the recurrence</a:t>
            </a:r>
            <a:endParaRPr/>
          </a:p>
        </p:txBody>
      </p:sp>
      <p:sp>
        <p:nvSpPr>
          <p:cNvPr id="186" name="Google Shape;186;p38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8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188" name="Google Shape;188;p38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189" name="Google Shape;189;p38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0" name="Google Shape;190;p38"/>
          <p:cNvSpPr txBox="1"/>
          <p:nvPr/>
        </p:nvSpPr>
        <p:spPr>
          <a:xfrm>
            <a:off x="502920" y="94183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Express the current state in terms of smaller states by conditioning on the final choice.</a:t>
            </a:r>
            <a:endParaRPr/>
          </a:p>
        </p:txBody>
      </p:sp>
      <p:sp>
        <p:nvSpPr>
          <p:cNvPr id="191" name="Google Shape;191;p38"/>
          <p:cNvSpPr/>
          <p:nvPr/>
        </p:nvSpPr>
        <p:spPr>
          <a:xfrm>
            <a:off x="822960" y="1645920"/>
            <a:ext cx="10515600" cy="2697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1097280" y="19385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Two possible last moves</a:t>
            </a:r>
            <a:endParaRPr/>
          </a:p>
        </p:txBody>
      </p:sp>
      <p:sp>
        <p:nvSpPr>
          <p:cNvPr id="193" name="Google Shape;193;p38"/>
          <p:cNvSpPr txBox="1"/>
          <p:nvPr/>
        </p:nvSpPr>
        <p:spPr>
          <a:xfrm>
            <a:off x="1828800" y="269748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DP[i] = DP[i−1] + DP[i−2]</a:t>
            </a:r>
            <a:endParaRPr/>
          </a:p>
        </p:txBody>
      </p:sp>
      <p:sp>
        <p:nvSpPr>
          <p:cNvPr id="194" name="Google Shape;194;p38"/>
          <p:cNvSpPr txBox="1"/>
          <p:nvPr/>
        </p:nvSpPr>
        <p:spPr>
          <a:xfrm>
            <a:off x="2103120" y="35661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disjoint possibilities → add their counts</a:t>
            </a:r>
            <a:endParaRPr/>
          </a:p>
        </p:txBody>
      </p:sp>
      <p:sp>
        <p:nvSpPr>
          <p:cNvPr id="195" name="Google Shape;195;p38"/>
          <p:cNvSpPr txBox="1"/>
          <p:nvPr/>
        </p:nvSpPr>
        <p:spPr>
          <a:xfrm>
            <a:off x="8366760" y="51937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DP[i]=DP[i−1]+DP[i−2]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DP cookbook: fill the table bottom-up</a:t>
            </a:r>
            <a:endParaRPr/>
          </a:p>
        </p:txBody>
      </p:sp>
      <p:sp>
        <p:nvSpPr>
          <p:cNvPr id="202" name="Google Shape;202;p39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9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/>
          </a:p>
        </p:txBody>
      </p:sp>
      <p:sp>
        <p:nvSpPr>
          <p:cNvPr id="204" name="Google Shape;204;p39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205" name="Google Shape;205;p39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06" name="Google Shape;206;p39"/>
          <p:cNvSpPr txBox="1"/>
          <p:nvPr/>
        </p:nvSpPr>
        <p:spPr>
          <a:xfrm>
            <a:off x="502920" y="94183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Use the recurrence dependencies to choose an order where every needed state is already known.</a:t>
            </a:r>
            <a:endParaRPr/>
          </a:p>
        </p:txBody>
      </p:sp>
      <p:sp>
        <p:nvSpPr>
          <p:cNvPr id="207" name="Google Shape;207;p39"/>
          <p:cNvSpPr txBox="1"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208" name="Google Shape;208;p39"/>
          <p:cNvSpPr/>
          <p:nvPr/>
        </p:nvSpPr>
        <p:spPr>
          <a:xfrm>
            <a:off x="1828800" y="150876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9"/>
          <p:cNvSpPr txBox="1"/>
          <p:nvPr/>
        </p:nvSpPr>
        <p:spPr>
          <a:xfrm>
            <a:off x="1828800" y="157276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10" name="Google Shape;210;p39"/>
          <p:cNvSpPr txBox="1"/>
          <p:nvPr/>
        </p:nvSpPr>
        <p:spPr>
          <a:xfrm>
            <a:off x="1828800" y="202082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DP[0]</a:t>
            </a:r>
            <a:endParaRPr/>
          </a:p>
        </p:txBody>
      </p:sp>
      <p:sp>
        <p:nvSpPr>
          <p:cNvPr id="211" name="Google Shape;211;p39"/>
          <p:cNvSpPr/>
          <p:nvPr/>
        </p:nvSpPr>
        <p:spPr>
          <a:xfrm>
            <a:off x="2487168" y="150876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9"/>
          <p:cNvSpPr txBox="1"/>
          <p:nvPr/>
        </p:nvSpPr>
        <p:spPr>
          <a:xfrm>
            <a:off x="2487168" y="157276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3" name="Google Shape;213;p39"/>
          <p:cNvSpPr txBox="1"/>
          <p:nvPr/>
        </p:nvSpPr>
        <p:spPr>
          <a:xfrm>
            <a:off x="2487168" y="202082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DP[1]</a:t>
            </a:r>
            <a:endParaRPr/>
          </a:p>
        </p:txBody>
      </p:sp>
      <p:sp>
        <p:nvSpPr>
          <p:cNvPr id="214" name="Google Shape;214;p39"/>
          <p:cNvSpPr/>
          <p:nvPr/>
        </p:nvSpPr>
        <p:spPr>
          <a:xfrm>
            <a:off x="3145536" y="150876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3145536" y="157276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6" name="Google Shape;216;p39"/>
          <p:cNvSpPr txBox="1"/>
          <p:nvPr/>
        </p:nvSpPr>
        <p:spPr>
          <a:xfrm>
            <a:off x="3145536" y="202082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DP[2]</a:t>
            </a:r>
            <a:endParaRPr/>
          </a:p>
        </p:txBody>
      </p:sp>
      <p:sp>
        <p:nvSpPr>
          <p:cNvPr id="217" name="Google Shape;217;p39"/>
          <p:cNvSpPr/>
          <p:nvPr/>
        </p:nvSpPr>
        <p:spPr>
          <a:xfrm>
            <a:off x="3803904" y="150876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3803904" y="157276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9" name="Google Shape;219;p39"/>
          <p:cNvSpPr txBox="1"/>
          <p:nvPr/>
        </p:nvSpPr>
        <p:spPr>
          <a:xfrm>
            <a:off x="3803904" y="202082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DP[3]</a:t>
            </a:r>
            <a:endParaRPr/>
          </a:p>
        </p:txBody>
      </p:sp>
      <p:sp>
        <p:nvSpPr>
          <p:cNvPr id="220" name="Google Shape;220;p39"/>
          <p:cNvSpPr/>
          <p:nvPr/>
        </p:nvSpPr>
        <p:spPr>
          <a:xfrm>
            <a:off x="4462272" y="150876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9"/>
          <p:cNvSpPr txBox="1"/>
          <p:nvPr/>
        </p:nvSpPr>
        <p:spPr>
          <a:xfrm>
            <a:off x="4462272" y="157276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22" name="Google Shape;222;p39"/>
          <p:cNvSpPr txBox="1"/>
          <p:nvPr/>
        </p:nvSpPr>
        <p:spPr>
          <a:xfrm>
            <a:off x="4462272" y="202082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DP[4]</a:t>
            </a:r>
            <a:endParaRPr/>
          </a:p>
        </p:txBody>
      </p:sp>
      <p:sp>
        <p:nvSpPr>
          <p:cNvPr id="223" name="Google Shape;223;p39"/>
          <p:cNvSpPr/>
          <p:nvPr/>
        </p:nvSpPr>
        <p:spPr>
          <a:xfrm>
            <a:off x="5120639" y="150876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9"/>
          <p:cNvSpPr txBox="1"/>
          <p:nvPr/>
        </p:nvSpPr>
        <p:spPr>
          <a:xfrm>
            <a:off x="5120639" y="157276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5" name="Google Shape;225;p39"/>
          <p:cNvSpPr txBox="1"/>
          <p:nvPr/>
        </p:nvSpPr>
        <p:spPr>
          <a:xfrm>
            <a:off x="5120639" y="202082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DP[5]</a:t>
            </a:r>
            <a:endParaRPr/>
          </a:p>
        </p:txBody>
      </p:sp>
      <p:sp>
        <p:nvSpPr>
          <p:cNvPr id="226" name="Google Shape;226;p39"/>
          <p:cNvSpPr txBox="1"/>
          <p:nvPr/>
        </p:nvSpPr>
        <p:spPr>
          <a:xfrm>
            <a:off x="731520" y="2606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227" name="Google Shape;227;p39"/>
          <p:cNvSpPr/>
          <p:nvPr/>
        </p:nvSpPr>
        <p:spPr>
          <a:xfrm>
            <a:off x="1828800" y="246888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1828800" y="253288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9" name="Google Shape;229;p39"/>
          <p:cNvSpPr/>
          <p:nvPr/>
        </p:nvSpPr>
        <p:spPr>
          <a:xfrm>
            <a:off x="2487168" y="246888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9"/>
          <p:cNvSpPr txBox="1"/>
          <p:nvPr/>
        </p:nvSpPr>
        <p:spPr>
          <a:xfrm>
            <a:off x="2487168" y="253288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1" name="Google Shape;231;p39"/>
          <p:cNvSpPr/>
          <p:nvPr/>
        </p:nvSpPr>
        <p:spPr>
          <a:xfrm>
            <a:off x="3145536" y="246888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9"/>
          <p:cNvSpPr txBox="1"/>
          <p:nvPr/>
        </p:nvSpPr>
        <p:spPr>
          <a:xfrm>
            <a:off x="3145536" y="253288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33" name="Google Shape;233;p39"/>
          <p:cNvSpPr/>
          <p:nvPr/>
        </p:nvSpPr>
        <p:spPr>
          <a:xfrm>
            <a:off x="3803904" y="246888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3803904" y="253288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35" name="Google Shape;235;p39"/>
          <p:cNvSpPr/>
          <p:nvPr/>
        </p:nvSpPr>
        <p:spPr>
          <a:xfrm>
            <a:off x="4462272" y="246888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9"/>
          <p:cNvSpPr txBox="1"/>
          <p:nvPr/>
        </p:nvSpPr>
        <p:spPr>
          <a:xfrm>
            <a:off x="4462272" y="253288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37" name="Google Shape;237;p39"/>
          <p:cNvSpPr/>
          <p:nvPr/>
        </p:nvSpPr>
        <p:spPr>
          <a:xfrm>
            <a:off x="5120639" y="2468880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5120639" y="253288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39" name="Google Shape;239;p39"/>
          <p:cNvSpPr/>
          <p:nvPr/>
        </p:nvSpPr>
        <p:spPr>
          <a:xfrm>
            <a:off x="777240" y="338328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9"/>
          <p:cNvSpPr/>
          <p:nvPr/>
        </p:nvSpPr>
        <p:spPr>
          <a:xfrm>
            <a:off x="914400" y="3538728"/>
            <a:ext cx="310896" cy="310896"/>
          </a:xfrm>
          <a:prstGeom prst="ellipse">
            <a:avLst/>
          </a:prstGeom>
          <a:solidFill>
            <a:srgbClr val="4172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914400" y="354330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42" name="Google Shape;242;p39"/>
          <p:cNvSpPr txBox="1"/>
          <p:nvPr/>
        </p:nvSpPr>
        <p:spPr>
          <a:xfrm>
            <a:off x="1335024" y="34838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243" name="Google Shape;243;p39"/>
          <p:cNvSpPr txBox="1"/>
          <p:nvPr/>
        </p:nvSpPr>
        <p:spPr>
          <a:xfrm>
            <a:off x="3255264" y="345643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Fill DP[0], DP[1], DP[2], …, DP[n] from left to right.</a:t>
            </a:r>
            <a:endParaRPr/>
          </a:p>
        </p:txBody>
      </p:sp>
      <p:sp>
        <p:nvSpPr>
          <p:cNvPr id="244" name="Google Shape;244;p39"/>
          <p:cNvSpPr/>
          <p:nvPr/>
        </p:nvSpPr>
        <p:spPr>
          <a:xfrm>
            <a:off x="777240" y="416052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9"/>
          <p:cNvSpPr/>
          <p:nvPr/>
        </p:nvSpPr>
        <p:spPr>
          <a:xfrm>
            <a:off x="914400" y="431596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914400" y="432054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47" name="Google Shape;247;p39"/>
          <p:cNvSpPr txBox="1"/>
          <p:nvPr/>
        </p:nvSpPr>
        <p:spPr>
          <a:xfrm>
            <a:off x="1335024" y="42611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/>
          </a:p>
        </p:txBody>
      </p:sp>
      <p:sp>
        <p:nvSpPr>
          <p:cNvPr id="248" name="Google Shape;248;p39"/>
          <p:cNvSpPr txBox="1"/>
          <p:nvPr/>
        </p:nvSpPr>
        <p:spPr>
          <a:xfrm>
            <a:off x="3255264" y="423367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n+1 entries × O(1) work per entry = O(n) time.</a:t>
            </a:r>
            <a:endParaRPr/>
          </a:p>
        </p:txBody>
      </p:sp>
      <p:sp>
        <p:nvSpPr>
          <p:cNvPr id="249" name="Google Shape;249;p39"/>
          <p:cNvSpPr txBox="1"/>
          <p:nvPr/>
        </p:nvSpPr>
        <p:spPr>
          <a:xfrm>
            <a:off x="8366760" y="51937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Tabulation avoids repeated recursion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0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Climb Stairs</a:t>
            </a:r>
            <a:endParaRPr/>
          </a:p>
        </p:txBody>
      </p:sp>
      <p:sp>
        <p:nvSpPr>
          <p:cNvPr id="256" name="Google Shape;256;p40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0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258" name="Google Shape;258;p40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259" name="Google Shape;259;p40"/>
          <p:cNvSpPr txBox="1"/>
          <p:nvPr/>
        </p:nvSpPr>
        <p:spPr>
          <a:xfrm>
            <a:off x="11612880" y="651052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60" name="Google Shape;260;p40"/>
          <p:cNvSpPr txBox="1"/>
          <p:nvPr/>
        </p:nvSpPr>
        <p:spPr>
          <a:xfrm>
            <a:off x="502920" y="9144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There are n stairs. At each move, you may climb 1, 2, or 3 stairs.</a:t>
            </a:r>
            <a:endParaRPr/>
          </a:p>
        </p:txBody>
      </p:sp>
      <p:sp>
        <p:nvSpPr>
          <p:cNvPr id="261" name="Google Shape;261;p40"/>
          <p:cNvSpPr/>
          <p:nvPr/>
        </p:nvSpPr>
        <p:spPr>
          <a:xfrm>
            <a:off x="822960" y="1645920"/>
            <a:ext cx="1051560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0"/>
          <p:cNvSpPr txBox="1"/>
          <p:nvPr/>
        </p:nvSpPr>
        <p:spPr>
          <a:xfrm>
            <a:off x="1097280" y="1874519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263" name="Google Shape;263;p40"/>
          <p:cNvSpPr txBox="1"/>
          <p:nvPr/>
        </p:nvSpPr>
        <p:spPr>
          <a:xfrm>
            <a:off x="1371600" y="2468880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Compute Climb-Stairs(n): the number of distinct ways to reach the top.</a:t>
            </a:r>
            <a:endParaRPr/>
          </a:p>
        </p:txBody>
      </p:sp>
      <p:sp>
        <p:nvSpPr>
          <p:cNvPr id="264" name="Google Shape;264;p40"/>
          <p:cNvSpPr txBox="1"/>
          <p:nvPr/>
        </p:nvSpPr>
        <p:spPr>
          <a:xfrm>
            <a:off x="1463040" y="342900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For n = 3:  [1+1+1], [1+2], [2+1], [3]  →  4 ways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409f75f860f_0_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409f75f860f_0_8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what are the base cases?</a:t>
            </a:r>
            <a:endParaRPr/>
          </a:p>
        </p:txBody>
      </p:sp>
      <p:sp>
        <p:nvSpPr>
          <p:cNvPr id="271" name="Google Shape;271;g409f75f860f_0_8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409f75f860f_0_8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273" name="Google Shape;273;g409f75f860f_0_8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274" name="Google Shape;274;g409f75f860f_0_8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what are the base cases?</a:t>
            </a:r>
            <a:endParaRPr/>
          </a:p>
        </p:txBody>
      </p:sp>
      <p:sp>
        <p:nvSpPr>
          <p:cNvPr id="281" name="Google Shape;281;p41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283" name="Google Shape;283;p41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284" name="Google Shape;284;p41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10</a:t>
            </a:r>
            <a:endParaRPr/>
          </a:p>
        </p:txBody>
      </p:sp>
      <p:sp>
        <p:nvSpPr>
          <p:cNvPr id="285" name="Google Shape;285;p41"/>
          <p:cNvSpPr/>
          <p:nvPr/>
        </p:nvSpPr>
        <p:spPr>
          <a:xfrm>
            <a:off x="914400" y="1417320"/>
            <a:ext cx="1033272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1"/>
          <p:cNvSpPr txBox="1"/>
          <p:nvPr/>
        </p:nvSpPr>
        <p:spPr>
          <a:xfrm>
            <a:off x="1143000" y="182880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287" name="Google Shape;287;p41"/>
          <p:cNvSpPr txBox="1"/>
          <p:nvPr/>
        </p:nvSpPr>
        <p:spPr>
          <a:xfrm>
            <a:off x="1188720" y="2468880"/>
            <a:ext cx="9784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should CS[0], CS[1], and CS[2] be?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2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what are the base cases?</a:t>
            </a:r>
            <a:endParaRPr/>
          </a:p>
        </p:txBody>
      </p:sp>
      <p:sp>
        <p:nvSpPr>
          <p:cNvPr id="294" name="Google Shape;294;p42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296" name="Google Shape;296;p42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297" name="Google Shape;297;p42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11</a:t>
            </a:r>
            <a:endParaRPr/>
          </a:p>
        </p:txBody>
      </p:sp>
      <p:sp>
        <p:nvSpPr>
          <p:cNvPr id="298" name="Google Shape;298;p42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Build the recurrence from the smallest instances.</a:t>
            </a:r>
            <a:endParaRPr/>
          </a:p>
        </p:txBody>
      </p:sp>
      <p:sp>
        <p:nvSpPr>
          <p:cNvPr id="299" name="Google Shape;299;p42"/>
          <p:cNvSpPr/>
          <p:nvPr/>
        </p:nvSpPr>
        <p:spPr>
          <a:xfrm>
            <a:off x="777240" y="15087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2"/>
          <p:cNvSpPr/>
          <p:nvPr/>
        </p:nvSpPr>
        <p:spPr>
          <a:xfrm>
            <a:off x="914400" y="166420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2"/>
          <p:cNvSpPr txBox="1"/>
          <p:nvPr/>
        </p:nvSpPr>
        <p:spPr>
          <a:xfrm>
            <a:off x="914400" y="16687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2" name="Google Shape;302;p42"/>
          <p:cNvSpPr txBox="1"/>
          <p:nvPr/>
        </p:nvSpPr>
        <p:spPr>
          <a:xfrm>
            <a:off x="1335024" y="16093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303" name="Google Shape;303;p42"/>
          <p:cNvSpPr txBox="1"/>
          <p:nvPr/>
        </p:nvSpPr>
        <p:spPr>
          <a:xfrm>
            <a:off x="3255264" y="15819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CS[0] = 1   Already at the top → one empty way.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3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what are the base cases?</a:t>
            </a:r>
            <a:endParaRPr/>
          </a:p>
        </p:txBody>
      </p:sp>
      <p:sp>
        <p:nvSpPr>
          <p:cNvPr id="310" name="Google Shape;310;p43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312" name="Google Shape;312;p43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313" name="Google Shape;313;p43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12</a:t>
            </a:r>
            <a:endParaRPr/>
          </a:p>
        </p:txBody>
      </p:sp>
      <p:sp>
        <p:nvSpPr>
          <p:cNvPr id="314" name="Google Shape;314;p43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Build the recurrence from the smallest instances.</a:t>
            </a:r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777240" y="15087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914400" y="1664208"/>
            <a:ext cx="310896" cy="310896"/>
          </a:xfrm>
          <a:prstGeom prst="ellipse">
            <a:avLst/>
          </a:prstGeom>
          <a:solidFill>
            <a:srgbClr val="4172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914400" y="16687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8" name="Google Shape;318;p43"/>
          <p:cNvSpPr txBox="1"/>
          <p:nvPr/>
        </p:nvSpPr>
        <p:spPr>
          <a:xfrm>
            <a:off x="1335024" y="16093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319" name="Google Shape;319;p43"/>
          <p:cNvSpPr txBox="1"/>
          <p:nvPr/>
        </p:nvSpPr>
        <p:spPr>
          <a:xfrm>
            <a:off x="3255264" y="15819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CS[0] = 1   Already at the top → one empty way.</a:t>
            </a:r>
            <a:endParaRPr/>
          </a:p>
        </p:txBody>
      </p:sp>
      <p:sp>
        <p:nvSpPr>
          <p:cNvPr id="320" name="Google Shape;320;p43"/>
          <p:cNvSpPr/>
          <p:nvPr/>
        </p:nvSpPr>
        <p:spPr>
          <a:xfrm>
            <a:off x="777240" y="24231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3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3"/>
          <p:cNvSpPr txBox="1"/>
          <p:nvPr/>
        </p:nvSpPr>
        <p:spPr>
          <a:xfrm>
            <a:off x="914400" y="25831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3" name="Google Shape;323;p43"/>
          <p:cNvSpPr txBox="1"/>
          <p:nvPr/>
        </p:nvSpPr>
        <p:spPr>
          <a:xfrm>
            <a:off x="1335024" y="25237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324" name="Google Shape;324;p43"/>
          <p:cNvSpPr txBox="1"/>
          <p:nvPr/>
        </p:nvSpPr>
        <p:spPr>
          <a:xfrm>
            <a:off x="3255264" y="24963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CS[1] = 1   Only one move: 1.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4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what are the base cases?</a:t>
            </a:r>
            <a:endParaRPr/>
          </a:p>
        </p:txBody>
      </p:sp>
      <p:sp>
        <p:nvSpPr>
          <p:cNvPr id="331" name="Google Shape;331;p44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333" name="Google Shape;333;p44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334" name="Google Shape;334;p44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13</a:t>
            </a:r>
            <a:endParaRPr/>
          </a:p>
        </p:txBody>
      </p:sp>
      <p:sp>
        <p:nvSpPr>
          <p:cNvPr id="335" name="Google Shape;335;p44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Build the recurrence from the smallest instances.</a:t>
            </a:r>
            <a:endParaRPr/>
          </a:p>
        </p:txBody>
      </p:sp>
      <p:sp>
        <p:nvSpPr>
          <p:cNvPr id="336" name="Google Shape;336;p44"/>
          <p:cNvSpPr/>
          <p:nvPr/>
        </p:nvSpPr>
        <p:spPr>
          <a:xfrm>
            <a:off x="777240" y="15087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914400" y="1664208"/>
            <a:ext cx="310896" cy="310896"/>
          </a:xfrm>
          <a:prstGeom prst="ellipse">
            <a:avLst/>
          </a:prstGeom>
          <a:solidFill>
            <a:srgbClr val="4172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 txBox="1"/>
          <p:nvPr/>
        </p:nvSpPr>
        <p:spPr>
          <a:xfrm>
            <a:off x="914400" y="16687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9" name="Google Shape;339;p44"/>
          <p:cNvSpPr txBox="1"/>
          <p:nvPr/>
        </p:nvSpPr>
        <p:spPr>
          <a:xfrm>
            <a:off x="1335024" y="16093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340" name="Google Shape;340;p44"/>
          <p:cNvSpPr txBox="1"/>
          <p:nvPr/>
        </p:nvSpPr>
        <p:spPr>
          <a:xfrm>
            <a:off x="3255264" y="15819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CS[0] = 1   Already at the top → one empty way.</a:t>
            </a:r>
            <a:endParaRPr/>
          </a:p>
        </p:txBody>
      </p:sp>
      <p:sp>
        <p:nvSpPr>
          <p:cNvPr id="341" name="Google Shape;341;p44"/>
          <p:cNvSpPr/>
          <p:nvPr/>
        </p:nvSpPr>
        <p:spPr>
          <a:xfrm>
            <a:off x="777240" y="24231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4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4172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4"/>
          <p:cNvSpPr txBox="1"/>
          <p:nvPr/>
        </p:nvSpPr>
        <p:spPr>
          <a:xfrm>
            <a:off x="914400" y="25831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44" name="Google Shape;344;p44"/>
          <p:cNvSpPr txBox="1"/>
          <p:nvPr/>
        </p:nvSpPr>
        <p:spPr>
          <a:xfrm>
            <a:off x="1335024" y="25237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345" name="Google Shape;345;p44"/>
          <p:cNvSpPr txBox="1"/>
          <p:nvPr/>
        </p:nvSpPr>
        <p:spPr>
          <a:xfrm>
            <a:off x="3255264" y="24963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CS[1] = 1   Only one move: 1.</a:t>
            </a:r>
            <a:endParaRPr/>
          </a:p>
        </p:txBody>
      </p:sp>
      <p:sp>
        <p:nvSpPr>
          <p:cNvPr id="346" name="Google Shape;346;p44"/>
          <p:cNvSpPr/>
          <p:nvPr/>
        </p:nvSpPr>
        <p:spPr>
          <a:xfrm>
            <a:off x="777240" y="333756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4"/>
          <p:cNvSpPr/>
          <p:nvPr/>
        </p:nvSpPr>
        <p:spPr>
          <a:xfrm>
            <a:off x="914400" y="349300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914400" y="349758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9" name="Google Shape;349;p44"/>
          <p:cNvSpPr txBox="1"/>
          <p:nvPr/>
        </p:nvSpPr>
        <p:spPr>
          <a:xfrm>
            <a:off x="1335024" y="34381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350" name="Google Shape;350;p44"/>
          <p:cNvSpPr txBox="1"/>
          <p:nvPr/>
        </p:nvSpPr>
        <p:spPr>
          <a:xfrm>
            <a:off x="3255264" y="341071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CS[2] = 2   Either 1+1 or 2.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derive the recurrence</a:t>
            </a:r>
            <a:endParaRPr/>
          </a:p>
        </p:txBody>
      </p:sp>
      <p:sp>
        <p:nvSpPr>
          <p:cNvPr id="357" name="Google Shape;357;p45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359" name="Google Shape;359;p45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360" name="Google Shape;360;p45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5C6370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409f75f860f_0_2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409f75f860f_0_20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derive the recurrence</a:t>
            </a:r>
            <a:endParaRPr/>
          </a:p>
        </p:txBody>
      </p:sp>
      <p:sp>
        <p:nvSpPr>
          <p:cNvPr id="367" name="Google Shape;367;g409f75f860f_0_20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409f75f860f_0_20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369" name="Google Shape;369;g409f75f860f_0_20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370" name="Google Shape;370;g409f75f860f_0_20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5C6370"/>
                </a:solidFill>
              </a:rPr>
              <a:t>5</a:t>
            </a:r>
            <a:endParaRPr/>
          </a:p>
        </p:txBody>
      </p:sp>
      <p:sp>
        <p:nvSpPr>
          <p:cNvPr id="371" name="Google Shape;371;g409f75f860f_0_20"/>
          <p:cNvSpPr/>
          <p:nvPr/>
        </p:nvSpPr>
        <p:spPr>
          <a:xfrm>
            <a:off x="914400" y="1417320"/>
            <a:ext cx="103326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409f75f860f_0_20"/>
          <p:cNvSpPr txBox="1"/>
          <p:nvPr/>
        </p:nvSpPr>
        <p:spPr>
          <a:xfrm>
            <a:off x="1143000" y="1828800"/>
            <a:ext cx="9875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373" name="Google Shape;373;g409f75f860f_0_20"/>
          <p:cNvSpPr txBox="1"/>
          <p:nvPr/>
        </p:nvSpPr>
        <p:spPr>
          <a:xfrm>
            <a:off x="1188720" y="2468880"/>
            <a:ext cx="9784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For n ≥ 3, where could the final move have come from?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409f75f860f_0_3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409f75f860f_0_32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derive the recurrence</a:t>
            </a:r>
            <a:endParaRPr/>
          </a:p>
        </p:txBody>
      </p:sp>
      <p:sp>
        <p:nvSpPr>
          <p:cNvPr id="380" name="Google Shape;380;g409f75f860f_0_32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409f75f860f_0_32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382" name="Google Shape;382;g409f75f860f_0_32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383" name="Google Shape;383;g409f75f860f_0_32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5C6370"/>
                </a:solidFill>
              </a:rPr>
              <a:t>6</a:t>
            </a:r>
            <a:endParaRPr/>
          </a:p>
        </p:txBody>
      </p:sp>
      <p:sp>
        <p:nvSpPr>
          <p:cNvPr id="384" name="Google Shape;384;g409f75f860f_0_32"/>
          <p:cNvSpPr txBox="1"/>
          <p:nvPr/>
        </p:nvSpPr>
        <p:spPr>
          <a:xfrm>
            <a:off x="502920" y="914400"/>
            <a:ext cx="10972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The final move is 1, 2, or 3 stairs.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6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1: derive the recurrence</a:t>
            </a:r>
            <a:endParaRPr/>
          </a:p>
        </p:txBody>
      </p:sp>
      <p:sp>
        <p:nvSpPr>
          <p:cNvPr id="391" name="Google Shape;391;p46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6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1</a:t>
            </a:r>
            <a:endParaRPr/>
          </a:p>
        </p:txBody>
      </p:sp>
      <p:sp>
        <p:nvSpPr>
          <p:cNvPr id="393" name="Google Shape;393;p46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394" name="Google Shape;394;p46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5C6370"/>
                </a:solidFill>
              </a:rPr>
              <a:t>7</a:t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50292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The final move is 1, 2, or 3 stairs.</a:t>
            </a:r>
            <a:endParaRPr/>
          </a:p>
        </p:txBody>
      </p:sp>
      <p:sp>
        <p:nvSpPr>
          <p:cNvPr id="396" name="Google Shape;396;p46"/>
          <p:cNvSpPr/>
          <p:nvPr/>
        </p:nvSpPr>
        <p:spPr>
          <a:xfrm>
            <a:off x="914400" y="1737360"/>
            <a:ext cx="1033272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6"/>
          <p:cNvSpPr txBox="1"/>
          <p:nvPr/>
        </p:nvSpPr>
        <p:spPr>
          <a:xfrm>
            <a:off x="1280160" y="20574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CS[n] = CS[n−1] + CS[n−2] + CS[n−3]</a:t>
            </a:r>
            <a:endParaRPr/>
          </a:p>
        </p:txBody>
      </p:sp>
      <p:sp>
        <p:nvSpPr>
          <p:cNvPr id="398" name="Google Shape;398;p46"/>
          <p:cNvSpPr txBox="1"/>
          <p:nvPr/>
        </p:nvSpPr>
        <p:spPr>
          <a:xfrm>
            <a:off x="1371600" y="297180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Each term counts paths whose final jump has a different length, so the cases are disjoint and their counts add.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McNuggets</a:t>
            </a:r>
            <a:endParaRPr/>
          </a:p>
        </p:txBody>
      </p:sp>
      <p:sp>
        <p:nvSpPr>
          <p:cNvPr id="405" name="Google Shape;405;p47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7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07" name="Google Shape;407;p47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08" name="Google Shape;408;p47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5C6370"/>
                </a:solidFill>
              </a:rPr>
              <a:t>8</a:t>
            </a:r>
            <a:endParaRPr/>
          </a:p>
        </p:txBody>
      </p:sp>
      <p:sp>
        <p:nvSpPr>
          <p:cNvPr id="409" name="Google Shape;409;p47"/>
          <p:cNvSpPr txBox="1"/>
          <p:nvPr/>
        </p:nvSpPr>
        <p:spPr>
          <a:xfrm>
            <a:off x="502920" y="868680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Given meal sizes M[1..n] and a target t, can we purchase exactly t McNuggets? Meal types can be reused.</a:t>
            </a:r>
            <a:endParaRPr/>
          </a:p>
        </p:txBody>
      </p:sp>
      <p:sp>
        <p:nvSpPr>
          <p:cNvPr id="410" name="Google Shape;410;p47"/>
          <p:cNvSpPr/>
          <p:nvPr/>
        </p:nvSpPr>
        <p:spPr>
          <a:xfrm>
            <a:off x="822960" y="1600200"/>
            <a:ext cx="105156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7"/>
          <p:cNvSpPr txBox="1"/>
          <p:nvPr/>
        </p:nvSpPr>
        <p:spPr>
          <a:xfrm>
            <a:off x="1097280" y="1874519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412" name="Google Shape;412;p47"/>
          <p:cNvSpPr txBox="1"/>
          <p:nvPr/>
        </p:nvSpPr>
        <p:spPr>
          <a:xfrm>
            <a:off x="1325880" y="242316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M = [4, 6, 10, 20]</a:t>
            </a:r>
            <a:endParaRPr/>
          </a:p>
        </p:txBody>
      </p:sp>
      <p:sp>
        <p:nvSpPr>
          <p:cNvPr id="413" name="Google Shape;413;p47"/>
          <p:cNvSpPr txBox="1"/>
          <p:nvPr/>
        </p:nvSpPr>
        <p:spPr>
          <a:xfrm>
            <a:off x="1371600" y="320040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 = 22  →  YES</a:t>
            </a:r>
            <a:b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6 + 6 + 10 = 22</a:t>
            </a:r>
            <a:endParaRPr/>
          </a:p>
        </p:txBody>
      </p:sp>
      <p:sp>
        <p:nvSpPr>
          <p:cNvPr id="414" name="Google Shape;414;p47"/>
          <p:cNvSpPr txBox="1"/>
          <p:nvPr/>
        </p:nvSpPr>
        <p:spPr>
          <a:xfrm>
            <a:off x="6217920" y="320040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24D43"/>
                </a:solidFill>
                <a:latin typeface="Arial"/>
                <a:ea typeface="Arial"/>
                <a:cs typeface="Arial"/>
                <a:sym typeface="Arial"/>
              </a:rPr>
              <a:t>t = 13  →  NO</a:t>
            </a:r>
            <a:endParaRPr/>
          </a:p>
        </p:txBody>
      </p:sp>
      <p:sp>
        <p:nvSpPr>
          <p:cNvPr id="415" name="Google Shape;415;p47"/>
          <p:cNvSpPr txBox="1"/>
          <p:nvPr/>
        </p:nvSpPr>
        <p:spPr>
          <a:xfrm>
            <a:off x="2011680" y="4251960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State idea: S(i) = “is exact total i achievable?”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8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think about the base cases</a:t>
            </a:r>
            <a:endParaRPr/>
          </a:p>
        </p:txBody>
      </p:sp>
      <p:sp>
        <p:nvSpPr>
          <p:cNvPr id="422" name="Google Shape;422;p48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8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24" name="Google Shape;424;p48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25" name="Google Shape;425;p48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solidFill>
                  <a:srgbClr val="5C6370"/>
                </a:solidFill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09f75f860f_0_4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409f75f860f_0_45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think about the base cases</a:t>
            </a:r>
            <a:endParaRPr/>
          </a:p>
        </p:txBody>
      </p:sp>
      <p:sp>
        <p:nvSpPr>
          <p:cNvPr id="432" name="Google Shape;432;g409f75f860f_0_45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409f75f860f_0_45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34" name="Google Shape;434;g409f75f860f_0_45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35" name="Google Shape;435;g409f75f860f_0_45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20</a:t>
            </a:r>
            <a:endParaRPr/>
          </a:p>
        </p:txBody>
      </p:sp>
      <p:sp>
        <p:nvSpPr>
          <p:cNvPr id="436" name="Google Shape;436;g409f75f860f_0_45"/>
          <p:cNvSpPr/>
          <p:nvPr/>
        </p:nvSpPr>
        <p:spPr>
          <a:xfrm>
            <a:off x="914400" y="1417320"/>
            <a:ext cx="103326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409f75f860f_0_45"/>
          <p:cNvSpPr txBox="1"/>
          <p:nvPr/>
        </p:nvSpPr>
        <p:spPr>
          <a:xfrm>
            <a:off x="1143000" y="1828800"/>
            <a:ext cx="9875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438" name="Google Shape;438;g409f75f860f_0_45"/>
          <p:cNvSpPr txBox="1"/>
          <p:nvPr/>
        </p:nvSpPr>
        <p:spPr>
          <a:xfrm>
            <a:off x="1188720" y="2468880"/>
            <a:ext cx="9784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What should S(0) and S(i) for i &lt; 0 mean?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base cases</a:t>
            </a:r>
            <a:endParaRPr/>
          </a:p>
        </p:txBody>
      </p:sp>
      <p:sp>
        <p:nvSpPr>
          <p:cNvPr id="445" name="Google Shape;445;p49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9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47" name="Google Shape;447;p49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48" name="Google Shape;448;p49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21</a:t>
            </a:r>
            <a:endParaRPr/>
          </a:p>
        </p:txBody>
      </p:sp>
      <p:sp>
        <p:nvSpPr>
          <p:cNvPr id="449" name="Google Shape;449;p49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S(i) is a Boolean value.</a:t>
            </a:r>
            <a:endParaRPr/>
          </a:p>
        </p:txBody>
      </p:sp>
      <p:sp>
        <p:nvSpPr>
          <p:cNvPr id="450" name="Google Shape;450;p49"/>
          <p:cNvSpPr/>
          <p:nvPr/>
        </p:nvSpPr>
        <p:spPr>
          <a:xfrm>
            <a:off x="777240" y="164592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914400" y="180136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9"/>
          <p:cNvSpPr txBox="1"/>
          <p:nvPr/>
        </p:nvSpPr>
        <p:spPr>
          <a:xfrm>
            <a:off x="914400" y="180594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3" name="Google Shape;453;p49"/>
          <p:cNvSpPr txBox="1"/>
          <p:nvPr/>
        </p:nvSpPr>
        <p:spPr>
          <a:xfrm>
            <a:off x="1335024" y="17465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454" name="Google Shape;454;p49"/>
          <p:cNvSpPr txBox="1"/>
          <p:nvPr/>
        </p:nvSpPr>
        <p:spPr>
          <a:xfrm>
            <a:off x="3255264" y="171907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S(0) = true   Buy nothing: exact total 0 is achievable.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0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0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base cases</a:t>
            </a:r>
            <a:endParaRPr/>
          </a:p>
        </p:txBody>
      </p:sp>
      <p:sp>
        <p:nvSpPr>
          <p:cNvPr id="461" name="Google Shape;461;p50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0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63" name="Google Shape;463;p50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64" name="Google Shape;464;p50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</a:t>
            </a: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65" name="Google Shape;465;p50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S(i) is a Boolean value.</a:t>
            </a:r>
            <a:endParaRPr/>
          </a:p>
        </p:txBody>
      </p:sp>
      <p:sp>
        <p:nvSpPr>
          <p:cNvPr id="466" name="Google Shape;466;p50"/>
          <p:cNvSpPr/>
          <p:nvPr/>
        </p:nvSpPr>
        <p:spPr>
          <a:xfrm>
            <a:off x="777240" y="164592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914400" y="1801368"/>
            <a:ext cx="310896" cy="310896"/>
          </a:xfrm>
          <a:prstGeom prst="ellipse">
            <a:avLst/>
          </a:prstGeom>
          <a:solidFill>
            <a:srgbClr val="4172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0"/>
          <p:cNvSpPr txBox="1"/>
          <p:nvPr/>
        </p:nvSpPr>
        <p:spPr>
          <a:xfrm>
            <a:off x="914400" y="180594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69" name="Google Shape;469;p50"/>
          <p:cNvSpPr txBox="1"/>
          <p:nvPr/>
        </p:nvSpPr>
        <p:spPr>
          <a:xfrm>
            <a:off x="1335024" y="17465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470" name="Google Shape;470;p50"/>
          <p:cNvSpPr txBox="1"/>
          <p:nvPr/>
        </p:nvSpPr>
        <p:spPr>
          <a:xfrm>
            <a:off x="3255264" y="171907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S(0) = true   Buy nothing: exact total 0 is achievable.</a:t>
            </a:r>
            <a:endParaRPr/>
          </a:p>
        </p:txBody>
      </p:sp>
      <p:sp>
        <p:nvSpPr>
          <p:cNvPr id="471" name="Google Shape;471;p50"/>
          <p:cNvSpPr/>
          <p:nvPr/>
        </p:nvSpPr>
        <p:spPr>
          <a:xfrm>
            <a:off x="777240" y="260604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0"/>
          <p:cNvSpPr/>
          <p:nvPr/>
        </p:nvSpPr>
        <p:spPr>
          <a:xfrm>
            <a:off x="914400" y="276148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0"/>
          <p:cNvSpPr txBox="1"/>
          <p:nvPr/>
        </p:nvSpPr>
        <p:spPr>
          <a:xfrm>
            <a:off x="914400" y="276606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74" name="Google Shape;474;p50"/>
          <p:cNvSpPr txBox="1"/>
          <p:nvPr/>
        </p:nvSpPr>
        <p:spPr>
          <a:xfrm>
            <a:off x="1335024" y="27066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475" name="Google Shape;475;p50"/>
          <p:cNvSpPr txBox="1"/>
          <p:nvPr/>
        </p:nvSpPr>
        <p:spPr>
          <a:xfrm>
            <a:off x="3255264" y="267919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S(i) = false for i &lt; 0   We cannot buy a negative number of nuggets.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1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think about the recurrence</a:t>
            </a:r>
            <a:endParaRPr/>
          </a:p>
        </p:txBody>
      </p:sp>
      <p:sp>
        <p:nvSpPr>
          <p:cNvPr id="482" name="Google Shape;482;p51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1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84" name="Google Shape;484;p51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85" name="Google Shape;485;p51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409f75f860f_0_5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409f75f860f_0_58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think about the recurrence</a:t>
            </a:r>
            <a:endParaRPr/>
          </a:p>
        </p:txBody>
      </p:sp>
      <p:sp>
        <p:nvSpPr>
          <p:cNvPr id="492" name="Google Shape;492;g409f75f860f_0_58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409f75f860f_0_58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494" name="Google Shape;494;g409f75f860f_0_58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495" name="Google Shape;495;g409f75f860f_0_58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24</a:t>
            </a:r>
            <a:endParaRPr/>
          </a:p>
        </p:txBody>
      </p:sp>
      <p:sp>
        <p:nvSpPr>
          <p:cNvPr id="496" name="Google Shape;496;g409f75f860f_0_58"/>
          <p:cNvSpPr/>
          <p:nvPr/>
        </p:nvSpPr>
        <p:spPr>
          <a:xfrm>
            <a:off x="914400" y="1417320"/>
            <a:ext cx="103326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409f75f860f_0_58"/>
          <p:cNvSpPr txBox="1"/>
          <p:nvPr/>
        </p:nvSpPr>
        <p:spPr>
          <a:xfrm>
            <a:off x="1143000" y="1828800"/>
            <a:ext cx="9875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498" name="Google Shape;498;g409f75f860f_0_58"/>
          <p:cNvSpPr txBox="1"/>
          <p:nvPr/>
        </p:nvSpPr>
        <p:spPr>
          <a:xfrm>
            <a:off x="1188720" y="2468880"/>
            <a:ext cx="9784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To make total i, what could the last purchased meal be?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2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2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2: recurrence</a:t>
            </a:r>
            <a:endParaRPr/>
          </a:p>
        </p:txBody>
      </p:sp>
      <p:sp>
        <p:nvSpPr>
          <p:cNvPr id="505" name="Google Shape;505;p52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2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2</a:t>
            </a:r>
            <a:endParaRPr/>
          </a:p>
        </p:txBody>
      </p:sp>
      <p:sp>
        <p:nvSpPr>
          <p:cNvPr id="507" name="Google Shape;507;p52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08" name="Google Shape;508;p52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25</a:t>
            </a:r>
            <a:endParaRPr/>
          </a:p>
        </p:txBody>
      </p:sp>
      <p:sp>
        <p:nvSpPr>
          <p:cNvPr id="509" name="Google Shape;509;p52"/>
          <p:cNvSpPr/>
          <p:nvPr/>
        </p:nvSpPr>
        <p:spPr>
          <a:xfrm>
            <a:off x="868680" y="1325880"/>
            <a:ext cx="10424160" cy="3520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2"/>
          <p:cNvSpPr txBox="1"/>
          <p:nvPr/>
        </p:nvSpPr>
        <p:spPr>
          <a:xfrm>
            <a:off x="1097280" y="1600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Try every meal type</a:t>
            </a:r>
            <a:endParaRPr/>
          </a:p>
        </p:txBody>
      </p:sp>
      <p:sp>
        <p:nvSpPr>
          <p:cNvPr id="511" name="Google Shape;511;p52"/>
          <p:cNvSpPr txBox="1"/>
          <p:nvPr/>
        </p:nvSpPr>
        <p:spPr>
          <a:xfrm>
            <a:off x="1371600" y="224028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S(i) =  ⋁   S(i − M[j])</a:t>
            </a:r>
            <a:endParaRPr/>
          </a:p>
        </p:txBody>
      </p:sp>
      <p:sp>
        <p:nvSpPr>
          <p:cNvPr id="512" name="Google Shape;512;p52"/>
          <p:cNvSpPr txBox="1"/>
          <p:nvPr/>
        </p:nvSpPr>
        <p:spPr>
          <a:xfrm>
            <a:off x="4983480" y="27432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j = 1 … n</a:t>
            </a:r>
            <a:endParaRPr/>
          </a:p>
        </p:txBody>
      </p:sp>
      <p:sp>
        <p:nvSpPr>
          <p:cNvPr id="513" name="Google Shape;513;p52"/>
          <p:cNvSpPr txBox="1"/>
          <p:nvPr/>
        </p:nvSpPr>
        <p:spPr>
          <a:xfrm>
            <a:off x="1371600" y="333756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If any remainder i − M[j] is achievable, then i is achievable by buying meal j last.</a:t>
            </a:r>
            <a:endParaRPr/>
          </a:p>
        </p:txBody>
      </p:sp>
      <p:sp>
        <p:nvSpPr>
          <p:cNvPr id="514" name="Google Shape;514;p52"/>
          <p:cNvSpPr txBox="1"/>
          <p:nvPr/>
        </p:nvSpPr>
        <p:spPr>
          <a:xfrm>
            <a:off x="3200400" y="51663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t states × n meal choices → O(tn)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3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3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Tilings</a:t>
            </a:r>
            <a:endParaRPr/>
          </a:p>
        </p:txBody>
      </p:sp>
      <p:sp>
        <p:nvSpPr>
          <p:cNvPr id="521" name="Google Shape;521;p53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3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23" name="Google Shape;523;p53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24" name="Google Shape;524;p53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26</a:t>
            </a:r>
            <a:endParaRPr/>
          </a:p>
        </p:txBody>
      </p:sp>
      <p:sp>
        <p:nvSpPr>
          <p:cNvPr id="525" name="Google Shape;525;p53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Tile a path of length n using an unlimited supply of k block types with distinct lengths ℓ₁,…,ℓₖ.</a:t>
            </a:r>
            <a:endParaRPr/>
          </a:p>
        </p:txBody>
      </p:sp>
      <p:sp>
        <p:nvSpPr>
          <p:cNvPr id="526" name="Google Shape;526;p53"/>
          <p:cNvSpPr/>
          <p:nvPr/>
        </p:nvSpPr>
        <p:spPr>
          <a:xfrm>
            <a:off x="868680" y="1691640"/>
            <a:ext cx="10424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3"/>
          <p:cNvSpPr txBox="1"/>
          <p:nvPr/>
        </p:nvSpPr>
        <p:spPr>
          <a:xfrm>
            <a:off x="1143000" y="1965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528" name="Google Shape;528;p53"/>
          <p:cNvSpPr txBox="1"/>
          <p:nvPr/>
        </p:nvSpPr>
        <p:spPr>
          <a:xfrm>
            <a:off x="1463040" y="25146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Tilings(i) = number of ways to tile a path of total length i</a:t>
            </a:r>
            <a:endParaRPr/>
          </a:p>
        </p:txBody>
      </p:sp>
      <p:sp>
        <p:nvSpPr>
          <p:cNvPr id="529" name="Google Shape;529;p53"/>
          <p:cNvSpPr txBox="1"/>
          <p:nvPr/>
        </p:nvSpPr>
        <p:spPr>
          <a:xfrm>
            <a:off x="1463040" y="3429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Example: lengths {1,2}, n=3 → [1,1,1], [1,2], [2,1] → 3 tilings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4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4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think about the base case</a:t>
            </a:r>
            <a:endParaRPr/>
          </a:p>
        </p:txBody>
      </p:sp>
      <p:sp>
        <p:nvSpPr>
          <p:cNvPr id="536" name="Google Shape;536;p54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4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38" name="Google Shape;538;p54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39" name="Google Shape;539;p54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409f75f860f_0_7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409f75f860f_0_70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think about the base case</a:t>
            </a:r>
            <a:endParaRPr/>
          </a:p>
        </p:txBody>
      </p:sp>
      <p:sp>
        <p:nvSpPr>
          <p:cNvPr id="546" name="Google Shape;546;g409f75f860f_0_70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409f75f860f_0_70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48" name="Google Shape;548;g409f75f860f_0_70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49" name="Google Shape;549;g409f75f860f_0_70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28</a:t>
            </a:r>
            <a:endParaRPr/>
          </a:p>
        </p:txBody>
      </p:sp>
      <p:sp>
        <p:nvSpPr>
          <p:cNvPr id="550" name="Google Shape;550;g409f75f860f_0_70"/>
          <p:cNvSpPr/>
          <p:nvPr/>
        </p:nvSpPr>
        <p:spPr>
          <a:xfrm>
            <a:off x="914400" y="1417320"/>
            <a:ext cx="103326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409f75f860f_0_70"/>
          <p:cNvSpPr txBox="1"/>
          <p:nvPr/>
        </p:nvSpPr>
        <p:spPr>
          <a:xfrm>
            <a:off x="1143000" y="1828800"/>
            <a:ext cx="9875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552" name="Google Shape;552;g409f75f860f_0_70"/>
          <p:cNvSpPr txBox="1"/>
          <p:nvPr/>
        </p:nvSpPr>
        <p:spPr>
          <a:xfrm>
            <a:off x="1188720" y="2468880"/>
            <a:ext cx="9784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How many ways are there to tile a path of length 0?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5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base case</a:t>
            </a:r>
            <a:endParaRPr/>
          </a:p>
        </p:txBody>
      </p:sp>
      <p:sp>
        <p:nvSpPr>
          <p:cNvPr id="559" name="Google Shape;559;p55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5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61" name="Google Shape;561;p55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62" name="Google Shape;562;p55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29</a:t>
            </a:r>
            <a:endParaRPr/>
          </a:p>
        </p:txBody>
      </p:sp>
      <p:sp>
        <p:nvSpPr>
          <p:cNvPr id="563" name="Google Shape;563;p55"/>
          <p:cNvSpPr/>
          <p:nvPr/>
        </p:nvSpPr>
        <p:spPr>
          <a:xfrm>
            <a:off x="914400" y="1645920"/>
            <a:ext cx="10332720" cy="2926080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5"/>
          <p:cNvSpPr txBox="1"/>
          <p:nvPr/>
        </p:nvSpPr>
        <p:spPr>
          <a:xfrm>
            <a:off x="1280160" y="2057400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Tilings(0) = 1</a:t>
            </a:r>
            <a:endParaRPr/>
          </a:p>
        </p:txBody>
      </p:sp>
      <p:sp>
        <p:nvSpPr>
          <p:cNvPr id="565" name="Google Shape;565;p55"/>
          <p:cNvSpPr txBox="1"/>
          <p:nvPr/>
        </p:nvSpPr>
        <p:spPr>
          <a:xfrm>
            <a:off x="1417320" y="2971800"/>
            <a:ext cx="9235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There is exactly one way to tile zero length: use zero tiles.</a:t>
            </a:r>
            <a:b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When a term would use negative remaining length, simply omit it.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6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6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think about the recurrence</a:t>
            </a:r>
            <a:endParaRPr/>
          </a:p>
        </p:txBody>
      </p:sp>
      <p:sp>
        <p:nvSpPr>
          <p:cNvPr id="572" name="Google Shape;572;p56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6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74" name="Google Shape;574;p56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75" name="Google Shape;575;p56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409f75f860f_0_82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409f75f860f_0_82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think about the recurrence</a:t>
            </a:r>
            <a:endParaRPr/>
          </a:p>
        </p:txBody>
      </p:sp>
      <p:sp>
        <p:nvSpPr>
          <p:cNvPr id="582" name="Google Shape;582;g409f75f860f_0_82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409f75f860f_0_82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84" name="Google Shape;584;g409f75f860f_0_82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85" name="Google Shape;585;g409f75f860f_0_82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31</a:t>
            </a:r>
            <a:endParaRPr/>
          </a:p>
        </p:txBody>
      </p:sp>
      <p:sp>
        <p:nvSpPr>
          <p:cNvPr id="586" name="Google Shape;586;g409f75f860f_0_82"/>
          <p:cNvSpPr/>
          <p:nvPr/>
        </p:nvSpPr>
        <p:spPr>
          <a:xfrm>
            <a:off x="914400" y="1417320"/>
            <a:ext cx="103326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409f75f860f_0_82"/>
          <p:cNvSpPr txBox="1"/>
          <p:nvPr/>
        </p:nvSpPr>
        <p:spPr>
          <a:xfrm>
            <a:off x="1143000" y="1828800"/>
            <a:ext cx="9875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588" name="Google Shape;588;g409f75f860f_0_82"/>
          <p:cNvSpPr txBox="1"/>
          <p:nvPr/>
        </p:nvSpPr>
        <p:spPr>
          <a:xfrm>
            <a:off x="1188720" y="2468880"/>
            <a:ext cx="97842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Condition on the length of the last tile. What subproblem remains?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7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7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3: recurrence</a:t>
            </a:r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3</a:t>
            </a:r>
            <a:endParaRPr/>
          </a:p>
        </p:txBody>
      </p:sp>
      <p:sp>
        <p:nvSpPr>
          <p:cNvPr id="597" name="Google Shape;597;p57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598" name="Google Shape;598;p57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32</a:t>
            </a:r>
            <a:endParaRPr/>
          </a:p>
        </p:txBody>
      </p:sp>
      <p:sp>
        <p:nvSpPr>
          <p:cNvPr id="599" name="Google Shape;599;p57"/>
          <p:cNvSpPr/>
          <p:nvPr/>
        </p:nvSpPr>
        <p:spPr>
          <a:xfrm>
            <a:off x="868680" y="1417320"/>
            <a:ext cx="1042416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7"/>
          <p:cNvSpPr txBox="1"/>
          <p:nvPr/>
        </p:nvSpPr>
        <p:spPr>
          <a:xfrm>
            <a:off x="114300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Choose the last tile</a:t>
            </a:r>
            <a:endParaRPr/>
          </a:p>
        </p:txBody>
      </p:sp>
      <p:sp>
        <p:nvSpPr>
          <p:cNvPr id="601" name="Google Shape;601;p57"/>
          <p:cNvSpPr txBox="1"/>
          <p:nvPr/>
        </p:nvSpPr>
        <p:spPr>
          <a:xfrm>
            <a:off x="1325880" y="2331720"/>
            <a:ext cx="9509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Tilings(i) =  Σ  Tilings(i − ℓⱼ)</a:t>
            </a:r>
            <a:endParaRPr/>
          </a:p>
        </p:txBody>
      </p:sp>
      <p:sp>
        <p:nvSpPr>
          <p:cNvPr id="602" name="Google Shape;602;p57"/>
          <p:cNvSpPr txBox="1"/>
          <p:nvPr/>
        </p:nvSpPr>
        <p:spPr>
          <a:xfrm>
            <a:off x="2743200" y="292608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sum only over j with i − ℓⱼ ≥ 0</a:t>
            </a:r>
            <a:endParaRPr/>
          </a:p>
        </p:txBody>
      </p:sp>
      <p:sp>
        <p:nvSpPr>
          <p:cNvPr id="603" name="Google Shape;603;p57"/>
          <p:cNvSpPr txBox="1"/>
          <p:nvPr/>
        </p:nvSpPr>
        <p:spPr>
          <a:xfrm>
            <a:off x="1371600" y="35661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Fill i = 1,2,…,n; for each i try all k block lengths → O(nk) time.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8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8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Longest Arithmetic Subsequence</a:t>
            </a:r>
            <a:endParaRPr/>
          </a:p>
        </p:txBody>
      </p:sp>
      <p:sp>
        <p:nvSpPr>
          <p:cNvPr id="610" name="Google Shape;610;p58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8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/>
          </a:p>
        </p:txBody>
      </p:sp>
      <p:sp>
        <p:nvSpPr>
          <p:cNvPr id="612" name="Google Shape;612;p58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613" name="Google Shape;613;p58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33</a:t>
            </a:r>
            <a:endParaRPr/>
          </a:p>
        </p:txBody>
      </p:sp>
      <p:sp>
        <p:nvSpPr>
          <p:cNvPr id="614" name="Google Shape;614;p58"/>
          <p:cNvSpPr txBox="1"/>
          <p:nvPr/>
        </p:nvSpPr>
        <p:spPr>
          <a:xfrm>
            <a:off x="502920" y="868680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Given an integer array A and a fixed difference d, find the length of the longest subsequence whose consecutive values differ by d.</a:t>
            </a:r>
            <a:endParaRPr/>
          </a:p>
        </p:txBody>
      </p:sp>
      <p:sp>
        <p:nvSpPr>
          <p:cNvPr id="615" name="Google Shape;615;p58"/>
          <p:cNvSpPr/>
          <p:nvPr/>
        </p:nvSpPr>
        <p:spPr>
          <a:xfrm>
            <a:off x="777240" y="1600200"/>
            <a:ext cx="10698480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8"/>
          <p:cNvSpPr txBox="1"/>
          <p:nvPr/>
        </p:nvSpPr>
        <p:spPr>
          <a:xfrm>
            <a:off x="1051560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617" name="Google Shape;617;p58"/>
          <p:cNvSpPr txBox="1"/>
          <p:nvPr/>
        </p:nvSpPr>
        <p:spPr>
          <a:xfrm>
            <a:off x="109728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 =</a:t>
            </a:r>
            <a:endParaRPr/>
          </a:p>
        </p:txBody>
      </p:sp>
      <p:sp>
        <p:nvSpPr>
          <p:cNvPr id="618" name="Google Shape;618;p58"/>
          <p:cNvSpPr/>
          <p:nvPr/>
        </p:nvSpPr>
        <p:spPr>
          <a:xfrm>
            <a:off x="2057400" y="2176272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8"/>
          <p:cNvSpPr txBox="1"/>
          <p:nvPr/>
        </p:nvSpPr>
        <p:spPr>
          <a:xfrm>
            <a:off x="2057400" y="2240280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20" name="Google Shape;620;p58"/>
          <p:cNvSpPr txBox="1"/>
          <p:nvPr/>
        </p:nvSpPr>
        <p:spPr>
          <a:xfrm>
            <a:off x="2057400" y="2688336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21" name="Google Shape;621;p58"/>
          <p:cNvSpPr/>
          <p:nvPr/>
        </p:nvSpPr>
        <p:spPr>
          <a:xfrm>
            <a:off x="2715768" y="2176272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8"/>
          <p:cNvSpPr txBox="1"/>
          <p:nvPr/>
        </p:nvSpPr>
        <p:spPr>
          <a:xfrm>
            <a:off x="2715768" y="2240280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623" name="Google Shape;623;p58"/>
          <p:cNvSpPr txBox="1"/>
          <p:nvPr/>
        </p:nvSpPr>
        <p:spPr>
          <a:xfrm>
            <a:off x="2715768" y="2688336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24" name="Google Shape;624;p58"/>
          <p:cNvSpPr/>
          <p:nvPr/>
        </p:nvSpPr>
        <p:spPr>
          <a:xfrm>
            <a:off x="3374136" y="2176272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8"/>
          <p:cNvSpPr txBox="1"/>
          <p:nvPr/>
        </p:nvSpPr>
        <p:spPr>
          <a:xfrm>
            <a:off x="3374136" y="2240280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26" name="Google Shape;626;p58"/>
          <p:cNvSpPr txBox="1"/>
          <p:nvPr/>
        </p:nvSpPr>
        <p:spPr>
          <a:xfrm>
            <a:off x="3374136" y="2688336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27" name="Google Shape;627;p58"/>
          <p:cNvSpPr/>
          <p:nvPr/>
        </p:nvSpPr>
        <p:spPr>
          <a:xfrm>
            <a:off x="4032504" y="2176272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8"/>
          <p:cNvSpPr txBox="1"/>
          <p:nvPr/>
        </p:nvSpPr>
        <p:spPr>
          <a:xfrm>
            <a:off x="4032504" y="2240280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629" name="Google Shape;629;p58"/>
          <p:cNvSpPr txBox="1"/>
          <p:nvPr/>
        </p:nvSpPr>
        <p:spPr>
          <a:xfrm>
            <a:off x="4032504" y="2688336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30" name="Google Shape;630;p58"/>
          <p:cNvSpPr/>
          <p:nvPr/>
        </p:nvSpPr>
        <p:spPr>
          <a:xfrm>
            <a:off x="4690872" y="2176272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8"/>
          <p:cNvSpPr txBox="1"/>
          <p:nvPr/>
        </p:nvSpPr>
        <p:spPr>
          <a:xfrm>
            <a:off x="4690872" y="2240280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632" name="Google Shape;632;p58"/>
          <p:cNvSpPr txBox="1"/>
          <p:nvPr/>
        </p:nvSpPr>
        <p:spPr>
          <a:xfrm>
            <a:off x="4690872" y="2688336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33" name="Google Shape;633;p58"/>
          <p:cNvSpPr/>
          <p:nvPr/>
        </p:nvSpPr>
        <p:spPr>
          <a:xfrm>
            <a:off x="5349239" y="2176272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8"/>
          <p:cNvSpPr txBox="1"/>
          <p:nvPr/>
        </p:nvSpPr>
        <p:spPr>
          <a:xfrm>
            <a:off x="5349239" y="2240280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635" name="Google Shape;635;p58"/>
          <p:cNvSpPr txBox="1"/>
          <p:nvPr/>
        </p:nvSpPr>
        <p:spPr>
          <a:xfrm>
            <a:off x="5349239" y="2688336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36" name="Google Shape;636;p58"/>
          <p:cNvSpPr txBox="1"/>
          <p:nvPr/>
        </p:nvSpPr>
        <p:spPr>
          <a:xfrm>
            <a:off x="1371600" y="3246120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For d = 2, 3 (i=1), 5 (i=3), 7 (i=5) is a valid arithmetic subsequence.</a:t>
            </a:r>
            <a:endParaRPr/>
          </a:p>
        </p:txBody>
      </p:sp>
      <p:sp>
        <p:nvSpPr>
          <p:cNvPr id="637" name="Google Shape;637;p58"/>
          <p:cNvSpPr txBox="1"/>
          <p:nvPr/>
        </p:nvSpPr>
        <p:spPr>
          <a:xfrm>
            <a:off x="1371600" y="3977639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The chosen elements do not need to be contiguous, but their indices must increase.</a:t>
            </a:r>
            <a:endParaRPr/>
          </a:p>
        </p:txBody>
      </p:sp>
      <p:sp>
        <p:nvSpPr>
          <p:cNvPr id="638" name="Google Shape;638;p58"/>
          <p:cNvSpPr txBox="1"/>
          <p:nvPr/>
        </p:nvSpPr>
        <p:spPr>
          <a:xfrm>
            <a:off x="1828800" y="5166360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State: L[i] = longest valid subsequence ending exactly at index i.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9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9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think about the base case + recurrence</a:t>
            </a:r>
            <a:endParaRPr/>
          </a:p>
        </p:txBody>
      </p:sp>
      <p:sp>
        <p:nvSpPr>
          <p:cNvPr id="645" name="Google Shape;645;p59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9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/>
          </a:p>
        </p:txBody>
      </p:sp>
      <p:sp>
        <p:nvSpPr>
          <p:cNvPr id="647" name="Google Shape;647;p59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648" name="Google Shape;648;p59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409f75f860f_0_9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409f75f860f_0_94"/>
          <p:cNvSpPr txBox="1"/>
          <p:nvPr/>
        </p:nvSpPr>
        <p:spPr>
          <a:xfrm>
            <a:off x="256032" y="118872"/>
            <a:ext cx="89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think about the base case + recurrence</a:t>
            </a:r>
            <a:endParaRPr/>
          </a:p>
        </p:txBody>
      </p:sp>
      <p:sp>
        <p:nvSpPr>
          <p:cNvPr id="655" name="Google Shape;655;g409f75f860f_0_94"/>
          <p:cNvSpPr/>
          <p:nvPr/>
        </p:nvSpPr>
        <p:spPr>
          <a:xfrm>
            <a:off x="10561320" y="137160"/>
            <a:ext cx="1143000" cy="27420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409f75f860f_0_94"/>
          <p:cNvSpPr txBox="1"/>
          <p:nvPr/>
        </p:nvSpPr>
        <p:spPr>
          <a:xfrm>
            <a:off x="10588752" y="155448"/>
            <a:ext cx="108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/>
          </a:p>
        </p:txBody>
      </p:sp>
      <p:sp>
        <p:nvSpPr>
          <p:cNvPr id="657" name="Google Shape;657;g409f75f860f_0_94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658" name="Google Shape;658;g409f75f860f_0_94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35</a:t>
            </a:r>
            <a:endParaRPr/>
          </a:p>
        </p:txBody>
      </p:sp>
      <p:sp>
        <p:nvSpPr>
          <p:cNvPr id="659" name="Google Shape;659;g409f75f860f_0_94"/>
          <p:cNvSpPr/>
          <p:nvPr/>
        </p:nvSpPr>
        <p:spPr>
          <a:xfrm>
            <a:off x="914400" y="1417320"/>
            <a:ext cx="10332600" cy="33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409f75f860f_0_94"/>
          <p:cNvSpPr txBox="1"/>
          <p:nvPr/>
        </p:nvSpPr>
        <p:spPr>
          <a:xfrm>
            <a:off x="1143000" y="1828800"/>
            <a:ext cx="9875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/>
          </a:p>
        </p:txBody>
      </p:sp>
      <p:sp>
        <p:nvSpPr>
          <p:cNvPr id="661" name="Google Shape;661;g409f75f860f_0_94"/>
          <p:cNvSpPr txBox="1"/>
          <p:nvPr/>
        </p:nvSpPr>
        <p:spPr>
          <a:xfrm>
            <a:off x="1188720" y="2468880"/>
            <a:ext cx="97842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If the subsequence must end at i, which earlier indices j could come immediately before i?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0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0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naive DP recurrence</a:t>
            </a:r>
            <a:endParaRPr/>
          </a:p>
        </p:txBody>
      </p:sp>
      <p:sp>
        <p:nvSpPr>
          <p:cNvPr id="668" name="Google Shape;668;p60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0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/>
          </a:p>
        </p:txBody>
      </p:sp>
      <p:sp>
        <p:nvSpPr>
          <p:cNvPr id="670" name="Google Shape;670;p60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671" name="Google Shape;671;p60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36</a:t>
            </a:r>
            <a:endParaRPr/>
          </a:p>
        </p:txBody>
      </p:sp>
      <p:sp>
        <p:nvSpPr>
          <p:cNvPr id="672" name="Google Shape;672;p60"/>
          <p:cNvSpPr txBox="1"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Let J(i) = { j &lt; i : A[i] − A[j] = d }.</a:t>
            </a:r>
            <a:endParaRPr/>
          </a:p>
        </p:txBody>
      </p:sp>
      <p:sp>
        <p:nvSpPr>
          <p:cNvPr id="673" name="Google Shape;673;p60"/>
          <p:cNvSpPr/>
          <p:nvPr/>
        </p:nvSpPr>
        <p:spPr>
          <a:xfrm>
            <a:off x="822960" y="1554480"/>
            <a:ext cx="105156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E0A4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60"/>
          <p:cNvSpPr txBox="1"/>
          <p:nvPr/>
        </p:nvSpPr>
        <p:spPr>
          <a:xfrm>
            <a:off x="1097280" y="18288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675" name="Google Shape;675;p60"/>
          <p:cNvSpPr txBox="1"/>
          <p:nvPr/>
        </p:nvSpPr>
        <p:spPr>
          <a:xfrm>
            <a:off x="1554480" y="233172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If J(i) is empty:   L[i] = 1</a:t>
            </a:r>
            <a:endParaRPr/>
          </a:p>
        </p:txBody>
      </p:sp>
      <p:sp>
        <p:nvSpPr>
          <p:cNvPr id="676" name="Google Shape;676;p60"/>
          <p:cNvSpPr txBox="1"/>
          <p:nvPr/>
        </p:nvSpPr>
        <p:spPr>
          <a:xfrm>
            <a:off x="1097280" y="3063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0A436"/>
                </a:solidFill>
                <a:latin typeface="Arial"/>
                <a:ea typeface="Arial"/>
                <a:cs typeface="Arial"/>
                <a:sym typeface="Arial"/>
              </a:rPr>
              <a:t>Recurrence</a:t>
            </a:r>
            <a:endParaRPr/>
          </a:p>
        </p:txBody>
      </p:sp>
      <p:sp>
        <p:nvSpPr>
          <p:cNvPr id="677" name="Google Shape;677;p60"/>
          <p:cNvSpPr txBox="1"/>
          <p:nvPr/>
        </p:nvSpPr>
        <p:spPr>
          <a:xfrm>
            <a:off x="1554480" y="352044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Otherwise:   L[i] = 1 + max   L[j]</a:t>
            </a:r>
            <a:endParaRPr/>
          </a:p>
        </p:txBody>
      </p:sp>
      <p:sp>
        <p:nvSpPr>
          <p:cNvPr id="678" name="Google Shape;678;p60"/>
          <p:cNvSpPr txBox="1"/>
          <p:nvPr/>
        </p:nvSpPr>
        <p:spPr>
          <a:xfrm>
            <a:off x="6812280" y="397763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j ∈ J(i)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1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1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why only the last matching location matters</a:t>
            </a:r>
            <a:endParaRPr/>
          </a:p>
        </p:txBody>
      </p:sp>
      <p:sp>
        <p:nvSpPr>
          <p:cNvPr id="685" name="Google Shape;685;p61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61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/>
          </a:p>
        </p:txBody>
      </p:sp>
      <p:sp>
        <p:nvSpPr>
          <p:cNvPr id="687" name="Google Shape;687;p61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688" name="Google Shape;688;p61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37</a:t>
            </a:r>
            <a:endParaRPr/>
          </a:p>
        </p:txBody>
      </p:sp>
      <p:sp>
        <p:nvSpPr>
          <p:cNvPr id="689" name="Google Shape;689;p61"/>
          <p:cNvSpPr txBox="1"/>
          <p:nvPr/>
        </p:nvSpPr>
        <p:spPr>
          <a:xfrm>
            <a:off x="502920" y="8686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Suppose the predecessor value A[i]−d appears at several earlier positions.</a:t>
            </a:r>
            <a:endParaRPr/>
          </a:p>
        </p:txBody>
      </p:sp>
      <p:sp>
        <p:nvSpPr>
          <p:cNvPr id="690" name="Google Shape;690;p61"/>
          <p:cNvSpPr txBox="1"/>
          <p:nvPr/>
        </p:nvSpPr>
        <p:spPr>
          <a:xfrm>
            <a:off x="246905" y="1435218"/>
            <a:ext cx="18288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172AA"/>
                </a:solidFill>
                <a:latin typeface="Arial"/>
                <a:ea typeface="Arial"/>
                <a:cs typeface="Arial"/>
                <a:sym typeface="Arial"/>
              </a:rPr>
              <a:t>Example: d = 2</a:t>
            </a:r>
            <a:endParaRPr/>
          </a:p>
        </p:txBody>
      </p:sp>
      <p:sp>
        <p:nvSpPr>
          <p:cNvPr id="691" name="Google Shape;691;p61"/>
          <p:cNvSpPr/>
          <p:nvPr/>
        </p:nvSpPr>
        <p:spPr>
          <a:xfrm>
            <a:off x="2148840" y="137160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61"/>
          <p:cNvSpPr txBox="1"/>
          <p:nvPr/>
        </p:nvSpPr>
        <p:spPr>
          <a:xfrm>
            <a:off x="2148840" y="143560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3" name="Google Shape;693;p61"/>
          <p:cNvSpPr txBox="1"/>
          <p:nvPr/>
        </p:nvSpPr>
        <p:spPr>
          <a:xfrm>
            <a:off x="2148840" y="188366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4" name="Google Shape;694;p61"/>
          <p:cNvSpPr/>
          <p:nvPr/>
        </p:nvSpPr>
        <p:spPr>
          <a:xfrm>
            <a:off x="2807208" y="137160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1"/>
          <p:cNvSpPr txBox="1"/>
          <p:nvPr/>
        </p:nvSpPr>
        <p:spPr>
          <a:xfrm>
            <a:off x="2807208" y="143560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96" name="Google Shape;696;p61"/>
          <p:cNvSpPr txBox="1"/>
          <p:nvPr/>
        </p:nvSpPr>
        <p:spPr>
          <a:xfrm>
            <a:off x="2807208" y="188366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7" name="Google Shape;697;p61"/>
          <p:cNvSpPr/>
          <p:nvPr/>
        </p:nvSpPr>
        <p:spPr>
          <a:xfrm>
            <a:off x="3465576" y="1371600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1"/>
          <p:cNvSpPr txBox="1"/>
          <p:nvPr/>
        </p:nvSpPr>
        <p:spPr>
          <a:xfrm>
            <a:off x="3465576" y="143560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99" name="Google Shape;699;p61"/>
          <p:cNvSpPr txBox="1"/>
          <p:nvPr/>
        </p:nvSpPr>
        <p:spPr>
          <a:xfrm>
            <a:off x="3465576" y="188366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00" name="Google Shape;700;p61"/>
          <p:cNvSpPr/>
          <p:nvPr/>
        </p:nvSpPr>
        <p:spPr>
          <a:xfrm>
            <a:off x="4123944" y="1371600"/>
            <a:ext cx="585216" cy="475488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4172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61"/>
          <p:cNvSpPr txBox="1"/>
          <p:nvPr/>
        </p:nvSpPr>
        <p:spPr>
          <a:xfrm>
            <a:off x="4123944" y="143560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02" name="Google Shape;702;p61"/>
          <p:cNvSpPr txBox="1"/>
          <p:nvPr/>
        </p:nvSpPr>
        <p:spPr>
          <a:xfrm>
            <a:off x="4123944" y="188366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03" name="Google Shape;703;p61"/>
          <p:cNvSpPr/>
          <p:nvPr/>
        </p:nvSpPr>
        <p:spPr>
          <a:xfrm>
            <a:off x="4782312" y="1371600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61"/>
          <p:cNvSpPr txBox="1"/>
          <p:nvPr/>
        </p:nvSpPr>
        <p:spPr>
          <a:xfrm>
            <a:off x="4782312" y="143560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05" name="Google Shape;705;p61"/>
          <p:cNvSpPr txBox="1"/>
          <p:nvPr/>
        </p:nvSpPr>
        <p:spPr>
          <a:xfrm>
            <a:off x="4782312" y="188366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06" name="Google Shape;706;p61"/>
          <p:cNvSpPr/>
          <p:nvPr/>
        </p:nvSpPr>
        <p:spPr>
          <a:xfrm>
            <a:off x="5440679" y="1371600"/>
            <a:ext cx="585216" cy="475488"/>
          </a:xfrm>
          <a:prstGeom prst="rect">
            <a:avLst/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1"/>
          <p:cNvSpPr txBox="1"/>
          <p:nvPr/>
        </p:nvSpPr>
        <p:spPr>
          <a:xfrm>
            <a:off x="5440679" y="1435608"/>
            <a:ext cx="585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08" name="Google Shape;708;p61"/>
          <p:cNvSpPr txBox="1"/>
          <p:nvPr/>
        </p:nvSpPr>
        <p:spPr>
          <a:xfrm>
            <a:off x="5440679" y="1883664"/>
            <a:ext cx="5852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09" name="Google Shape;709;p61"/>
          <p:cNvSpPr txBox="1"/>
          <p:nvPr/>
        </p:nvSpPr>
        <p:spPr>
          <a:xfrm>
            <a:off x="914400" y="224028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At i = 6, A[i] = 7.  The predecessor value 5 appears at j = 3 and j = 5.</a:t>
            </a:r>
            <a:endParaRPr/>
          </a:p>
        </p:txBody>
      </p:sp>
      <p:sp>
        <p:nvSpPr>
          <p:cNvPr id="710" name="Google Shape;710;p61"/>
          <p:cNvSpPr/>
          <p:nvPr/>
        </p:nvSpPr>
        <p:spPr>
          <a:xfrm>
            <a:off x="777240" y="297180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805B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1"/>
          <p:cNvSpPr/>
          <p:nvPr/>
        </p:nvSpPr>
        <p:spPr>
          <a:xfrm>
            <a:off x="914400" y="3127248"/>
            <a:ext cx="310896" cy="310896"/>
          </a:xfrm>
          <a:prstGeom prst="ellipse">
            <a:avLst/>
          </a:prstGeom>
          <a:solidFill>
            <a:srgbClr val="805B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61"/>
          <p:cNvSpPr txBox="1"/>
          <p:nvPr/>
        </p:nvSpPr>
        <p:spPr>
          <a:xfrm>
            <a:off x="914400" y="313182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13" name="Google Shape;713;p61"/>
          <p:cNvSpPr txBox="1"/>
          <p:nvPr/>
        </p:nvSpPr>
        <p:spPr>
          <a:xfrm>
            <a:off x="1335024" y="30723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05BA5"/>
                </a:solidFill>
                <a:latin typeface="Arial"/>
                <a:ea typeface="Arial"/>
                <a:cs typeface="Arial"/>
                <a:sym typeface="Arial"/>
              </a:rPr>
              <a:t>Key fact</a:t>
            </a:r>
            <a:endParaRPr/>
          </a:p>
        </p:txBody>
      </p:sp>
      <p:sp>
        <p:nvSpPr>
          <p:cNvPr id="714" name="Google Shape;714;p61"/>
          <p:cNvSpPr txBox="1"/>
          <p:nvPr/>
        </p:nvSpPr>
        <p:spPr>
          <a:xfrm>
            <a:off x="3255264" y="304495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For equal values A[j₁] = A[j₂], a sequence ending at the earlier j₁ can be shifted to the later j₂, so L[j₂] ≥ L[j₁].</a:t>
            </a:r>
            <a:endParaRPr/>
          </a:p>
        </p:txBody>
      </p:sp>
      <p:sp>
        <p:nvSpPr>
          <p:cNvPr id="715" name="Google Shape;715;p61"/>
          <p:cNvSpPr/>
          <p:nvPr/>
        </p:nvSpPr>
        <p:spPr>
          <a:xfrm>
            <a:off x="777240" y="3886200"/>
            <a:ext cx="10652760" cy="713232"/>
          </a:xfrm>
          <a:prstGeom prst="roundRect">
            <a:avLst>
              <a:gd fmla="val 16667" name="adj"/>
            </a:avLst>
          </a:prstGeom>
          <a:solidFill>
            <a:srgbClr val="E4F4E8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61"/>
          <p:cNvSpPr/>
          <p:nvPr/>
        </p:nvSpPr>
        <p:spPr>
          <a:xfrm>
            <a:off x="914400" y="4041648"/>
            <a:ext cx="310896" cy="310896"/>
          </a:xfrm>
          <a:prstGeom prst="ellipse">
            <a:avLst/>
          </a:prstGeom>
          <a:solidFill>
            <a:srgbClr val="4A915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61"/>
          <p:cNvSpPr txBox="1"/>
          <p:nvPr/>
        </p:nvSpPr>
        <p:spPr>
          <a:xfrm>
            <a:off x="914400" y="4046220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18" name="Google Shape;718;p61"/>
          <p:cNvSpPr txBox="1"/>
          <p:nvPr/>
        </p:nvSpPr>
        <p:spPr>
          <a:xfrm>
            <a:off x="1335024" y="39867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endParaRPr/>
          </a:p>
        </p:txBody>
      </p:sp>
      <p:sp>
        <p:nvSpPr>
          <p:cNvPr id="719" name="Google Shape;719;p61"/>
          <p:cNvSpPr txBox="1"/>
          <p:nvPr/>
        </p:nvSpPr>
        <p:spPr>
          <a:xfrm>
            <a:off x="3255264" y="3959352"/>
            <a:ext cx="7863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Among matching predecessors, only the latest occurrence can attain the maximum we need.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2"/>
          <p:cNvSpPr/>
          <p:nvPr/>
        </p:nvSpPr>
        <p:spPr>
          <a:xfrm>
            <a:off x="0" y="0"/>
            <a:ext cx="12191675" cy="54864"/>
          </a:xfrm>
          <a:prstGeom prst="rect">
            <a:avLst/>
          </a:prstGeom>
          <a:solidFill>
            <a:srgbClr val="07285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62"/>
          <p:cNvSpPr txBox="1"/>
          <p:nvPr/>
        </p:nvSpPr>
        <p:spPr>
          <a:xfrm>
            <a:off x="256032" y="118872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4: from O(n²) to O(n)</a:t>
            </a:r>
            <a:endParaRPr/>
          </a:p>
        </p:txBody>
      </p:sp>
      <p:sp>
        <p:nvSpPr>
          <p:cNvPr id="726" name="Google Shape;726;p62"/>
          <p:cNvSpPr/>
          <p:nvPr/>
        </p:nvSpPr>
        <p:spPr>
          <a:xfrm>
            <a:off x="10561320" y="137160"/>
            <a:ext cx="1143000" cy="274320"/>
          </a:xfrm>
          <a:prstGeom prst="rect">
            <a:avLst/>
          </a:prstGeom>
          <a:solidFill>
            <a:srgbClr val="F5C4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62"/>
          <p:cNvSpPr txBox="1"/>
          <p:nvPr/>
        </p:nvSpPr>
        <p:spPr>
          <a:xfrm>
            <a:off x="10588752" y="155448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PROBLEM 4</a:t>
            </a:r>
            <a:endParaRPr/>
          </a:p>
        </p:txBody>
      </p:sp>
      <p:sp>
        <p:nvSpPr>
          <p:cNvPr id="728" name="Google Shape;728;p62"/>
          <p:cNvSpPr txBox="1"/>
          <p:nvPr/>
        </p:nvSpPr>
        <p:spPr>
          <a:xfrm>
            <a:off x="182880" y="6528816"/>
            <a:ext cx="3657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/>
          </a:p>
        </p:txBody>
      </p:sp>
      <p:sp>
        <p:nvSpPr>
          <p:cNvPr id="729" name="Google Shape;729;p62"/>
          <p:cNvSpPr txBox="1"/>
          <p:nvPr/>
        </p:nvSpPr>
        <p:spPr>
          <a:xfrm>
            <a:off x="11612880" y="6510528"/>
            <a:ext cx="3201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C6370"/>
                </a:solidFill>
              </a:rPr>
              <a:t>38</a:t>
            </a:r>
            <a:endParaRPr/>
          </a:p>
        </p:txBody>
      </p:sp>
      <p:sp>
        <p:nvSpPr>
          <p:cNvPr id="730" name="Google Shape;730;p62"/>
          <p:cNvSpPr txBox="1"/>
          <p:nvPr/>
        </p:nvSpPr>
        <p:spPr>
          <a:xfrm>
            <a:off x="502920" y="868680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252B"/>
                </a:solidFill>
                <a:latin typeface="Arial"/>
                <a:ea typeface="Arial"/>
                <a:cs typeface="Arial"/>
                <a:sym typeface="Arial"/>
              </a:rPr>
              <a:t>Store the most recent index for each array value in a hash table.</a:t>
            </a:r>
            <a:endParaRPr/>
          </a:p>
        </p:txBody>
      </p:sp>
      <p:sp>
        <p:nvSpPr>
          <p:cNvPr id="731" name="Google Shape;731;p62"/>
          <p:cNvSpPr/>
          <p:nvPr/>
        </p:nvSpPr>
        <p:spPr>
          <a:xfrm>
            <a:off x="822960" y="1417320"/>
            <a:ext cx="1051560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4A91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62"/>
          <p:cNvSpPr txBox="1"/>
          <p:nvPr/>
        </p:nvSpPr>
        <p:spPr>
          <a:xfrm>
            <a:off x="1097280" y="1691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One pass</a:t>
            </a:r>
            <a:endParaRPr/>
          </a:p>
        </p:txBody>
      </p:sp>
      <p:sp>
        <p:nvSpPr>
          <p:cNvPr id="733" name="Google Shape;733;p62"/>
          <p:cNvSpPr txBox="1"/>
          <p:nvPr/>
        </p:nvSpPr>
        <p:spPr>
          <a:xfrm>
            <a:off x="1325880" y="22402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pred = A[i] − d</a:t>
            </a:r>
            <a:endParaRPr/>
          </a:p>
        </p:txBody>
      </p:sp>
      <p:sp>
        <p:nvSpPr>
          <p:cNvPr id="734" name="Google Shape;734;p62"/>
          <p:cNvSpPr txBox="1"/>
          <p:nvPr/>
        </p:nvSpPr>
        <p:spPr>
          <a:xfrm>
            <a:off x="1325880" y="2788920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if pred is in last:   L[i] = 1 + L[last[pred]]</a:t>
            </a:r>
            <a:br>
              <a:rPr b="0" i="0" lang="en-US" sz="21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100" u="none" cap="none" strike="noStrike">
                <a:solidFill>
                  <a:srgbClr val="20252B"/>
                </a:solidFill>
                <a:latin typeface="Consolas"/>
                <a:ea typeface="Consolas"/>
                <a:cs typeface="Consolas"/>
                <a:sym typeface="Consolas"/>
              </a:rPr>
              <a:t>else:                  L[i] = 1</a:t>
            </a:r>
            <a:endParaRPr/>
          </a:p>
        </p:txBody>
      </p:sp>
      <p:sp>
        <p:nvSpPr>
          <p:cNvPr id="735" name="Google Shape;735;p62"/>
          <p:cNvSpPr txBox="1"/>
          <p:nvPr/>
        </p:nvSpPr>
        <p:spPr>
          <a:xfrm>
            <a:off x="1325880" y="379476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72854"/>
                </a:solidFill>
                <a:latin typeface="Arial"/>
                <a:ea typeface="Arial"/>
                <a:cs typeface="Arial"/>
                <a:sym typeface="Arial"/>
              </a:rPr>
              <a:t>last[A[i]] = i      and      answer = maxᵢ L[i]</a:t>
            </a:r>
            <a:endParaRPr/>
          </a:p>
        </p:txBody>
      </p:sp>
      <p:sp>
        <p:nvSpPr>
          <p:cNvPr id="736" name="Google Shape;736;p62"/>
          <p:cNvSpPr txBox="1"/>
          <p:nvPr/>
        </p:nvSpPr>
        <p:spPr>
          <a:xfrm>
            <a:off x="2057400" y="523036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A9159"/>
                </a:solidFill>
                <a:latin typeface="Arial"/>
                <a:ea typeface="Arial"/>
                <a:cs typeface="Arial"/>
                <a:sym typeface="Arial"/>
              </a:rPr>
              <a:t>Assuming a perfect hash table: O(1) per index → O(n) total time.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409cbc41d6f_0_604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409cbc41d6f_0_604"/>
          <p:cNvSpPr/>
          <p:nvPr/>
        </p:nvSpPr>
        <p:spPr>
          <a:xfrm>
            <a:off x="0" y="0"/>
            <a:ext cx="121911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409cbc41d6f_0_604"/>
          <p:cNvSpPr txBox="1"/>
          <p:nvPr/>
        </p:nvSpPr>
        <p:spPr>
          <a:xfrm>
            <a:off x="548625" y="292320"/>
            <a:ext cx="97839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Attendance Form (Disc. 20 </a:t>
            </a:r>
            <a:r>
              <a:rPr b="1" lang="en-US" sz="2800">
                <a:solidFill>
                  <a:srgbClr val="00274C"/>
                </a:solidFill>
              </a:rPr>
              <a:t>Week 3</a:t>
            </a: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4" name="Google Shape;744;g409cbc41d6f_0_604"/>
          <p:cNvCxnSpPr/>
          <p:nvPr/>
        </p:nvCxnSpPr>
        <p:spPr>
          <a:xfrm>
            <a:off x="548625" y="941760"/>
            <a:ext cx="110820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g409cbc41d6f_0_604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409cbc41d6f_0_604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C6370"/>
                </a:solidFill>
              </a:rPr>
              <a:t>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7" name="Google Shape;747;g409cbc41d6f_0_604" title="Untitled design.png"/>
          <p:cNvPicPr preferRelativeResize="0"/>
          <p:nvPr/>
        </p:nvPicPr>
        <p:blipFill rotWithShape="1">
          <a:blip r:embed="rId3">
            <a:alphaModFix/>
          </a:blip>
          <a:srcRect b="0" l="2034" r="2034" t="0"/>
          <a:stretch/>
        </p:blipFill>
        <p:spPr>
          <a:xfrm>
            <a:off x="3657475" y="1002875"/>
            <a:ext cx="4752275" cy="49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g409cbc41d6f_0_604"/>
          <p:cNvSpPr txBox="1"/>
          <p:nvPr/>
        </p:nvSpPr>
        <p:spPr>
          <a:xfrm>
            <a:off x="2454463" y="6104325"/>
            <a:ext cx="715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https://forms.gle/66SiVXziDAjWkFJM8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409f75f860f_0_106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409f75f860f_0_106"/>
          <p:cNvSpPr/>
          <p:nvPr/>
        </p:nvSpPr>
        <p:spPr>
          <a:xfrm>
            <a:off x="0" y="0"/>
            <a:ext cx="12191100" cy="1005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409f75f860f_0_106"/>
          <p:cNvSpPr txBox="1"/>
          <p:nvPr/>
        </p:nvSpPr>
        <p:spPr>
          <a:xfrm>
            <a:off x="548625" y="292320"/>
            <a:ext cx="97839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Attendance Form (Disc. </a:t>
            </a:r>
            <a:r>
              <a:rPr b="1" lang="en-US" sz="2800">
                <a:solidFill>
                  <a:srgbClr val="00274C"/>
                </a:solidFill>
              </a:rPr>
              <a:t>18</a:t>
            </a: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800">
                <a:solidFill>
                  <a:srgbClr val="00274C"/>
                </a:solidFill>
              </a:rPr>
              <a:t>Week 3</a:t>
            </a:r>
            <a:r>
              <a:rPr b="1" i="0" lang="en-US" sz="2800" u="none" cap="none" strike="noStrike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6" name="Google Shape;756;g409f75f860f_0_106"/>
          <p:cNvCxnSpPr/>
          <p:nvPr/>
        </p:nvCxnSpPr>
        <p:spPr>
          <a:xfrm>
            <a:off x="548625" y="941760"/>
            <a:ext cx="11082000" cy="0"/>
          </a:xfrm>
          <a:prstGeom prst="straightConnector1">
            <a:avLst/>
          </a:prstGeom>
          <a:noFill/>
          <a:ln cap="flat" cmpd="sng" w="28800">
            <a:solidFill>
              <a:srgbClr val="D5DC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g409f75f860f_0_106"/>
          <p:cNvSpPr txBox="1"/>
          <p:nvPr/>
        </p:nvSpPr>
        <p:spPr>
          <a:xfrm>
            <a:off x="182880" y="6537960"/>
            <a:ext cx="347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EECS 376 · Discussion 20 · Week </a:t>
            </a:r>
            <a:r>
              <a:rPr lang="en-US" sz="800">
                <a:solidFill>
                  <a:srgbClr val="5C6370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409f75f860f_0_106"/>
          <p:cNvSpPr txBox="1"/>
          <p:nvPr/>
        </p:nvSpPr>
        <p:spPr>
          <a:xfrm>
            <a:off x="11612880" y="6510528"/>
            <a:ext cx="32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C6370"/>
                </a:solidFill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9" name="Google Shape;759;g409f75f860f_0_106" title="Untitled design (1).png"/>
          <p:cNvPicPr preferRelativeResize="0"/>
          <p:nvPr/>
        </p:nvPicPr>
        <p:blipFill rotWithShape="1">
          <a:blip r:embed="rId3">
            <a:alphaModFix/>
          </a:blip>
          <a:srcRect b="0" l="2034" r="2034" t="0"/>
          <a:stretch/>
        </p:blipFill>
        <p:spPr>
          <a:xfrm>
            <a:off x="3657475" y="1002875"/>
            <a:ext cx="4752275" cy="49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g409f75f860f_0_106"/>
          <p:cNvSpPr txBox="1"/>
          <p:nvPr/>
        </p:nvSpPr>
        <p:spPr>
          <a:xfrm>
            <a:off x="2454463" y="6104325"/>
            <a:ext cx="715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https://forms.gle/YRpHUXZGEcuUagCc7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