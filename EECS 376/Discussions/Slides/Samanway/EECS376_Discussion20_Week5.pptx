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6" roundtripDataSignature="AMtx7mipamFbRO7MBI0p7fi+xdN9u+nZ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6" Type="http://customschemas.google.com/relationships/presentationmetadata" Target="metadata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b165fd17ee39fd4_0_149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1b165fd17ee39fd4_0_149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1b165fd17ee39fd4_0_93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h1b165fd17ee39fd4_0_93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h1b165fd17ee39fd4_0_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9" name="Google Shape;899;h1b165fd17ee39fd4_0_0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hyperlink" Target="https://forms.gle/NEsmqjUqPrqnGLWC7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Relationship Id="rId4" Type="http://schemas.openxmlformats.org/officeDocument/2006/relationships/hyperlink" Target="https://forms.gle/BDiMjBD4jjcvVGd26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85800" y="868680"/>
            <a:ext cx="73152" cy="4892040"/>
          </a:xfrm>
          <a:prstGeom prst="rect">
            <a:avLst/>
          </a:prstGeom>
          <a:solidFill>
            <a:srgbClr val="FFCB0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24128" y="868680"/>
            <a:ext cx="5029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CB05"/>
                </a:solidFill>
                <a:latin typeface="Arial"/>
                <a:ea typeface="Arial"/>
                <a:cs typeface="Arial"/>
                <a:sym typeface="Arial"/>
              </a:rPr>
              <a:t>EECS 376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24128" y="1481328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Foundations of Computer Science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24128" y="2697480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7E2EE"/>
                </a:solidFill>
                <a:latin typeface="Arial"/>
                <a:ea typeface="Arial"/>
                <a:cs typeface="Arial"/>
                <a:sym typeface="Arial"/>
              </a:rPr>
              <a:t>Discussion Sec. 20 · </a:t>
            </a:r>
            <a:r>
              <a:rPr lang="en-US" sz="1600">
                <a:solidFill>
                  <a:srgbClr val="D7E2EE"/>
                </a:solidFill>
              </a:rPr>
              <a:t>Week 5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4128" y="3273552"/>
            <a:ext cx="713232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Name: Samanway (Rick) Sadhu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Email: samanway@umich.edu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OH    : Mondays 5–6:30pm (LNW 2421)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Thursdays 2–5pm (LNW 2421)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4128" y="5833872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7E2EE"/>
                </a:solidFill>
                <a:latin typeface="Arial"/>
                <a:ea typeface="Arial"/>
                <a:cs typeface="Arial"/>
                <a:sym typeface="Arial"/>
              </a:rPr>
              <a:t>University of Michigan · Fall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b165fd17ee39fd4_0_149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h1b165fd17ee39fd4_0_149"/>
          <p:cNvSpPr/>
          <p:nvPr/>
        </p:nvSpPr>
        <p:spPr>
          <a:xfrm>
            <a:off x="0" y="0"/>
            <a:ext cx="12191100" cy="100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h1b165fd17ee39fd4_0_149"/>
          <p:cNvSpPr txBox="1"/>
          <p:nvPr/>
        </p:nvSpPr>
        <p:spPr>
          <a:xfrm>
            <a:off x="548625" y="292320"/>
            <a:ext cx="97839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274C"/>
                </a:solidFill>
              </a:rPr>
              <a:t>Feedback</a:t>
            </a: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Form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h1b165fd17ee39fd4_0_149"/>
          <p:cNvCxnSpPr/>
          <p:nvPr/>
        </p:nvCxnSpPr>
        <p:spPr>
          <a:xfrm>
            <a:off x="548625" y="941760"/>
            <a:ext cx="1108200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h1b165fd17ee39fd4_0_149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h1b165fd17ee39fd4_0_149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C6370"/>
                </a:solidFill>
              </a:rPr>
              <a:t>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h1b165fd17ee39fd4_0_149" title="Untitled design (2).png"/>
          <p:cNvPicPr preferRelativeResize="0"/>
          <p:nvPr/>
        </p:nvPicPr>
        <p:blipFill rotWithShape="1">
          <a:blip r:embed="rId3">
            <a:alphaModFix/>
          </a:blip>
          <a:srcRect b="0" l="2034" r="2034" t="0"/>
          <a:stretch/>
        </p:blipFill>
        <p:spPr>
          <a:xfrm>
            <a:off x="3657475" y="1002875"/>
            <a:ext cx="4752275" cy="49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h1b165fd17ee39fd4_0_149"/>
          <p:cNvSpPr txBox="1"/>
          <p:nvPr/>
        </p:nvSpPr>
        <p:spPr>
          <a:xfrm>
            <a:off x="2454463" y="6104325"/>
            <a:ext cx="715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https://forms.gle/NEsmqjUqPrqnGLWC7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1b165fd17ee39fd4_0_93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1b165fd17ee39fd4_0_93"/>
          <p:cNvSpPr/>
          <p:nvPr/>
        </p:nvSpPr>
        <p:spPr>
          <a:xfrm>
            <a:off x="0" y="0"/>
            <a:ext cx="12191100" cy="100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h1b165fd17ee39fd4_0_93"/>
          <p:cNvSpPr txBox="1"/>
          <p:nvPr/>
        </p:nvSpPr>
        <p:spPr>
          <a:xfrm>
            <a:off x="548625" y="292320"/>
            <a:ext cx="97839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274C"/>
                </a:solidFill>
              </a:rPr>
              <a:t>Worksheet Link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h1b165fd17ee39fd4_0_93"/>
          <p:cNvCxnSpPr/>
          <p:nvPr/>
        </p:nvCxnSpPr>
        <p:spPr>
          <a:xfrm>
            <a:off x="548625" y="941760"/>
            <a:ext cx="1108200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h1b165fd17ee39fd4_0_9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1b165fd17ee39fd4_0_93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C6370"/>
                </a:solidFill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h1b165fd17ee39fd4_0_93" title="Untitled design (1).png"/>
          <p:cNvPicPr preferRelativeResize="0"/>
          <p:nvPr/>
        </p:nvPicPr>
        <p:blipFill rotWithShape="1">
          <a:blip r:embed="rId3">
            <a:alphaModFix/>
          </a:blip>
          <a:srcRect b="0" l="2034" r="2034" t="0"/>
          <a:stretch/>
        </p:blipFill>
        <p:spPr>
          <a:xfrm>
            <a:off x="3657475" y="1002875"/>
            <a:ext cx="4752275" cy="49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Formal languages: the basic objects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3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A language is just a set of finite strings. The definitions build up in three layers.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594360" y="1508760"/>
            <a:ext cx="3502152" cy="347472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795528" y="1655063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1 · Alphabet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868680" y="2011680"/>
            <a:ext cx="2953512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Σ is a nonempty, finite set of symbols.</a:t>
            </a:r>
            <a:b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Example: Σ = {0,1}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4343400" y="1508760"/>
            <a:ext cx="3502152" cy="347472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4544568" y="1655063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2 · String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4617720" y="2011680"/>
            <a:ext cx="2953512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string over Σ is a finite, ordered sequence of symbols from Σ.</a:t>
            </a:r>
            <a:b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Example: 0101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8092440" y="1508760"/>
            <a:ext cx="3502152" cy="347472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8293608" y="1655063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3 · Language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8366760" y="2011680"/>
            <a:ext cx="2953512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language L over Σ is a subset of Σ*.</a:t>
            </a:r>
            <a:b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So L is a set of finite strings over Σ.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2240280" y="534924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Σ* = all finite-length strings over Σ, including the empty string ε.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From decision problems to languages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4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59436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A decision problem asks a YES / NO question. Its language contains exactly the YES instances.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731520" y="1645920"/>
            <a:ext cx="5074920" cy="192024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932688" y="1792224"/>
            <a:ext cx="46725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Decision problem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1005840" y="2148840"/>
            <a:ext cx="45262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“Given an input object X, does property P hold?”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6355080" y="1645920"/>
            <a:ext cx="5074920" cy="1920240"/>
          </a:xfrm>
          <a:prstGeom prst="roundRect">
            <a:avLst>
              <a:gd fmla="val 16667" name="adj"/>
            </a:avLst>
          </a:prstGeom>
          <a:solidFill>
            <a:srgbClr val="FFF8EC"/>
          </a:solidFill>
          <a:ln cap="flat" cmpd="sng" w="190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6556248" y="1792224"/>
            <a:ext cx="46725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Encode the input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6629400" y="2148840"/>
            <a:ext cx="45262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Write X as a finite string ⟨X⟩ over some finite alphabet Σ.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1828800" y="4069080"/>
            <a:ext cx="8503920" cy="150876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2029968" y="4215384"/>
            <a:ext cx="8101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 of YES instances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2103120" y="4572000"/>
            <a:ext cx="795528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L = { ⟨X⟩ : X has property P }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Finite automata: formal definition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5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59436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A deterministic finite automaton (DFA) is a five-tuple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2057400" y="1508760"/>
            <a:ext cx="80924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2258568" y="1655063"/>
            <a:ext cx="76901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2331720" y="2011680"/>
            <a:ext cx="75438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 = (Σ, Q, q₀, F, δ)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868680" y="2971800"/>
            <a:ext cx="105156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Σ: finite input alphabet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Q: finite set of states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q₀ ∈ Q: initial state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F ⊆ Q: accepting states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δ : Q × Σ → Q: exactly one next state for every state-symbol pair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How a DFA decides a language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6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40080" y="1051560"/>
            <a:ext cx="5349240" cy="18288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841247" y="1197863"/>
            <a:ext cx="494690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Run the machine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914400" y="1554480"/>
            <a:ext cx="4800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Start in q₀. Read the input left-to-right, one symbol at a time, following δ.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6217920" y="1051560"/>
            <a:ext cx="5349240" cy="182880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6419088" y="1197863"/>
            <a:ext cx="494690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Accept / reject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492240" y="1554480"/>
            <a:ext cx="4800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After the entire input is consumed: accept exactly when the current state is in F.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1828800" y="3520440"/>
            <a:ext cx="8503920" cy="141732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2029968" y="3666744"/>
            <a:ext cx="8101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Language of the DFA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2103120" y="4023360"/>
            <a:ext cx="795528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L(M) = { x ∈ Σ* : M accepts x }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1051560" y="53492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A DFA always halts after exactly |x| transitions — its limitation is finite memory, not running time.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1: decision problem or not?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2.1.1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7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594360" y="86868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Determine whether each is a decision problem. If yes, formulate the corresponding language; if not, change it into a decision problem.</a:t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731520" y="1783080"/>
            <a:ext cx="1074420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932688" y="1929384"/>
            <a:ext cx="10341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(a)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1005840" y="2286000"/>
            <a:ext cx="101955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Given a set of cities, find a set of three cities whose names share at least 3 letters.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731520" y="3703320"/>
            <a:ext cx="1074420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932688" y="3849624"/>
            <a:ext cx="10341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(b)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1005840" y="4206240"/>
            <a:ext cx="1019556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Given a list of classes (start time, end time), is it possible to enroll in at least three classes with no lecture-time overlaps?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1: how do we classify them?</a:t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2.1.1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8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Does the problem ask for a YES / NO answer?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If it does, what are the strings that should belong to the language?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1(a): solution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2.1.1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9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Check the output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“Find a set of three cities” asks us to output an object, not YES / NO.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As stated, this is not a decision problem.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Convert it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Ask instead: “Given a set of cities, is there a set of three cities whose names share at least 3 letters?”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1(b): solution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2.1.1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10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Decision form</a:t>
            </a:r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answer is YES or NO, so this is a decision problem.</a:t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Encoding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3246120" y="2944368"/>
            <a:ext cx="77268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Encode the class list as an array of integer pairs (s</a:t>
            </a:r>
            <a:r>
              <a:rPr baseline="-25000" lang="en-US" sz="1570">
                <a:solidFill>
                  <a:srgbClr val="20252B"/>
                </a:solidFill>
              </a:rPr>
              <a:t>c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b="0" baseline="-2500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), using separators between integers and pairs.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 = {⟨C⟩ : there exist three classes in C whose lecture intervals are pairwise non-overlapping}.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2: alphabet, encoding, language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2.1.2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1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For each decision problem: (i) choose a finite alphabet Σ, (ii) give an encoding ⟨X⟩, and (iii) define the YES-instance language.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85800" y="1691640"/>
            <a:ext cx="1097280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886968" y="1837944"/>
            <a:ext cx="10570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(a)</a:t>
            </a:r>
            <a:endParaRPr/>
          </a:p>
        </p:txBody>
      </p:sp>
      <p:sp>
        <p:nvSpPr>
          <p:cNvPr id="281" name="Google Shape;281;p10"/>
          <p:cNvSpPr txBox="1"/>
          <p:nvPr/>
        </p:nvSpPr>
        <p:spPr>
          <a:xfrm>
            <a:off x="960120" y="21945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Given a binary string b, does it contain an even number of 0s?</a:t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85800" y="2971800"/>
            <a:ext cx="1097280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886968" y="3118104"/>
            <a:ext cx="10570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(b)</a:t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960120" y="347472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Does a non-negative integer x, written in base 10, end in the digit 3?</a:t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685800" y="4251960"/>
            <a:ext cx="1097280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886968" y="4398264"/>
            <a:ext cx="10570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(c)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960120" y="475488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Does a given C++ program halt on input “eecs376” within 376 steps?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2: build each language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2.1.2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2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1920239" y="2788920"/>
            <a:ext cx="836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For each input type: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1) What symbols are needed to write it?  2) What string represents it?  3) Which encodings should be accepted?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2(a): solution</a:t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2.1.2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3</a:t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Alphabet</a:t>
            </a:r>
            <a:endParaRPr/>
          </a:p>
        </p:txBody>
      </p:sp>
      <p:sp>
        <p:nvSpPr>
          <p:cNvPr id="315" name="Google Shape;315;p12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Σ = {0,1}.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Encoding</a:t>
            </a:r>
            <a:endParaRPr/>
          </a:p>
        </p:txBody>
      </p:sp>
      <p:sp>
        <p:nvSpPr>
          <p:cNvPr id="320" name="Google Shape;320;p12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Encode the binary string directly; for b = “010”, ⟨b⟩ = 010.</a:t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325" name="Google Shape;325;p12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 = {⟨b⟩ : b is a binary string with an even number of 0s}.</a:t>
            </a:r>
            <a:endParaRPr/>
          </a:p>
        </p:txBody>
      </p:sp>
      <p:sp>
        <p:nvSpPr>
          <p:cNvPr id="326" name="Google Shape;326;p12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2(b): solution</a:t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2.1.2</a:t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4</a:t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Alphabet</a:t>
            </a:r>
            <a:endParaRPr/>
          </a:p>
        </p:txBody>
      </p:sp>
      <p:sp>
        <p:nvSpPr>
          <p:cNvPr id="340" name="Google Shape;340;p13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Σ = {0,1,…,9}.</a:t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Encoding</a:t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Write the integer in ordinary base-10 notation; e.g., ⟨47⟩ = 47.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350" name="Google Shape;350;p13"/>
          <p:cNvSpPr txBox="1"/>
          <p:nvPr/>
        </p:nvSpPr>
        <p:spPr>
          <a:xfrm>
            <a:off x="3246120" y="4837175"/>
            <a:ext cx="7726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baseline="-2500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EndWith3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= {⟨k⟩ : k mod 10 = 3}.</a:t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"/>
          <p:cNvSpPr txBox="1"/>
          <p:nvPr/>
        </p:nvSpPr>
        <p:spPr>
          <a:xfrm>
            <a:off x="256032" y="91440"/>
            <a:ext cx="9784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2.1 Problem 2(c): solution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10084003" y="137160"/>
            <a:ext cx="1604700" cy="255900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10129723" y="164592"/>
            <a:ext cx="15132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2.1.2</a:t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182880" y="576072"/>
            <a:ext cx="11823300" cy="11100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5</a:t>
            </a:r>
            <a:endParaRPr/>
          </a:p>
        </p:txBody>
      </p:sp>
      <p:sp>
        <p:nvSpPr>
          <p:cNvPr id="361" name="Google Shape;361;p14"/>
          <p:cNvSpPr txBox="1"/>
          <p:nvPr/>
        </p:nvSpPr>
        <p:spPr>
          <a:xfrm>
            <a:off x="594360" y="868680"/>
            <a:ext cx="1097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“Step” can be any fixed reasonable machine-level notion (e.g., TM transitions).</a:t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749808" y="1417320"/>
            <a:ext cx="292500" cy="292500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 txBox="1"/>
          <p:nvPr/>
        </p:nvSpPr>
        <p:spPr>
          <a:xfrm>
            <a:off x="749808" y="1435607"/>
            <a:ext cx="292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1170432" y="1325880"/>
            <a:ext cx="10104000" cy="162450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1389888" y="1426464"/>
            <a:ext cx="21030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Alphabet</a:t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3246120" y="1417320"/>
            <a:ext cx="7726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Use a finite character set such as ASCII.</a:t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749808" y="3188208"/>
            <a:ext cx="292500" cy="292500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 txBox="1"/>
          <p:nvPr/>
        </p:nvSpPr>
        <p:spPr>
          <a:xfrm>
            <a:off x="749808" y="3206496"/>
            <a:ext cx="292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1170432" y="3096768"/>
            <a:ext cx="10104000" cy="162450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 txBox="1"/>
          <p:nvPr/>
        </p:nvSpPr>
        <p:spPr>
          <a:xfrm>
            <a:off x="1389888" y="3197352"/>
            <a:ext cx="21030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Encoding</a:t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3246120" y="3188208"/>
            <a:ext cx="77268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Encode the entire C++ source file as its ASCII character string.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749808" y="4959096"/>
            <a:ext cx="292500" cy="292500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 txBox="1"/>
          <p:nvPr/>
        </p:nvSpPr>
        <p:spPr>
          <a:xfrm>
            <a:off x="749808" y="4977384"/>
            <a:ext cx="292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1170432" y="4867656"/>
            <a:ext cx="10104000" cy="162450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1389888" y="4968240"/>
            <a:ext cx="21030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3246120" y="4959096"/>
            <a:ext cx="7726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baseline="-2500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HaltEECS37</a:t>
            </a:r>
            <a:r>
              <a:rPr baseline="-25000" lang="en-US" sz="1570">
                <a:solidFill>
                  <a:srgbClr val="20252B"/>
                </a:solidFill>
              </a:rPr>
              <a:t>6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= {⟨M⟩ : M halts on input “eecs376” within 376 steps}.</a:t>
            </a:r>
            <a:endParaRPr/>
          </a:p>
        </p:txBody>
      </p:sp>
      <p:sp>
        <p:nvSpPr>
          <p:cNvPr id="377" name="Google Shape;377;p1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2.2 Problem 3: can a DFA decide this language?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2.2.3</a:t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6</a:t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822960" y="1325880"/>
            <a:ext cx="10561320" cy="219456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1024128" y="1472184"/>
            <a:ext cx="10158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389" name="Google Shape;389;p15"/>
          <p:cNvSpPr txBox="1"/>
          <p:nvPr/>
        </p:nvSpPr>
        <p:spPr>
          <a:xfrm>
            <a:off x="1097280" y="1828800"/>
            <a:ext cx="1001268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True or False: there is a DFA that decides</a:t>
            </a:r>
            <a:b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L = { x : x is a binary string of length 4 that starts with two 1s }.</a:t>
            </a:r>
            <a:endParaRPr/>
          </a:p>
        </p:txBody>
      </p:sp>
      <p:sp>
        <p:nvSpPr>
          <p:cNvPr id="390" name="Google Shape;390;p15"/>
          <p:cNvSpPr txBox="1"/>
          <p:nvPr/>
        </p:nvSpPr>
        <p:spPr>
          <a:xfrm>
            <a:off x="4251960" y="39776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Justify your answer.</a:t>
            </a:r>
            <a:endParaRPr/>
          </a:p>
        </p:txBody>
      </p:sp>
      <p:sp>
        <p:nvSpPr>
          <p:cNvPr id="391" name="Google Shape;391;p15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2.2 Problem 3: construction hint</a:t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2.2.3</a:t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7</a:t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403" name="Google Shape;403;p16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The language only requires remembering a bounded amount: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“Did the first two symbols equal 11?” and “How many symbols have I read up to 4?”</a:t>
            </a:r>
            <a:endParaRPr/>
          </a:p>
        </p:txBody>
      </p:sp>
      <p:sp>
        <p:nvSpPr>
          <p:cNvPr id="404" name="Google Shape;404;p16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2.2 Problem 3: construct the DFA</a:t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2.2.3</a:t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8</a:t>
            </a:r>
            <a:endParaRPr/>
          </a:p>
        </p:txBody>
      </p:sp>
      <p:sp>
        <p:nvSpPr>
          <p:cNvPr id="414" name="Google Shape;414;p17"/>
          <p:cNvSpPr txBox="1"/>
          <p:nvPr/>
        </p:nvSpPr>
        <p:spPr>
          <a:xfrm>
            <a:off x="640080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Answer: TRUE. One DFA is:</a:t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914400" y="1325880"/>
            <a:ext cx="103327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in_dfa_p3.png" id="416" name="Google Shape;4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80334"/>
            <a:ext cx="10332720" cy="349733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qdead collects every string that violates the prefix or has length &gt; 4.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2.2 Problem 3: why it is correct</a:t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2.2.3</a:t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8A94A0"/>
                </a:solidFill>
              </a:rPr>
              <a:t>9</a:t>
            </a:r>
            <a:endParaRPr/>
          </a:p>
        </p:txBody>
      </p:sp>
      <p:sp>
        <p:nvSpPr>
          <p:cNvPr id="428" name="Google Shape;428;p18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30" name="Google Shape;430;p18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Length &lt; 4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machine cannot reach qacc yet, so the string is rejected.</a:t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Length = 4</a:t>
            </a: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Exactly the strings beginning with 11 follow q0→q1→q2 and then two more transitions into qacc.</a:t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Length &gt; 4</a:t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Any extra symbol leaves qacc and enters qdead, so longer strings are rejected.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2.2 Problem 4: palindromes and finite memory</a:t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2.2.4</a:t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20</a:t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822960" y="1325880"/>
            <a:ext cx="10561320" cy="246888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1024128" y="1472184"/>
            <a:ext cx="10158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455" name="Google Shape;455;p19"/>
          <p:cNvSpPr txBox="1"/>
          <p:nvPr/>
        </p:nvSpPr>
        <p:spPr>
          <a:xfrm>
            <a:off x="1097280" y="1828800"/>
            <a:ext cx="1001268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True or False: there is a DFA that decides</a:t>
            </a:r>
            <a:b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L = { x : x is a palindrome },</a:t>
            </a:r>
            <a:b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where the alphabet Σ has at least two symbols.</a:t>
            </a:r>
            <a:endParaRPr/>
          </a:p>
        </p:txBody>
      </p:sp>
      <p:sp>
        <p:nvSpPr>
          <p:cNvPr id="456" name="Google Shape;456;p19"/>
          <p:cNvSpPr txBox="1"/>
          <p:nvPr/>
        </p:nvSpPr>
        <p:spPr>
          <a:xfrm>
            <a:off x="3886200" y="425196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Justify your answer formally.</a:t>
            </a:r>
            <a:endParaRPr/>
          </a:p>
        </p:txBody>
      </p:sp>
      <p:sp>
        <p:nvSpPr>
          <p:cNvPr id="457" name="Google Shape;457;p19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2.2 Problem 4: intuition first</a:t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2.2.4</a:t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8A94A0"/>
                </a:solidFill>
              </a:rPr>
              <a:t>1</a:t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469" name="Google Shape;469;p20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palindrome test seems to require remembering an arbitrarily long first half.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Why is “DFA has finite memory” only intuition, not yet a proof?</a:t>
            </a:r>
            <a:endParaRPr/>
          </a:p>
        </p:txBody>
      </p:sp>
      <p:sp>
        <p:nvSpPr>
          <p:cNvPr id="470" name="Google Shape;470;p2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2.2 Problem 4: proof plan</a:t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2.2.4</a:t>
            </a:r>
            <a:endParaRPr/>
          </a:p>
        </p:txBody>
      </p:sp>
      <p:sp>
        <p:nvSpPr>
          <p:cNvPr id="478" name="Google Shape;478;p2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8A94A0"/>
                </a:solidFill>
              </a:rPr>
              <a:t>2</a:t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482" name="Google Shape;482;p21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Assume an arbitrary DFA has s states.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Read s+1 copies of one symbol x and use the pigeonhole principle to force a repeated state.</a:t>
            </a:r>
            <a:endParaRPr/>
          </a:p>
        </p:txBody>
      </p:sp>
      <p:sp>
        <p:nvSpPr>
          <p:cNvPr id="483" name="Google Shape;483;p2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/>
          <p:nvPr/>
        </p:nvSpPr>
        <p:spPr>
          <a:xfrm>
            <a:off x="768096" y="960120"/>
            <a:ext cx="82296" cy="4389120"/>
          </a:xfrm>
          <a:prstGeom prst="rect">
            <a:avLst/>
          </a:prstGeom>
          <a:solidFill>
            <a:srgbClr val="FFCB0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 txBox="1"/>
          <p:nvPr/>
        </p:nvSpPr>
        <p:spPr>
          <a:xfrm>
            <a:off x="1143000" y="1965960"/>
            <a:ext cx="97842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Turing Machines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1143000" y="2788920"/>
            <a:ext cx="9692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7E2EE"/>
                </a:solidFill>
                <a:latin typeface="Arial"/>
                <a:ea typeface="Arial"/>
                <a:cs typeface="Arial"/>
                <a:sym typeface="Arial"/>
              </a:rPr>
              <a:t>A DFA has finite memory. A Turing machine adds an unbounded tape and a read/write head, giving a general model of computation.</a:t>
            </a:r>
            <a:endParaRPr/>
          </a:p>
        </p:txBody>
      </p:sp>
      <p:sp>
        <p:nvSpPr>
          <p:cNvPr id="491" name="Google Shape;491;p24"/>
          <p:cNvSpPr txBox="1"/>
          <p:nvPr/>
        </p:nvSpPr>
        <p:spPr>
          <a:xfrm>
            <a:off x="11475720" y="6355080"/>
            <a:ext cx="3657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FC1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AFC1D4"/>
                </a:solidFill>
              </a:rPr>
              <a:t>3</a:t>
            </a:r>
            <a:endParaRPr/>
          </a:p>
        </p:txBody>
      </p:sp>
      <p:sp>
        <p:nvSpPr>
          <p:cNvPr id="492" name="Google Shape;492;p2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Turing machine: formal definition</a:t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8A94A0"/>
                </a:solidFill>
              </a:rPr>
              <a:t>4</a:t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1188720" y="1143000"/>
            <a:ext cx="982980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1389888" y="1289304"/>
            <a:ext cx="9427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</p:txBody>
      </p:sp>
      <p:sp>
        <p:nvSpPr>
          <p:cNvPr id="504" name="Google Shape;504;p25"/>
          <p:cNvSpPr txBox="1"/>
          <p:nvPr/>
        </p:nvSpPr>
        <p:spPr>
          <a:xfrm>
            <a:off x="1463040" y="1645920"/>
            <a:ext cx="9281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 = (Σ, Γ, Q, q</a:t>
            </a:r>
            <a:r>
              <a:rPr b="0" baseline="-2500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b="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, q</a:t>
            </a:r>
            <a:r>
              <a:rPr b="0" baseline="-2500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acc</a:t>
            </a:r>
            <a:r>
              <a:rPr b="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, q</a:t>
            </a:r>
            <a:r>
              <a:rPr b="0" baseline="-2500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rej</a:t>
            </a:r>
            <a:r>
              <a:rPr b="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, δ)</a:t>
            </a:r>
            <a:endParaRPr/>
          </a:p>
        </p:txBody>
      </p:sp>
      <p:sp>
        <p:nvSpPr>
          <p:cNvPr id="505" name="Google Shape;505;p25"/>
          <p:cNvSpPr txBox="1"/>
          <p:nvPr/>
        </p:nvSpPr>
        <p:spPr>
          <a:xfrm>
            <a:off x="777240" y="2743200"/>
            <a:ext cx="107898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Σ: finite input alphabet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Γ: finite tape alphabet with Σ ⊆ Γ and a blank symbol ⊥ ∉ Σ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Q: finite state 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</a:t>
            </a:r>
            <a:r>
              <a:rPr b="0" baseline="-2500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: start state; q</a:t>
            </a:r>
            <a:r>
              <a:rPr b="0" baseline="-2500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</a:t>
            </a: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and q</a:t>
            </a:r>
            <a:r>
              <a:rPr b="0" baseline="-2500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</a:t>
            </a: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: distinct halting states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δ specifies the next state, symbol to write, and head direction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Turing machine transition function</a:t>
            </a:r>
            <a:endParaRPr/>
          </a:p>
        </p:txBody>
      </p:sp>
      <p:sp>
        <p:nvSpPr>
          <p:cNvPr id="512" name="Google Shape;512;p26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6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514" name="Google Shape;514;p2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8A94A0"/>
                </a:solidFill>
              </a:rPr>
              <a:t>5</a:t>
            </a:r>
            <a:endParaRPr/>
          </a:p>
        </p:txBody>
      </p:sp>
      <p:sp>
        <p:nvSpPr>
          <p:cNvPr id="516" name="Google Shape;516;p26"/>
          <p:cNvSpPr/>
          <p:nvPr/>
        </p:nvSpPr>
        <p:spPr>
          <a:xfrm>
            <a:off x="1371600" y="1234440"/>
            <a:ext cx="9464040" cy="114300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"/>
          <p:cNvSpPr txBox="1"/>
          <p:nvPr/>
        </p:nvSpPr>
        <p:spPr>
          <a:xfrm>
            <a:off x="1572768" y="1380744"/>
            <a:ext cx="9061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Transition rule</a:t>
            </a:r>
            <a:endParaRPr/>
          </a:p>
        </p:txBody>
      </p:sp>
      <p:sp>
        <p:nvSpPr>
          <p:cNvPr id="518" name="Google Shape;518;p26"/>
          <p:cNvSpPr txBox="1"/>
          <p:nvPr/>
        </p:nvSpPr>
        <p:spPr>
          <a:xfrm>
            <a:off x="1645920" y="1737360"/>
            <a:ext cx="8915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δ : (Q \ {q</a:t>
            </a:r>
            <a:r>
              <a:rPr b="0" baseline="-2500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acc</a:t>
            </a:r>
            <a: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,q</a:t>
            </a:r>
            <a:r>
              <a:rPr b="0" baseline="-2500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rej</a:t>
            </a:r>
            <a: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}) × Γ → Q × Γ × {L,R}</a:t>
            </a:r>
            <a:endParaRPr/>
          </a:p>
        </p:txBody>
      </p:sp>
      <p:sp>
        <p:nvSpPr>
          <p:cNvPr id="519" name="Google Shape;519;p26"/>
          <p:cNvSpPr/>
          <p:nvPr/>
        </p:nvSpPr>
        <p:spPr>
          <a:xfrm>
            <a:off x="685800" y="278892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 txBox="1"/>
          <p:nvPr/>
        </p:nvSpPr>
        <p:spPr>
          <a:xfrm>
            <a:off x="886968" y="2935224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521" name="Google Shape;521;p26"/>
          <p:cNvSpPr txBox="1"/>
          <p:nvPr/>
        </p:nvSpPr>
        <p:spPr>
          <a:xfrm>
            <a:off x="960120" y="3291839"/>
            <a:ext cx="2880360" cy="1216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Current state + symbol under the head</a:t>
            </a:r>
            <a:endParaRPr/>
          </a:p>
        </p:txBody>
      </p:sp>
      <p:sp>
        <p:nvSpPr>
          <p:cNvPr id="522" name="Google Shape;522;p26"/>
          <p:cNvSpPr/>
          <p:nvPr/>
        </p:nvSpPr>
        <p:spPr>
          <a:xfrm>
            <a:off x="4389120" y="278892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FFF8EC"/>
          </a:solidFill>
          <a:ln cap="flat" cmpd="sng" w="190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 txBox="1"/>
          <p:nvPr/>
        </p:nvSpPr>
        <p:spPr>
          <a:xfrm>
            <a:off x="4590288" y="2935224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Write / move</a:t>
            </a:r>
            <a:endParaRPr/>
          </a:p>
        </p:txBody>
      </p:sp>
      <p:sp>
        <p:nvSpPr>
          <p:cNvPr id="524" name="Google Shape;524;p26"/>
          <p:cNvSpPr txBox="1"/>
          <p:nvPr/>
        </p:nvSpPr>
        <p:spPr>
          <a:xfrm>
            <a:off x="4663440" y="3291839"/>
            <a:ext cx="2880360" cy="1216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Overwrite that cell, then move one cell Left or Right</a:t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8092440" y="278892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6"/>
          <p:cNvSpPr txBox="1"/>
          <p:nvPr/>
        </p:nvSpPr>
        <p:spPr>
          <a:xfrm>
            <a:off x="8293608" y="2935224"/>
            <a:ext cx="30266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Change state</a:t>
            </a:r>
            <a:endParaRPr/>
          </a:p>
        </p:txBody>
      </p:sp>
      <p:sp>
        <p:nvSpPr>
          <p:cNvPr id="527" name="Google Shape;527;p26"/>
          <p:cNvSpPr txBox="1"/>
          <p:nvPr/>
        </p:nvSpPr>
        <p:spPr>
          <a:xfrm>
            <a:off x="8366760" y="3291839"/>
            <a:ext cx="2880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Enter the next state; repeat until q</a:t>
            </a:r>
            <a:r>
              <a:rPr b="0" baseline="-2500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acc</a:t>
            </a: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 or q</a:t>
            </a:r>
            <a:r>
              <a:rPr b="0" baseline="-2500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rej</a:t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Running a Turing machine</a:t>
            </a: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8A94A0"/>
                </a:solidFill>
              </a:rPr>
              <a:t>6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594360" y="896112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On input x, the input symbols occupy the beginning of the tape, the rest is blank, and the head starts on the first symbol.</a:t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822960" y="1874519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1024128" y="2020824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Outcome 1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1097280" y="2377439"/>
            <a:ext cx="27432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Eventually enters    q</a:t>
            </a:r>
            <a:r>
              <a:rPr b="0" baseline="-2500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acc</a:t>
            </a: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 → ACCEPT</a:t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4443984" y="1874519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BEFEE"/>
          </a:solidFill>
          <a:ln cap="flat" cmpd="sng" w="19050">
            <a:solidFill>
              <a:srgbClr val="C24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 txBox="1"/>
          <p:nvPr/>
        </p:nvSpPr>
        <p:spPr>
          <a:xfrm>
            <a:off x="4645152" y="2020824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4D43"/>
                </a:solidFill>
                <a:latin typeface="Arial"/>
                <a:ea typeface="Arial"/>
                <a:cs typeface="Arial"/>
                <a:sym typeface="Arial"/>
              </a:rPr>
              <a:t>Outcome 2</a:t>
            </a:r>
            <a:endParaRPr/>
          </a:p>
        </p:txBody>
      </p:sp>
      <p:sp>
        <p:nvSpPr>
          <p:cNvPr id="544" name="Google Shape;544;p27"/>
          <p:cNvSpPr txBox="1"/>
          <p:nvPr/>
        </p:nvSpPr>
        <p:spPr>
          <a:xfrm>
            <a:off x="4718304" y="2377439"/>
            <a:ext cx="27432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Eventually enters     q</a:t>
            </a:r>
            <a:r>
              <a:rPr baseline="-25000" lang="en-US" sz="2100">
                <a:solidFill>
                  <a:srgbClr val="072854"/>
                </a:solidFill>
              </a:rPr>
              <a:t>rej</a:t>
            </a: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 → REJECT</a:t>
            </a: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8065008" y="1874519"/>
            <a:ext cx="3291840" cy="2011680"/>
          </a:xfrm>
          <a:prstGeom prst="roundRect">
            <a:avLst>
              <a:gd fmla="val 16667" name="adj"/>
            </a:avLst>
          </a:prstGeom>
          <a:solidFill>
            <a:srgbClr val="FFF8EC"/>
          </a:solidFill>
          <a:ln cap="flat" cmpd="sng" w="190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 txBox="1"/>
          <p:nvPr/>
        </p:nvSpPr>
        <p:spPr>
          <a:xfrm>
            <a:off x="8266176" y="2020824"/>
            <a:ext cx="2889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Outcome 3</a:t>
            </a:r>
            <a:endParaRPr/>
          </a:p>
        </p:txBody>
      </p:sp>
      <p:sp>
        <p:nvSpPr>
          <p:cNvPr id="547" name="Google Shape;547;p27"/>
          <p:cNvSpPr txBox="1"/>
          <p:nvPr/>
        </p:nvSpPr>
        <p:spPr>
          <a:xfrm>
            <a:off x="8339328" y="2377439"/>
            <a:ext cx="274320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Never reaches a final state → LOOP forever</a:t>
            </a:r>
            <a:endParaRPr/>
          </a:p>
        </p:txBody>
      </p:sp>
      <p:sp>
        <p:nvSpPr>
          <p:cNvPr id="548" name="Google Shape;548;p27"/>
          <p:cNvSpPr txBox="1"/>
          <p:nvPr/>
        </p:nvSpPr>
        <p:spPr>
          <a:xfrm>
            <a:off x="2286000" y="47091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Unlike a DFA, a Turing machine is not guaranteed to halt.</a:t>
            </a:r>
            <a:endParaRPr/>
          </a:p>
        </p:txBody>
      </p:sp>
      <p:sp>
        <p:nvSpPr>
          <p:cNvPr id="549" name="Google Shape;549;p27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Deciding vs. recognizing a language</a:t>
            </a: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8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8A94A0"/>
                </a:solidFill>
              </a:rPr>
              <a:t>7</a:t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731520" y="1234440"/>
            <a:ext cx="5257800" cy="214884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 txBox="1"/>
          <p:nvPr/>
        </p:nvSpPr>
        <p:spPr>
          <a:xfrm>
            <a:off x="932688" y="1380744"/>
            <a:ext cx="4855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Decides L</a:t>
            </a:r>
            <a:endParaRPr/>
          </a:p>
        </p:txBody>
      </p:sp>
      <p:sp>
        <p:nvSpPr>
          <p:cNvPr id="561" name="Google Shape;561;p28"/>
          <p:cNvSpPr txBox="1"/>
          <p:nvPr/>
        </p:nvSpPr>
        <p:spPr>
          <a:xfrm>
            <a:off x="1005840" y="1737360"/>
            <a:ext cx="4709160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Accept every x ∈ L, reject every x ∉ L, and halt on every input.</a:t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6217920" y="1234440"/>
            <a:ext cx="5257800" cy="2148840"/>
          </a:xfrm>
          <a:prstGeom prst="roundRect">
            <a:avLst>
              <a:gd fmla="val 16667" name="adj"/>
            </a:avLst>
          </a:prstGeom>
          <a:solidFill>
            <a:srgbClr val="FFF8EC"/>
          </a:solidFill>
          <a:ln cap="flat" cmpd="sng" w="190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6419088" y="1380744"/>
            <a:ext cx="48554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Recognizes L</a:t>
            </a:r>
            <a:endParaRPr/>
          </a:p>
        </p:txBody>
      </p:sp>
      <p:sp>
        <p:nvSpPr>
          <p:cNvPr id="564" name="Google Shape;564;p28"/>
          <p:cNvSpPr txBox="1"/>
          <p:nvPr/>
        </p:nvSpPr>
        <p:spPr>
          <a:xfrm>
            <a:off x="6492240" y="1737360"/>
            <a:ext cx="4709160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Accept every x ∈ L; on x ∉ L the machine may reject or loop.</a:t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1828800" y="3886200"/>
            <a:ext cx="8503920" cy="132588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2029968" y="4032504"/>
            <a:ext cx="8101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Language of M</a:t>
            </a:r>
            <a:endParaRPr/>
          </a:p>
        </p:txBody>
      </p:sp>
      <p:sp>
        <p:nvSpPr>
          <p:cNvPr id="567" name="Google Shape;567;p28"/>
          <p:cNvSpPr txBox="1"/>
          <p:nvPr/>
        </p:nvSpPr>
        <p:spPr>
          <a:xfrm>
            <a:off x="2103120" y="4389120"/>
            <a:ext cx="79552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L(M) = { x : M accepts x }</a:t>
            </a:r>
            <a:endParaRPr/>
          </a:p>
        </p:txBody>
      </p:sp>
      <p:sp>
        <p:nvSpPr>
          <p:cNvPr id="568" name="Google Shape;568;p28"/>
          <p:cNvSpPr txBox="1"/>
          <p:nvPr/>
        </p:nvSpPr>
        <p:spPr>
          <a:xfrm>
            <a:off x="960120" y="548640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A language is decidable if some TM decides it; recognizable if some TM recognizes it.</a:t>
            </a:r>
            <a:endParaRPr/>
          </a:p>
        </p:txBody>
      </p:sp>
      <p:sp>
        <p:nvSpPr>
          <p:cNvPr id="569" name="Google Shape;569;p2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Church–Turing Thesis</a:t>
            </a:r>
            <a:endParaRPr/>
          </a:p>
        </p:txBody>
      </p:sp>
      <p:sp>
        <p:nvSpPr>
          <p:cNvPr id="575" name="Google Shape;575;p29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9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9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800">
                <a:solidFill>
                  <a:srgbClr val="8A94A0"/>
                </a:solidFill>
              </a:rPr>
              <a:t>8</a:t>
            </a:r>
            <a:endParaRPr/>
          </a:p>
        </p:txBody>
      </p:sp>
      <p:sp>
        <p:nvSpPr>
          <p:cNvPr id="579" name="Google Shape;579;p29"/>
          <p:cNvSpPr/>
          <p:nvPr/>
        </p:nvSpPr>
        <p:spPr>
          <a:xfrm>
            <a:off x="1005840" y="1417320"/>
            <a:ext cx="10195560" cy="205740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9"/>
          <p:cNvSpPr txBox="1"/>
          <p:nvPr/>
        </p:nvSpPr>
        <p:spPr>
          <a:xfrm>
            <a:off x="1207008" y="1563624"/>
            <a:ext cx="9793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Thesis</a:t>
            </a:r>
            <a:endParaRPr/>
          </a:p>
        </p:txBody>
      </p:sp>
      <p:sp>
        <p:nvSpPr>
          <p:cNvPr id="581" name="Google Shape;581;p29"/>
          <p:cNvSpPr txBox="1"/>
          <p:nvPr/>
        </p:nvSpPr>
        <p:spPr>
          <a:xfrm>
            <a:off x="1280160" y="1920240"/>
            <a:ext cx="964692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function can be computed by an “effective” mechanical procedure (an algorithm) if and only if some Turing machine can compute it.</a:t>
            </a:r>
            <a:endParaRPr/>
          </a:p>
        </p:txBody>
      </p:sp>
      <p:sp>
        <p:nvSpPr>
          <p:cNvPr id="582" name="Google Shape;582;p29"/>
          <p:cNvSpPr txBox="1"/>
          <p:nvPr/>
        </p:nvSpPr>
        <p:spPr>
          <a:xfrm>
            <a:off x="1920240" y="3931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This is a thesis / modeling principle, not a mathematical theorem.</a:t>
            </a:r>
            <a:endParaRPr/>
          </a:p>
        </p:txBody>
      </p:sp>
      <p:sp>
        <p:nvSpPr>
          <p:cNvPr id="583" name="Google Shape;583;p29"/>
          <p:cNvSpPr txBox="1"/>
          <p:nvPr/>
        </p:nvSpPr>
        <p:spPr>
          <a:xfrm>
            <a:off x="1234440" y="4800600"/>
            <a:ext cx="9738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It is why Turing machines serve as the standard formal model for asking what is computable at all.</a:t>
            </a:r>
            <a:endParaRPr/>
          </a:p>
        </p:txBody>
      </p:sp>
      <p:sp>
        <p:nvSpPr>
          <p:cNvPr id="584" name="Google Shape;584;p29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1: can one TM decide multiple languages?</a:t>
            </a:r>
            <a:endParaRPr/>
          </a:p>
        </p:txBody>
      </p:sp>
      <p:sp>
        <p:nvSpPr>
          <p:cNvPr id="590" name="Google Shape;590;p30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2.3.1</a:t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0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29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1143000" y="1600200"/>
            <a:ext cx="9921240" cy="20574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0"/>
          <p:cNvSpPr txBox="1"/>
          <p:nvPr/>
        </p:nvSpPr>
        <p:spPr>
          <a:xfrm>
            <a:off x="1344168" y="1746504"/>
            <a:ext cx="9518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True / False</a:t>
            </a:r>
            <a:endParaRPr/>
          </a:p>
        </p:txBody>
      </p:sp>
      <p:sp>
        <p:nvSpPr>
          <p:cNvPr id="596" name="Google Shape;596;p30"/>
          <p:cNvSpPr txBox="1"/>
          <p:nvPr/>
        </p:nvSpPr>
        <p:spPr>
          <a:xfrm>
            <a:off x="1417320" y="2103120"/>
            <a:ext cx="9372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Turing machine can potentially decide more than one distinct language.</a:t>
            </a:r>
            <a:endParaRPr/>
          </a:p>
        </p:txBody>
      </p:sp>
      <p:sp>
        <p:nvSpPr>
          <p:cNvPr id="597" name="Google Shape;597;p3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1: use the definition of L(M)</a:t>
            </a:r>
            <a:endParaRPr/>
          </a:p>
        </p:txBody>
      </p:sp>
      <p:sp>
        <p:nvSpPr>
          <p:cNvPr id="603" name="Google Shape;603;p31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1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2.3.1</a:t>
            </a:r>
            <a:endParaRPr/>
          </a:p>
        </p:txBody>
      </p:sp>
      <p:sp>
        <p:nvSpPr>
          <p:cNvPr id="605" name="Google Shape;605;p3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0</a:t>
            </a:r>
            <a:endParaRPr/>
          </a:p>
        </p:txBody>
      </p:sp>
      <p:sp>
        <p:nvSpPr>
          <p:cNvPr id="607" name="Google Shape;607;p31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609" name="Google Shape;609;p31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For a fixed machine M, what determines membership in any language it decides?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Can the same accept/reject behavior define two distinct sets?</a:t>
            </a:r>
            <a:endParaRPr/>
          </a:p>
        </p:txBody>
      </p:sp>
      <p:sp>
        <p:nvSpPr>
          <p:cNvPr id="610" name="Google Shape;610;p3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1: solution</a:t>
            </a:r>
            <a:endParaRPr/>
          </a:p>
        </p:txBody>
      </p:sp>
      <p:sp>
        <p:nvSpPr>
          <p:cNvPr id="616" name="Google Shape;616;p32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2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2.3.1</a:t>
            </a:r>
            <a:endParaRPr/>
          </a:p>
        </p:txBody>
      </p:sp>
      <p:sp>
        <p:nvSpPr>
          <p:cNvPr id="618" name="Google Shape;618;p3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2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1</a:t>
            </a:r>
            <a:endParaRPr/>
          </a:p>
        </p:txBody>
      </p:sp>
      <p:sp>
        <p:nvSpPr>
          <p:cNvPr id="620" name="Google Shape;620;p32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2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22" name="Google Shape;622;p32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2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624" name="Google Shape;624;p32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FALSE.</a:t>
            </a:r>
            <a:endParaRPr/>
          </a:p>
        </p:txBody>
      </p:sp>
      <p:sp>
        <p:nvSpPr>
          <p:cNvPr id="625" name="Google Shape;625;p32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27" name="Google Shape;627;p32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2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If M decides L</a:t>
            </a:r>
            <a:endParaRPr/>
          </a:p>
        </p:txBody>
      </p:sp>
      <p:sp>
        <p:nvSpPr>
          <p:cNvPr id="629" name="Google Shape;629;p32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For every x, x ∈ L ⇔ M(x) accepts.</a:t>
            </a:r>
            <a:endParaRPr/>
          </a:p>
        </p:txBody>
      </p:sp>
      <p:sp>
        <p:nvSpPr>
          <p:cNvPr id="630" name="Google Shape;630;p32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32" name="Google Shape;632;p32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2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Suppose M also decides L′</a:t>
            </a:r>
            <a:endParaRPr/>
          </a:p>
        </p:txBody>
      </p:sp>
      <p:sp>
        <p:nvSpPr>
          <p:cNvPr id="634" name="Google Shape;634;p32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Then x ∈ L ⇔ M(x) accepts ⇔ x ∈ L′ for every x, so L = L′. A TM either decides exactly one language, or—if it fails to halt somewhere—decides none.</a:t>
            </a:r>
            <a:endParaRPr/>
          </a:p>
        </p:txBody>
      </p:sp>
      <p:sp>
        <p:nvSpPr>
          <p:cNvPr id="635" name="Google Shape;635;p32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2: many machines, same language</a:t>
            </a:r>
            <a:endParaRPr/>
          </a:p>
        </p:txBody>
      </p:sp>
      <p:sp>
        <p:nvSpPr>
          <p:cNvPr id="641" name="Google Shape;641;p33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3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2.3.2</a:t>
            </a:r>
            <a:endParaRPr/>
          </a:p>
        </p:txBody>
      </p:sp>
      <p:sp>
        <p:nvSpPr>
          <p:cNvPr id="643" name="Google Shape;643;p3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3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2</a:t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1143000" y="1600200"/>
            <a:ext cx="9921240" cy="205740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3"/>
          <p:cNvSpPr txBox="1"/>
          <p:nvPr/>
        </p:nvSpPr>
        <p:spPr>
          <a:xfrm>
            <a:off x="1344168" y="1746504"/>
            <a:ext cx="9518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True / False</a:t>
            </a:r>
            <a:endParaRPr/>
          </a:p>
        </p:txBody>
      </p:sp>
      <p:sp>
        <p:nvSpPr>
          <p:cNvPr id="647" name="Google Shape;647;p33"/>
          <p:cNvSpPr txBox="1"/>
          <p:nvPr/>
        </p:nvSpPr>
        <p:spPr>
          <a:xfrm>
            <a:off x="1417320" y="2103120"/>
            <a:ext cx="9372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For any decidable language L, there is more than one distinct Turing machine M that decides L.</a:t>
            </a:r>
            <a:endParaRPr/>
          </a:p>
        </p:txBody>
      </p:sp>
      <p:sp>
        <p:nvSpPr>
          <p:cNvPr id="648" name="Google Shape;648;p3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2: change the machine without changing behavior</a:t>
            </a:r>
            <a:endParaRPr/>
          </a:p>
        </p:txBody>
      </p:sp>
      <p:sp>
        <p:nvSpPr>
          <p:cNvPr id="654" name="Google Shape;654;p34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4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2.3.2</a:t>
            </a:r>
            <a:endParaRPr/>
          </a:p>
        </p:txBody>
      </p:sp>
      <p:sp>
        <p:nvSpPr>
          <p:cNvPr id="656" name="Google Shape;656;p3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4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3</a:t>
            </a:r>
            <a:endParaRPr/>
          </a:p>
        </p:txBody>
      </p:sp>
      <p:sp>
        <p:nvSpPr>
          <p:cNvPr id="658" name="Google Shape;658;p34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660" name="Google Shape;660;p34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Can you add harmless work before the original machine starts?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Or add states that are never reached?</a:t>
            </a:r>
            <a:endParaRPr/>
          </a:p>
        </p:txBody>
      </p:sp>
      <p:sp>
        <p:nvSpPr>
          <p:cNvPr id="661" name="Google Shape;661;p3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2: solution</a:t>
            </a:r>
            <a:endParaRPr/>
          </a:p>
        </p:txBody>
      </p:sp>
      <p:sp>
        <p:nvSpPr>
          <p:cNvPr id="667" name="Google Shape;667;p35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5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2.3.2</a:t>
            </a:r>
            <a:endParaRPr/>
          </a:p>
        </p:txBody>
      </p:sp>
      <p:sp>
        <p:nvSpPr>
          <p:cNvPr id="669" name="Google Shape;669;p3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5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4</a:t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5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1170432" y="960120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 txBox="1"/>
          <p:nvPr/>
        </p:nvSpPr>
        <p:spPr>
          <a:xfrm>
            <a:off x="1389888" y="1060704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675" name="Google Shape;675;p35"/>
          <p:cNvSpPr txBox="1"/>
          <p:nvPr/>
        </p:nvSpPr>
        <p:spPr>
          <a:xfrm>
            <a:off x="3246120" y="1051560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TRUE.</a:t>
            </a:r>
            <a:endParaRPr/>
          </a:p>
        </p:txBody>
      </p:sp>
      <p:sp>
        <p:nvSpPr>
          <p:cNvPr id="676" name="Google Shape;676;p35"/>
          <p:cNvSpPr/>
          <p:nvPr/>
        </p:nvSpPr>
        <p:spPr>
          <a:xfrm>
            <a:off x="749808" y="2471166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5"/>
          <p:cNvSpPr txBox="1"/>
          <p:nvPr/>
        </p:nvSpPr>
        <p:spPr>
          <a:xfrm>
            <a:off x="749808" y="248945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78" name="Google Shape;678;p35"/>
          <p:cNvSpPr/>
          <p:nvPr/>
        </p:nvSpPr>
        <p:spPr>
          <a:xfrm>
            <a:off x="1170432" y="2379726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5"/>
          <p:cNvSpPr txBox="1"/>
          <p:nvPr/>
        </p:nvSpPr>
        <p:spPr>
          <a:xfrm>
            <a:off x="1389888" y="2480310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Start with a decider M</a:t>
            </a:r>
            <a:endParaRPr/>
          </a:p>
        </p:txBody>
      </p:sp>
      <p:sp>
        <p:nvSpPr>
          <p:cNvPr id="680" name="Google Shape;680;p35"/>
          <p:cNvSpPr txBox="1"/>
          <p:nvPr/>
        </p:nvSpPr>
        <p:spPr>
          <a:xfrm>
            <a:off x="3246120" y="2471166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Because L is decidable, at least one TM M halts and decides it.</a:t>
            </a:r>
            <a:endParaRPr/>
          </a:p>
        </p:txBody>
      </p:sp>
      <p:sp>
        <p:nvSpPr>
          <p:cNvPr id="681" name="Google Shape;681;p35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83" name="Google Shape;683;p35"/>
          <p:cNvSpPr/>
          <p:nvPr/>
        </p:nvSpPr>
        <p:spPr>
          <a:xfrm>
            <a:off x="1170432" y="3799332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 txBox="1"/>
          <p:nvPr/>
        </p:nvSpPr>
        <p:spPr>
          <a:xfrm>
            <a:off x="1389888" y="3899916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Build a different decider M′</a:t>
            </a:r>
            <a:endParaRPr/>
          </a:p>
        </p:txBody>
      </p:sp>
      <p:sp>
        <p:nvSpPr>
          <p:cNvPr id="685" name="Google Shape;685;p35"/>
          <p:cNvSpPr txBox="1"/>
          <p:nvPr/>
        </p:nvSpPr>
        <p:spPr>
          <a:xfrm>
            <a:off x="3246120" y="3890772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Make M′ move one cell right, then one cell left without changing tape contents, and then simulate M exactly. M′ ≠ M but decides the same L.</a:t>
            </a:r>
            <a:endParaRPr/>
          </a:p>
        </p:txBody>
      </p:sp>
      <p:sp>
        <p:nvSpPr>
          <p:cNvPr id="686" name="Google Shape;686;p35"/>
          <p:cNvSpPr/>
          <p:nvPr/>
        </p:nvSpPr>
        <p:spPr>
          <a:xfrm>
            <a:off x="749808" y="5310377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5"/>
          <p:cNvSpPr txBox="1"/>
          <p:nvPr/>
        </p:nvSpPr>
        <p:spPr>
          <a:xfrm>
            <a:off x="749808" y="532866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88" name="Google Shape;688;p35"/>
          <p:cNvSpPr/>
          <p:nvPr/>
        </p:nvSpPr>
        <p:spPr>
          <a:xfrm>
            <a:off x="1170432" y="5218938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 txBox="1"/>
          <p:nvPr/>
        </p:nvSpPr>
        <p:spPr>
          <a:xfrm>
            <a:off x="1389888" y="5319522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In fact</a:t>
            </a:r>
            <a:endParaRPr/>
          </a:p>
        </p:txBody>
      </p:sp>
      <p:sp>
        <p:nvSpPr>
          <p:cNvPr id="690" name="Google Shape;690;p35"/>
          <p:cNvSpPr txBox="1"/>
          <p:nvPr/>
        </p:nvSpPr>
        <p:spPr>
          <a:xfrm>
            <a:off x="3246120" y="5310377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Vary the harmless prefix or add unreachable states: infinitely many distinct TMs decide L.</a:t>
            </a:r>
            <a:endParaRPr/>
          </a:p>
        </p:txBody>
      </p:sp>
      <p:sp>
        <p:nvSpPr>
          <p:cNvPr id="691" name="Google Shape;691;p35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3: does every TM recognize a language?</a:t>
            </a:r>
            <a:endParaRPr/>
          </a:p>
        </p:txBody>
      </p:sp>
      <p:sp>
        <p:nvSpPr>
          <p:cNvPr id="697" name="Google Shape;697;p36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6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2.3.3</a:t>
            </a:r>
            <a:endParaRPr/>
          </a:p>
        </p:txBody>
      </p:sp>
      <p:sp>
        <p:nvSpPr>
          <p:cNvPr id="699" name="Google Shape;699;p3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6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5</a:t>
            </a:r>
            <a:endParaRPr/>
          </a:p>
        </p:txBody>
      </p:sp>
      <p:sp>
        <p:nvSpPr>
          <p:cNvPr id="701" name="Google Shape;701;p36"/>
          <p:cNvSpPr/>
          <p:nvPr/>
        </p:nvSpPr>
        <p:spPr>
          <a:xfrm>
            <a:off x="1143000" y="1600200"/>
            <a:ext cx="9921240" cy="20574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6"/>
          <p:cNvSpPr txBox="1"/>
          <p:nvPr/>
        </p:nvSpPr>
        <p:spPr>
          <a:xfrm>
            <a:off x="1344168" y="1746504"/>
            <a:ext cx="9518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True / False</a:t>
            </a:r>
            <a:endParaRPr/>
          </a:p>
        </p:txBody>
      </p:sp>
      <p:sp>
        <p:nvSpPr>
          <p:cNvPr id="703" name="Google Shape;703;p36"/>
          <p:cNvSpPr txBox="1"/>
          <p:nvPr/>
        </p:nvSpPr>
        <p:spPr>
          <a:xfrm>
            <a:off x="1417320" y="2103120"/>
            <a:ext cx="937260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Any Turing machine recognizes some language.</a:t>
            </a:r>
            <a:endParaRPr/>
          </a:p>
        </p:txBody>
      </p:sp>
      <p:sp>
        <p:nvSpPr>
          <p:cNvPr id="704" name="Google Shape;704;p36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3: define the language from the machine</a:t>
            </a:r>
            <a:endParaRPr/>
          </a:p>
        </p:txBody>
      </p:sp>
      <p:sp>
        <p:nvSpPr>
          <p:cNvPr id="710" name="Google Shape;710;p37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2.3.3</a:t>
            </a:r>
            <a:endParaRPr/>
          </a:p>
        </p:txBody>
      </p:sp>
      <p:sp>
        <p:nvSpPr>
          <p:cNvPr id="712" name="Google Shape;712;p3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7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6</a:t>
            </a:r>
            <a:endParaRPr/>
          </a:p>
        </p:txBody>
      </p:sp>
      <p:sp>
        <p:nvSpPr>
          <p:cNvPr id="714" name="Google Shape;714;p37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716" name="Google Shape;716;p37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Take an arbitrary TM M.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set do you get by collecting exactly the strings that M accepts?</a:t>
            </a:r>
            <a:endParaRPr/>
          </a:p>
        </p:txBody>
      </p:sp>
      <p:sp>
        <p:nvSpPr>
          <p:cNvPr id="717" name="Google Shape;717;p37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3: solution</a:t>
            </a:r>
            <a:endParaRPr/>
          </a:p>
        </p:txBody>
      </p:sp>
      <p:sp>
        <p:nvSpPr>
          <p:cNvPr id="723" name="Google Shape;723;p38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8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2.3.3</a:t>
            </a:r>
            <a:endParaRPr/>
          </a:p>
        </p:txBody>
      </p:sp>
      <p:sp>
        <p:nvSpPr>
          <p:cNvPr id="725" name="Google Shape;725;p3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8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7</a:t>
            </a:r>
            <a:endParaRPr/>
          </a:p>
        </p:txBody>
      </p:sp>
      <p:sp>
        <p:nvSpPr>
          <p:cNvPr id="727" name="Google Shape;727;p38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8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29" name="Google Shape;729;p38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8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731" name="Google Shape;731;p38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TRUE.</a:t>
            </a:r>
            <a:endParaRPr/>
          </a:p>
        </p:txBody>
      </p:sp>
      <p:sp>
        <p:nvSpPr>
          <p:cNvPr id="732" name="Google Shape;732;p38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8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34" name="Google Shape;734;p38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8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Define L(M)</a:t>
            </a:r>
            <a:endParaRPr/>
          </a:p>
        </p:txBody>
      </p:sp>
      <p:sp>
        <p:nvSpPr>
          <p:cNvPr id="736" name="Google Shape;736;p38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Let L(M) = {x : M accepts x}. This set may even be empty.</a:t>
            </a:r>
            <a:endParaRPr/>
          </a:p>
        </p:txBody>
      </p:sp>
      <p:sp>
        <p:nvSpPr>
          <p:cNvPr id="737" name="Google Shape;737;p38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8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39" name="Google Shape;739;p38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8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Recognition</a:t>
            </a:r>
            <a:endParaRPr/>
          </a:p>
        </p:txBody>
      </p:sp>
      <p:sp>
        <p:nvSpPr>
          <p:cNvPr id="741" name="Google Shape;741;p38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By construction, x ∈ L(M) iff M accepts x. That is exactly the definition that M recognizes L(M).</a:t>
            </a:r>
            <a:endParaRPr/>
          </a:p>
        </p:txBody>
      </p:sp>
      <p:sp>
        <p:nvSpPr>
          <p:cNvPr id="742" name="Google Shape;742;p38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4: two tapes vs. three tapes</a:t>
            </a:r>
            <a:endParaRPr/>
          </a:p>
        </p:txBody>
      </p:sp>
      <p:sp>
        <p:nvSpPr>
          <p:cNvPr id="748" name="Google Shape;748;p39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9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2.3.4</a:t>
            </a:r>
            <a:endParaRPr/>
          </a:p>
        </p:txBody>
      </p:sp>
      <p:sp>
        <p:nvSpPr>
          <p:cNvPr id="750" name="Google Shape;750;p3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9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800">
                <a:solidFill>
                  <a:srgbClr val="8A94A0"/>
                </a:solidFill>
              </a:rPr>
              <a:t>8</a:t>
            </a:r>
            <a:endParaRPr/>
          </a:p>
        </p:txBody>
      </p:sp>
      <p:sp>
        <p:nvSpPr>
          <p:cNvPr id="752" name="Google Shape;752;p39"/>
          <p:cNvSpPr/>
          <p:nvPr/>
        </p:nvSpPr>
        <p:spPr>
          <a:xfrm>
            <a:off x="868680" y="1417320"/>
            <a:ext cx="10469880" cy="256032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9"/>
          <p:cNvSpPr txBox="1"/>
          <p:nvPr/>
        </p:nvSpPr>
        <p:spPr>
          <a:xfrm>
            <a:off x="1069848" y="1563624"/>
            <a:ext cx="100675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True / False</a:t>
            </a:r>
            <a:endParaRPr/>
          </a:p>
        </p:txBody>
      </p:sp>
      <p:sp>
        <p:nvSpPr>
          <p:cNvPr id="754" name="Google Shape;754;p39"/>
          <p:cNvSpPr txBox="1"/>
          <p:nvPr/>
        </p:nvSpPr>
        <p:spPr>
          <a:xfrm>
            <a:off x="1143000" y="1920240"/>
            <a:ext cx="992124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There exists a language X that is the language of some three-tape Turing machine, but is not the language of any two-tape Turing machine.</a:t>
            </a:r>
            <a:endParaRPr/>
          </a:p>
        </p:txBody>
      </p:sp>
      <p:sp>
        <p:nvSpPr>
          <p:cNvPr id="755" name="Google Shape;755;p39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4: computational power</a:t>
            </a:r>
            <a:endParaRPr/>
          </a:p>
        </p:txBody>
      </p:sp>
      <p:sp>
        <p:nvSpPr>
          <p:cNvPr id="761" name="Google Shape;761;p40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0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2.3.4</a:t>
            </a:r>
            <a:endParaRPr/>
          </a:p>
        </p:txBody>
      </p:sp>
      <p:sp>
        <p:nvSpPr>
          <p:cNvPr id="763" name="Google Shape;763;p4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0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A94A0"/>
                </a:solidFill>
              </a:rPr>
              <a:t>39</a:t>
            </a:r>
            <a:endParaRPr/>
          </a:p>
        </p:txBody>
      </p:sp>
      <p:sp>
        <p:nvSpPr>
          <p:cNvPr id="765" name="Google Shape;765;p40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0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767" name="Google Shape;767;p40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More tapes can make a simulation more convenient or faster, but do they let a TM accept a fundamentally new set of strings?</a:t>
            </a:r>
            <a:endParaRPr/>
          </a:p>
        </p:txBody>
      </p:sp>
      <p:sp>
        <p:nvSpPr>
          <p:cNvPr id="768" name="Google Shape;768;p4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2.3 Problem 4: solution</a:t>
            </a:r>
            <a:endParaRPr/>
          </a:p>
        </p:txBody>
      </p:sp>
      <p:sp>
        <p:nvSpPr>
          <p:cNvPr id="774" name="Google Shape;774;p41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1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2.3.4</a:t>
            </a:r>
            <a:endParaRPr/>
          </a:p>
        </p:txBody>
      </p:sp>
      <p:sp>
        <p:nvSpPr>
          <p:cNvPr id="776" name="Google Shape;776;p4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1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800">
                <a:solidFill>
                  <a:srgbClr val="8A94A0"/>
                </a:solidFill>
              </a:rPr>
              <a:t>0</a:t>
            </a:r>
            <a:endParaRPr/>
          </a:p>
        </p:txBody>
      </p:sp>
      <p:sp>
        <p:nvSpPr>
          <p:cNvPr id="778" name="Google Shape;778;p41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1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80" name="Google Shape;780;p41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1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782" name="Google Shape;782;p41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FALSE.</a:t>
            </a:r>
            <a:endParaRPr/>
          </a:p>
        </p:txBody>
      </p:sp>
      <p:sp>
        <p:nvSpPr>
          <p:cNvPr id="783" name="Google Shape;783;p41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1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85" name="Google Shape;785;p41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1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Known equivalence</a:t>
            </a:r>
            <a:endParaRPr/>
          </a:p>
        </p:txBody>
      </p:sp>
      <p:sp>
        <p:nvSpPr>
          <p:cNvPr id="787" name="Google Shape;787;p41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Finite-tape variants of Turing machines have equivalent computational power: their accept/reject/halt behavior can be simulated by one another.</a:t>
            </a:r>
            <a:endParaRPr/>
          </a:p>
        </p:txBody>
      </p:sp>
      <p:sp>
        <p:nvSpPr>
          <p:cNvPr id="788" name="Google Shape;788;p41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1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90" name="Google Shape;790;p41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1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792" name="Google Shape;792;p41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Therefore, every language accepted by a 3-tape TM is also the language of some 2-tape TM, and vice versa.</a:t>
            </a:r>
            <a:endParaRPr/>
          </a:p>
        </p:txBody>
      </p:sp>
      <p:sp>
        <p:nvSpPr>
          <p:cNvPr id="793" name="Google Shape;793;p41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2.4 Problem 1: closure under symmetric difference</a:t>
            </a:r>
            <a:endParaRPr/>
          </a:p>
        </p:txBody>
      </p:sp>
      <p:sp>
        <p:nvSpPr>
          <p:cNvPr id="799" name="Google Shape;799;p42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2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2.4.1</a:t>
            </a:r>
            <a:endParaRPr/>
          </a:p>
        </p:txBody>
      </p:sp>
      <p:sp>
        <p:nvSpPr>
          <p:cNvPr id="801" name="Google Shape;801;p4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2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800">
                <a:solidFill>
                  <a:srgbClr val="8A94A0"/>
                </a:solidFill>
              </a:rPr>
              <a:t>1</a:t>
            </a:r>
            <a:endParaRPr/>
          </a:p>
        </p:txBody>
      </p:sp>
      <p:sp>
        <p:nvSpPr>
          <p:cNvPr id="803" name="Google Shape;803;p42"/>
          <p:cNvSpPr/>
          <p:nvPr/>
        </p:nvSpPr>
        <p:spPr>
          <a:xfrm>
            <a:off x="777240" y="1143000"/>
            <a:ext cx="5212080" cy="146304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2"/>
          <p:cNvSpPr txBox="1"/>
          <p:nvPr/>
        </p:nvSpPr>
        <p:spPr>
          <a:xfrm>
            <a:off x="978408" y="1289304"/>
            <a:ext cx="4809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Given</a:t>
            </a:r>
            <a:endParaRPr/>
          </a:p>
        </p:txBody>
      </p:sp>
      <p:sp>
        <p:nvSpPr>
          <p:cNvPr id="805" name="Google Shape;805;p42"/>
          <p:cNvSpPr txBox="1"/>
          <p:nvPr/>
        </p:nvSpPr>
        <p:spPr>
          <a:xfrm>
            <a:off x="1051560" y="1645920"/>
            <a:ext cx="4663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and B are decidable languages.</a:t>
            </a:r>
            <a:endParaRPr/>
          </a:p>
        </p:txBody>
      </p:sp>
      <p:sp>
        <p:nvSpPr>
          <p:cNvPr id="806" name="Google Shape;806;p42"/>
          <p:cNvSpPr/>
          <p:nvPr/>
        </p:nvSpPr>
        <p:spPr>
          <a:xfrm>
            <a:off x="6217920" y="1143000"/>
            <a:ext cx="5212080" cy="146304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2"/>
          <p:cNvSpPr txBox="1"/>
          <p:nvPr/>
        </p:nvSpPr>
        <p:spPr>
          <a:xfrm>
            <a:off x="6419088" y="1289304"/>
            <a:ext cx="4809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Symmetric difference</a:t>
            </a:r>
            <a:endParaRPr/>
          </a:p>
        </p:txBody>
      </p:sp>
      <p:sp>
        <p:nvSpPr>
          <p:cNvPr id="808" name="Google Shape;808;p42"/>
          <p:cNvSpPr txBox="1"/>
          <p:nvPr/>
        </p:nvSpPr>
        <p:spPr>
          <a:xfrm>
            <a:off x="6492240" y="1645920"/>
            <a:ext cx="46634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△ B = (A ∪ B) \ (A ∩ B)</a:t>
            </a:r>
            <a:b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= strings in exactly one of A or B.</a:t>
            </a:r>
            <a:endParaRPr/>
          </a:p>
        </p:txBody>
      </p:sp>
      <p:sp>
        <p:nvSpPr>
          <p:cNvPr id="809" name="Google Shape;809;p42"/>
          <p:cNvSpPr/>
          <p:nvPr/>
        </p:nvSpPr>
        <p:spPr>
          <a:xfrm>
            <a:off x="1371600" y="3337560"/>
            <a:ext cx="9464040" cy="1508760"/>
          </a:xfrm>
          <a:prstGeom prst="roundRect">
            <a:avLst>
              <a:gd fmla="val 16667" name="adj"/>
            </a:avLst>
          </a:prstGeom>
          <a:solidFill>
            <a:srgbClr val="FFF8EC"/>
          </a:solidFill>
          <a:ln cap="flat" cmpd="sng" w="190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2"/>
          <p:cNvSpPr txBox="1"/>
          <p:nvPr/>
        </p:nvSpPr>
        <p:spPr>
          <a:xfrm>
            <a:off x="1572768" y="3483864"/>
            <a:ext cx="9061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811" name="Google Shape;811;p42"/>
          <p:cNvSpPr txBox="1"/>
          <p:nvPr/>
        </p:nvSpPr>
        <p:spPr>
          <a:xfrm>
            <a:off x="1645920" y="3840480"/>
            <a:ext cx="891540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△ B is decidable for (all / some / no) decidable A,B. Justify.</a:t>
            </a:r>
            <a:endParaRPr/>
          </a:p>
        </p:txBody>
      </p:sp>
      <p:sp>
        <p:nvSpPr>
          <p:cNvPr id="812" name="Google Shape;812;p42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2.4 Problem 1: combine two deciders</a:t>
            </a:r>
            <a:endParaRPr/>
          </a:p>
        </p:txBody>
      </p:sp>
      <p:sp>
        <p:nvSpPr>
          <p:cNvPr id="818" name="Google Shape;818;p43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3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2.4.1</a:t>
            </a:r>
            <a:endParaRPr/>
          </a:p>
        </p:txBody>
      </p:sp>
      <p:sp>
        <p:nvSpPr>
          <p:cNvPr id="820" name="Google Shape;820;p4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3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800">
                <a:solidFill>
                  <a:srgbClr val="8A94A0"/>
                </a:solidFill>
              </a:rPr>
              <a:t>2</a:t>
            </a:r>
            <a:endParaRPr/>
          </a:p>
        </p:txBody>
      </p:sp>
      <p:sp>
        <p:nvSpPr>
          <p:cNvPr id="822" name="Google Shape;822;p43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3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824" name="Google Shape;824;p43"/>
          <p:cNvSpPr txBox="1"/>
          <p:nvPr/>
        </p:nvSpPr>
        <p:spPr>
          <a:xfrm>
            <a:off x="1920239" y="2788920"/>
            <a:ext cx="836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Because M</a:t>
            </a:r>
            <a:r>
              <a:rPr b="1" baseline="-25000" lang="en-US" sz="2400">
                <a:solidFill>
                  <a:srgbClr val="072854"/>
                </a:solidFill>
              </a:rPr>
              <a:t>A</a:t>
            </a: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 and M</a:t>
            </a:r>
            <a:r>
              <a:rPr b="1" baseline="-25000" lang="en-US" sz="2400">
                <a:solidFill>
                  <a:srgbClr val="072854"/>
                </a:solidFill>
              </a:rPr>
              <a:t>B</a:t>
            </a: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 both halt, you can run both on x.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accept/reject pattern means “x is in exactly one of A and B”?</a:t>
            </a:r>
            <a:endParaRPr/>
          </a:p>
        </p:txBody>
      </p:sp>
      <p:sp>
        <p:nvSpPr>
          <p:cNvPr id="825" name="Google Shape;825;p43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2.4 Problem 1: construct a decider</a:t>
            </a:r>
            <a:endParaRPr/>
          </a:p>
        </p:txBody>
      </p:sp>
      <p:sp>
        <p:nvSpPr>
          <p:cNvPr id="831" name="Google Shape;831;p44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4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2.4.1</a:t>
            </a:r>
            <a:endParaRPr/>
          </a:p>
        </p:txBody>
      </p:sp>
      <p:sp>
        <p:nvSpPr>
          <p:cNvPr id="833" name="Google Shape;833;p4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4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800">
                <a:solidFill>
                  <a:srgbClr val="8A94A0"/>
                </a:solidFill>
              </a:rPr>
              <a:t>3</a:t>
            </a:r>
            <a:endParaRPr/>
          </a:p>
        </p:txBody>
      </p:sp>
      <p:sp>
        <p:nvSpPr>
          <p:cNvPr id="835" name="Google Shape;835;p44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4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37" name="Google Shape;837;p44"/>
          <p:cNvSpPr/>
          <p:nvPr/>
        </p:nvSpPr>
        <p:spPr>
          <a:xfrm>
            <a:off x="1170432" y="960120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4"/>
          <p:cNvSpPr txBox="1"/>
          <p:nvPr/>
        </p:nvSpPr>
        <p:spPr>
          <a:xfrm>
            <a:off x="1389888" y="1060704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Run both machines</a:t>
            </a:r>
            <a:endParaRPr/>
          </a:p>
        </p:txBody>
      </p:sp>
      <p:sp>
        <p:nvSpPr>
          <p:cNvPr id="839" name="Google Shape;839;p44"/>
          <p:cNvSpPr txBox="1"/>
          <p:nvPr/>
        </p:nvSpPr>
        <p:spPr>
          <a:xfrm>
            <a:off x="3246120" y="1051560"/>
            <a:ext cx="7726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On input x, run M</a:t>
            </a:r>
            <a:r>
              <a:rPr baseline="-25000" lang="en-US" sz="1570">
                <a:solidFill>
                  <a:srgbClr val="20252B"/>
                </a:solidFill>
              </a:rPr>
              <a:t>A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(x) and M</a:t>
            </a:r>
            <a:r>
              <a:rPr baseline="-25000" lang="en-US" sz="1570">
                <a:solidFill>
                  <a:srgbClr val="20252B"/>
                </a:solidFill>
              </a:rPr>
              <a:t>B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(x). Since A and B are decidable, both computations halt.</a:t>
            </a:r>
            <a:endParaRPr/>
          </a:p>
        </p:txBody>
      </p:sp>
      <p:sp>
        <p:nvSpPr>
          <p:cNvPr id="840" name="Google Shape;840;p44"/>
          <p:cNvSpPr/>
          <p:nvPr/>
        </p:nvSpPr>
        <p:spPr>
          <a:xfrm>
            <a:off x="749808" y="2471166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4"/>
          <p:cNvSpPr txBox="1"/>
          <p:nvPr/>
        </p:nvSpPr>
        <p:spPr>
          <a:xfrm>
            <a:off x="749808" y="248945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42" name="Google Shape;842;p44"/>
          <p:cNvSpPr/>
          <p:nvPr/>
        </p:nvSpPr>
        <p:spPr>
          <a:xfrm>
            <a:off x="1170432" y="2379726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4"/>
          <p:cNvSpPr txBox="1"/>
          <p:nvPr/>
        </p:nvSpPr>
        <p:spPr>
          <a:xfrm>
            <a:off x="1389888" y="2480310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Accept condition</a:t>
            </a:r>
            <a:endParaRPr/>
          </a:p>
        </p:txBody>
      </p:sp>
      <p:sp>
        <p:nvSpPr>
          <p:cNvPr id="844" name="Google Shape;844;p44"/>
          <p:cNvSpPr txBox="1"/>
          <p:nvPr/>
        </p:nvSpPr>
        <p:spPr>
          <a:xfrm>
            <a:off x="3246120" y="2471166"/>
            <a:ext cx="7726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 iff exactly one of M</a:t>
            </a:r>
            <a:r>
              <a:rPr baseline="-25000" lang="en-US" sz="1570">
                <a:solidFill>
                  <a:srgbClr val="20252B"/>
                </a:solidFill>
              </a:rPr>
              <a:t>A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,M</a:t>
            </a:r>
            <a:r>
              <a:rPr baseline="-25000" lang="en-US" sz="1570">
                <a:solidFill>
                  <a:srgbClr val="20252B"/>
                </a:solidFill>
              </a:rPr>
              <a:t>B</a:t>
            </a: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accepts.</a:t>
            </a:r>
            <a:endParaRPr/>
          </a:p>
        </p:txBody>
      </p:sp>
      <p:sp>
        <p:nvSpPr>
          <p:cNvPr id="845" name="Google Shape;845;p44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4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47" name="Google Shape;847;p44"/>
          <p:cNvSpPr/>
          <p:nvPr/>
        </p:nvSpPr>
        <p:spPr>
          <a:xfrm>
            <a:off x="1170432" y="3799332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4"/>
          <p:cNvSpPr txBox="1"/>
          <p:nvPr/>
        </p:nvSpPr>
        <p:spPr>
          <a:xfrm>
            <a:off x="1389888" y="3899916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Reject condition</a:t>
            </a:r>
            <a:endParaRPr/>
          </a:p>
        </p:txBody>
      </p:sp>
      <p:sp>
        <p:nvSpPr>
          <p:cNvPr id="849" name="Google Shape;849;p44"/>
          <p:cNvSpPr txBox="1"/>
          <p:nvPr/>
        </p:nvSpPr>
        <p:spPr>
          <a:xfrm>
            <a:off x="3246120" y="3890772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Reject if they both accept or they both reject.</a:t>
            </a:r>
            <a:endParaRPr/>
          </a:p>
        </p:txBody>
      </p:sp>
      <p:sp>
        <p:nvSpPr>
          <p:cNvPr id="850" name="Google Shape;850;p44"/>
          <p:cNvSpPr/>
          <p:nvPr/>
        </p:nvSpPr>
        <p:spPr>
          <a:xfrm>
            <a:off x="749808" y="5310377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4"/>
          <p:cNvSpPr txBox="1"/>
          <p:nvPr/>
        </p:nvSpPr>
        <p:spPr>
          <a:xfrm>
            <a:off x="749808" y="532866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52" name="Google Shape;852;p44"/>
          <p:cNvSpPr/>
          <p:nvPr/>
        </p:nvSpPr>
        <p:spPr>
          <a:xfrm>
            <a:off x="1170432" y="5218938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4"/>
          <p:cNvSpPr txBox="1"/>
          <p:nvPr/>
        </p:nvSpPr>
        <p:spPr>
          <a:xfrm>
            <a:off x="1389888" y="5319522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854" name="Google Shape;854;p44"/>
          <p:cNvSpPr txBox="1"/>
          <p:nvPr/>
        </p:nvSpPr>
        <p:spPr>
          <a:xfrm>
            <a:off x="3246120" y="5310377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This machine halts on every x and accepts exactly A △ B, so A △ B is decidable for all decidable A,B.</a:t>
            </a:r>
            <a:endParaRPr/>
          </a:p>
        </p:txBody>
      </p:sp>
      <p:sp>
        <p:nvSpPr>
          <p:cNvPr id="855" name="Google Shape;855;p4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2.4 Problem 1: correctness as a truth table</a:t>
            </a:r>
            <a:endParaRPr/>
          </a:p>
        </p:txBody>
      </p:sp>
      <p:sp>
        <p:nvSpPr>
          <p:cNvPr id="861" name="Google Shape;861;p45"/>
          <p:cNvSpPr/>
          <p:nvPr/>
        </p:nvSpPr>
        <p:spPr>
          <a:xfrm>
            <a:off x="10084003" y="137160"/>
            <a:ext cx="1604772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5"/>
          <p:cNvSpPr txBox="1"/>
          <p:nvPr/>
        </p:nvSpPr>
        <p:spPr>
          <a:xfrm>
            <a:off x="10129723" y="164592"/>
            <a:ext cx="1513331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2.4.1</a:t>
            </a:r>
            <a:endParaRPr/>
          </a:p>
        </p:txBody>
      </p:sp>
      <p:sp>
        <p:nvSpPr>
          <p:cNvPr id="863" name="Google Shape;863;p4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5"/>
          <p:cNvSpPr txBox="1"/>
          <p:nvPr/>
        </p:nvSpPr>
        <p:spPr>
          <a:xfrm>
            <a:off x="11612880" y="6510528"/>
            <a:ext cx="320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800">
                <a:solidFill>
                  <a:srgbClr val="8A94A0"/>
                </a:solidFill>
              </a:rPr>
              <a:t>4</a:t>
            </a:r>
            <a:endParaRPr/>
          </a:p>
        </p:txBody>
      </p:sp>
      <p:sp>
        <p:nvSpPr>
          <p:cNvPr id="865" name="Google Shape;865;p45"/>
          <p:cNvSpPr/>
          <p:nvPr/>
        </p:nvSpPr>
        <p:spPr>
          <a:xfrm>
            <a:off x="1920240" y="123444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072854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5"/>
          <p:cNvSpPr txBox="1"/>
          <p:nvPr/>
        </p:nvSpPr>
        <p:spPr>
          <a:xfrm>
            <a:off x="1920240" y="1307592"/>
            <a:ext cx="251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lang="en-US" sz="1600">
                <a:solidFill>
                  <a:srgbClr val="FFFFFF"/>
                </a:solidFill>
              </a:rPr>
              <a:t>A</a:t>
            </a:r>
            <a:endParaRPr baseline="-25000"/>
          </a:p>
        </p:txBody>
      </p:sp>
      <p:sp>
        <p:nvSpPr>
          <p:cNvPr id="867" name="Google Shape;867;p45"/>
          <p:cNvSpPr/>
          <p:nvPr/>
        </p:nvSpPr>
        <p:spPr>
          <a:xfrm>
            <a:off x="4709160" y="123444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072854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5"/>
          <p:cNvSpPr txBox="1"/>
          <p:nvPr/>
        </p:nvSpPr>
        <p:spPr>
          <a:xfrm>
            <a:off x="4709160" y="1307592"/>
            <a:ext cx="251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lang="en-US" sz="1600">
                <a:solidFill>
                  <a:srgbClr val="FFFFFF"/>
                </a:solidFill>
              </a:rPr>
              <a:t>B</a:t>
            </a:r>
            <a:endParaRPr baseline="-25000"/>
          </a:p>
        </p:txBody>
      </p:sp>
      <p:sp>
        <p:nvSpPr>
          <p:cNvPr id="869" name="Google Shape;869;p45"/>
          <p:cNvSpPr/>
          <p:nvPr/>
        </p:nvSpPr>
        <p:spPr>
          <a:xfrm>
            <a:off x="7498079" y="123444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072854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5"/>
          <p:cNvSpPr txBox="1"/>
          <p:nvPr/>
        </p:nvSpPr>
        <p:spPr>
          <a:xfrm>
            <a:off x="7498079" y="130759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871" name="Google Shape;871;p45"/>
          <p:cNvSpPr/>
          <p:nvPr/>
        </p:nvSpPr>
        <p:spPr>
          <a:xfrm>
            <a:off x="1920240" y="205740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5"/>
          <p:cNvSpPr txBox="1"/>
          <p:nvPr/>
        </p:nvSpPr>
        <p:spPr>
          <a:xfrm>
            <a:off x="1920240" y="213055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/>
          </a:p>
        </p:txBody>
      </p:sp>
      <p:sp>
        <p:nvSpPr>
          <p:cNvPr id="873" name="Google Shape;873;p45"/>
          <p:cNvSpPr/>
          <p:nvPr/>
        </p:nvSpPr>
        <p:spPr>
          <a:xfrm>
            <a:off x="4709160" y="205740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5"/>
          <p:cNvSpPr txBox="1"/>
          <p:nvPr/>
        </p:nvSpPr>
        <p:spPr>
          <a:xfrm>
            <a:off x="4709160" y="213055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/>
          </a:p>
        </p:txBody>
      </p:sp>
      <p:sp>
        <p:nvSpPr>
          <p:cNvPr id="875" name="Google Shape;875;p45"/>
          <p:cNvSpPr/>
          <p:nvPr/>
        </p:nvSpPr>
        <p:spPr>
          <a:xfrm>
            <a:off x="7498079" y="205740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5"/>
          <p:cNvSpPr txBox="1"/>
          <p:nvPr/>
        </p:nvSpPr>
        <p:spPr>
          <a:xfrm>
            <a:off x="7498079" y="213055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877" name="Google Shape;877;p45"/>
          <p:cNvSpPr/>
          <p:nvPr/>
        </p:nvSpPr>
        <p:spPr>
          <a:xfrm>
            <a:off x="1920240" y="288036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5"/>
          <p:cNvSpPr txBox="1"/>
          <p:nvPr/>
        </p:nvSpPr>
        <p:spPr>
          <a:xfrm>
            <a:off x="1920240" y="295351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/>
          </a:p>
        </p:txBody>
      </p:sp>
      <p:sp>
        <p:nvSpPr>
          <p:cNvPr id="879" name="Google Shape;879;p45"/>
          <p:cNvSpPr/>
          <p:nvPr/>
        </p:nvSpPr>
        <p:spPr>
          <a:xfrm>
            <a:off x="4709160" y="288036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5"/>
          <p:cNvSpPr txBox="1"/>
          <p:nvPr/>
        </p:nvSpPr>
        <p:spPr>
          <a:xfrm>
            <a:off x="4709160" y="295351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881" name="Google Shape;881;p45"/>
          <p:cNvSpPr/>
          <p:nvPr/>
        </p:nvSpPr>
        <p:spPr>
          <a:xfrm>
            <a:off x="7498079" y="288036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7498079" y="295351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/>
          </a:p>
        </p:txBody>
      </p:sp>
      <p:sp>
        <p:nvSpPr>
          <p:cNvPr id="883" name="Google Shape;883;p45"/>
          <p:cNvSpPr/>
          <p:nvPr/>
        </p:nvSpPr>
        <p:spPr>
          <a:xfrm>
            <a:off x="1920240" y="370332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5"/>
          <p:cNvSpPr txBox="1"/>
          <p:nvPr/>
        </p:nvSpPr>
        <p:spPr>
          <a:xfrm>
            <a:off x="1920240" y="377647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885" name="Google Shape;885;p45"/>
          <p:cNvSpPr/>
          <p:nvPr/>
        </p:nvSpPr>
        <p:spPr>
          <a:xfrm>
            <a:off x="4709160" y="370332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5"/>
          <p:cNvSpPr txBox="1"/>
          <p:nvPr/>
        </p:nvSpPr>
        <p:spPr>
          <a:xfrm>
            <a:off x="4709160" y="377647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/>
          </a:p>
        </p:txBody>
      </p:sp>
      <p:sp>
        <p:nvSpPr>
          <p:cNvPr id="887" name="Google Shape;887;p45"/>
          <p:cNvSpPr/>
          <p:nvPr/>
        </p:nvSpPr>
        <p:spPr>
          <a:xfrm>
            <a:off x="7498079" y="370332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5"/>
          <p:cNvSpPr txBox="1"/>
          <p:nvPr/>
        </p:nvSpPr>
        <p:spPr>
          <a:xfrm>
            <a:off x="7498079" y="377647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/>
          </a:p>
        </p:txBody>
      </p:sp>
      <p:sp>
        <p:nvSpPr>
          <p:cNvPr id="889" name="Google Shape;889;p45"/>
          <p:cNvSpPr/>
          <p:nvPr/>
        </p:nvSpPr>
        <p:spPr>
          <a:xfrm>
            <a:off x="1920240" y="452628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5"/>
          <p:cNvSpPr txBox="1"/>
          <p:nvPr/>
        </p:nvSpPr>
        <p:spPr>
          <a:xfrm>
            <a:off x="1920240" y="459943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891" name="Google Shape;891;p45"/>
          <p:cNvSpPr/>
          <p:nvPr/>
        </p:nvSpPr>
        <p:spPr>
          <a:xfrm>
            <a:off x="4709160" y="452628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5"/>
          <p:cNvSpPr txBox="1"/>
          <p:nvPr/>
        </p:nvSpPr>
        <p:spPr>
          <a:xfrm>
            <a:off x="4709160" y="459943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893" name="Google Shape;893;p45"/>
          <p:cNvSpPr/>
          <p:nvPr/>
        </p:nvSpPr>
        <p:spPr>
          <a:xfrm>
            <a:off x="7498079" y="4526280"/>
            <a:ext cx="25146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5"/>
          <p:cNvSpPr txBox="1"/>
          <p:nvPr/>
        </p:nvSpPr>
        <p:spPr>
          <a:xfrm>
            <a:off x="7498079" y="459943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895" name="Google Shape;895;p45"/>
          <p:cNvSpPr txBox="1"/>
          <p:nvPr/>
        </p:nvSpPr>
        <p:spPr>
          <a:xfrm>
            <a:off x="1828800" y="562356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Exactly the two “one accept, one reject” rows belong to A △ B.</a:t>
            </a:r>
            <a:endParaRPr/>
          </a:p>
        </p:txBody>
      </p:sp>
      <p:sp>
        <p:nvSpPr>
          <p:cNvPr id="896" name="Google Shape;896;p45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h1b165fd17ee39fd4_0_0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h1b165fd17ee39fd4_0_0"/>
          <p:cNvSpPr/>
          <p:nvPr/>
        </p:nvSpPr>
        <p:spPr>
          <a:xfrm>
            <a:off x="0" y="0"/>
            <a:ext cx="12191100" cy="100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h1b165fd17ee39fd4_0_0"/>
          <p:cNvSpPr txBox="1"/>
          <p:nvPr/>
        </p:nvSpPr>
        <p:spPr>
          <a:xfrm>
            <a:off x="548625" y="292320"/>
            <a:ext cx="97839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Attendance Form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4" name="Google Shape;904;h1b165fd17ee39fd4_0_0"/>
          <p:cNvCxnSpPr/>
          <p:nvPr/>
        </p:nvCxnSpPr>
        <p:spPr>
          <a:xfrm>
            <a:off x="548625" y="941760"/>
            <a:ext cx="1108200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5" name="Google Shape;905;h1b165fd17ee39fd4_0_0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h1b165fd17ee39fd4_0_0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C6370"/>
                </a:solidFill>
              </a:rPr>
              <a:t>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7" name="Google Shape;907;h1b165fd17ee39fd4_0_0" title="Untitled design.png"/>
          <p:cNvPicPr preferRelativeResize="0"/>
          <p:nvPr/>
        </p:nvPicPr>
        <p:blipFill rotWithShape="1">
          <a:blip r:embed="rId3">
            <a:alphaModFix/>
          </a:blip>
          <a:srcRect b="0" l="2034" r="2034" t="0"/>
          <a:stretch/>
        </p:blipFill>
        <p:spPr>
          <a:xfrm>
            <a:off x="3657475" y="1002875"/>
            <a:ext cx="4752275" cy="49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h1b165fd17ee39fd4_0_0"/>
          <p:cNvSpPr txBox="1"/>
          <p:nvPr/>
        </p:nvSpPr>
        <p:spPr>
          <a:xfrm>
            <a:off x="2454463" y="6104325"/>
            <a:ext cx="715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https://forms.gle/BDiMjBD4jjcvVGd26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74C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6"/>
          <p:cNvSpPr/>
          <p:nvPr/>
        </p:nvSpPr>
        <p:spPr>
          <a:xfrm>
            <a:off x="768096" y="960120"/>
            <a:ext cx="82296" cy="4389120"/>
          </a:xfrm>
          <a:prstGeom prst="rect">
            <a:avLst/>
          </a:prstGeom>
          <a:solidFill>
            <a:srgbClr val="FFCB0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6"/>
          <p:cNvSpPr txBox="1"/>
          <p:nvPr/>
        </p:nvSpPr>
        <p:spPr>
          <a:xfrm>
            <a:off x="1143000" y="1965960"/>
            <a:ext cx="9784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Additional Problems</a:t>
            </a:r>
            <a:endParaRPr/>
          </a:p>
        </p:txBody>
      </p:sp>
      <p:sp>
        <p:nvSpPr>
          <p:cNvPr id="915" name="Google Shape;915;p46"/>
          <p:cNvSpPr txBox="1"/>
          <p:nvPr/>
        </p:nvSpPr>
        <p:spPr>
          <a:xfrm>
            <a:off x="1143000" y="2788920"/>
            <a:ext cx="9692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7E2EE"/>
                </a:solidFill>
                <a:latin typeface="Arial"/>
                <a:ea typeface="Arial"/>
                <a:cs typeface="Arial"/>
                <a:sym typeface="Arial"/>
              </a:rPr>
              <a:t>Same rhythm: one problem slide, a guided hint, then a step-by-step solution. Problem 2.3.5 is moved here as requested.</a:t>
            </a:r>
            <a:endParaRPr/>
          </a:p>
        </p:txBody>
      </p:sp>
      <p:sp>
        <p:nvSpPr>
          <p:cNvPr id="916" name="Google Shape;916;p46"/>
          <p:cNvSpPr txBox="1"/>
          <p:nvPr/>
        </p:nvSpPr>
        <p:spPr>
          <a:xfrm>
            <a:off x="1143000" y="5943600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FC1D4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917" name="Google Shape;917;p46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FC1D4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3.1 Problem 1: divisible by 4</a:t>
            </a:r>
            <a:endParaRPr/>
          </a:p>
        </p:txBody>
      </p:sp>
      <p:sp>
        <p:nvSpPr>
          <p:cNvPr id="923" name="Google Shape;923;p47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7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3.1.1</a:t>
            </a:r>
            <a:endParaRPr/>
          </a:p>
        </p:txBody>
      </p:sp>
      <p:sp>
        <p:nvSpPr>
          <p:cNvPr id="925" name="Google Shape;925;p4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7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927" name="Google Shape;927;p47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  <p:sp>
        <p:nvSpPr>
          <p:cNvPr id="928" name="Google Shape;928;p47"/>
          <p:cNvSpPr txBox="1"/>
          <p:nvPr/>
        </p:nvSpPr>
        <p:spPr>
          <a:xfrm>
            <a:off x="685800" y="89611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Which language represents all positive integers divisible by 4?</a:t>
            </a:r>
            <a:endParaRPr/>
          </a:p>
        </p:txBody>
      </p:sp>
      <p:sp>
        <p:nvSpPr>
          <p:cNvPr id="929" name="Google Shape;929;p47"/>
          <p:cNvSpPr txBox="1"/>
          <p:nvPr/>
        </p:nvSpPr>
        <p:spPr>
          <a:xfrm>
            <a:off x="960120" y="1600200"/>
            <a:ext cx="10058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(A) L = { n ∈ Z⁺ : n mod 4 = 0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(B) L = { n,k ∈ Z : n/4 = k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(C) L = { n ∈ Z⁺ : gcd(n,4)=1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(D) L = { n,k ∈ Z⁺ : n mod 4 = 2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(E) None of the above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3.1 Problem 1: translate the English property</a:t>
            </a:r>
            <a:endParaRPr/>
          </a:p>
        </p:txBody>
      </p:sp>
      <p:sp>
        <p:nvSpPr>
          <p:cNvPr id="935" name="Google Shape;935;p48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8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3.1.1</a:t>
            </a:r>
            <a:endParaRPr/>
          </a:p>
        </p:txBody>
      </p:sp>
      <p:sp>
        <p:nvSpPr>
          <p:cNvPr id="937" name="Google Shape;937;p4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8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939" name="Google Shape;939;p48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sp>
        <p:nvSpPr>
          <p:cNvPr id="940" name="Google Shape;940;p48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8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942" name="Google Shape;942;p48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“Divisible by 4” means the remainder after division by 4 is exactly 0.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Which option states that property for positive integers?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3.1 Problem 1: solution</a:t>
            </a:r>
            <a:endParaRPr/>
          </a:p>
        </p:txBody>
      </p:sp>
      <p:sp>
        <p:nvSpPr>
          <p:cNvPr id="948" name="Google Shape;948;p49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9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3.1.1</a:t>
            </a:r>
            <a:endParaRPr/>
          </a:p>
        </p:txBody>
      </p:sp>
      <p:sp>
        <p:nvSpPr>
          <p:cNvPr id="950" name="Google Shape;950;p4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9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952" name="Google Shape;952;p4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sp>
        <p:nvSpPr>
          <p:cNvPr id="953" name="Google Shape;953;p49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9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5" name="Google Shape;955;p49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9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957" name="Google Shape;957;p49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(A).</a:t>
            </a:r>
            <a:endParaRPr/>
          </a:p>
        </p:txBody>
      </p:sp>
      <p:sp>
        <p:nvSpPr>
          <p:cNvPr id="958" name="Google Shape;958;p49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9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60" name="Google Shape;960;p49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9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/>
          </a:p>
        </p:txBody>
      </p:sp>
      <p:sp>
        <p:nvSpPr>
          <p:cNvPr id="962" name="Google Shape;962;p49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n mod 4 = 0 is exactly the condition that 4 divides n.</a:t>
            </a:r>
            <a:endParaRPr/>
          </a:p>
        </p:txBody>
      </p:sp>
      <p:sp>
        <p:nvSpPr>
          <p:cNvPr id="963" name="Google Shape;963;p49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9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65" name="Google Shape;965;p49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9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967" name="Google Shape;967;p49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 = { n ∈ Z⁺ : n mod 4 = 0 }.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1: read a DFA formally</a:t>
            </a:r>
            <a:endParaRPr/>
          </a:p>
        </p:txBody>
      </p:sp>
      <p:sp>
        <p:nvSpPr>
          <p:cNvPr id="973" name="Google Shape;973;p50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50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3.2.1</a:t>
            </a:r>
            <a:endParaRPr/>
          </a:p>
        </p:txBody>
      </p:sp>
      <p:sp>
        <p:nvSpPr>
          <p:cNvPr id="975" name="Google Shape;975;p5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0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977" name="Google Shape;977;p50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978" name="Google Shape;978;p50"/>
          <p:cNvSpPr/>
          <p:nvPr/>
        </p:nvSpPr>
        <p:spPr>
          <a:xfrm>
            <a:off x="594360" y="960120"/>
            <a:ext cx="5212080" cy="5074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1.png" id="979" name="Google Shape;97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356904"/>
            <a:ext cx="5212080" cy="4281351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50"/>
          <p:cNvSpPr/>
          <p:nvPr/>
        </p:nvSpPr>
        <p:spPr>
          <a:xfrm>
            <a:off x="6126480" y="1325880"/>
            <a:ext cx="5303520" cy="292608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50"/>
          <p:cNvSpPr txBox="1"/>
          <p:nvPr/>
        </p:nvSpPr>
        <p:spPr>
          <a:xfrm>
            <a:off x="6327648" y="1472184"/>
            <a:ext cx="49011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/>
          </a:p>
        </p:txBody>
      </p:sp>
      <p:sp>
        <p:nvSpPr>
          <p:cNvPr id="982" name="Google Shape;982;p50"/>
          <p:cNvSpPr txBox="1"/>
          <p:nvPr/>
        </p:nvSpPr>
        <p:spPr>
          <a:xfrm>
            <a:off x="6400800" y="1828800"/>
            <a:ext cx="475488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(a) State the five components (Q, Σ, δ, q₀, F).</a:t>
            </a:r>
            <a:b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(b) What language does the DFA decide?</a:t>
            </a:r>
            <a:endParaRPr/>
          </a:p>
        </p:txBody>
      </p:sp>
      <p:sp>
        <p:nvSpPr>
          <p:cNvPr id="983" name="Google Shape;983;p50"/>
          <p:cNvSpPr txBox="1"/>
          <p:nvPr/>
        </p:nvSpPr>
        <p:spPr>
          <a:xfrm>
            <a:off x="6355080" y="461772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Focus on what each state remembers about the prefix read so far.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1: identify the state invariant</a:t>
            </a:r>
            <a:endParaRPr/>
          </a:p>
        </p:txBody>
      </p:sp>
      <p:sp>
        <p:nvSpPr>
          <p:cNvPr id="989" name="Google Shape;989;p51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1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3.2.1</a:t>
            </a:r>
            <a:endParaRPr/>
          </a:p>
        </p:txBody>
      </p:sp>
      <p:sp>
        <p:nvSpPr>
          <p:cNvPr id="991" name="Google Shape;991;p5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51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993" name="Google Shape;993;p51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994" name="Google Shape;994;p51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1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996" name="Google Shape;996;p51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Each 0 toggles one parity bit; each 1 toggles another.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Which state corresponds to odd #0s AND odd #1s?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1(a): the five DFA components</a:t>
            </a:r>
            <a:endParaRPr/>
          </a:p>
        </p:txBody>
      </p:sp>
      <p:sp>
        <p:nvSpPr>
          <p:cNvPr id="1002" name="Google Shape;1002;p52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52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3.2.1</a:t>
            </a:r>
            <a:endParaRPr/>
          </a:p>
        </p:txBody>
      </p:sp>
      <p:sp>
        <p:nvSpPr>
          <p:cNvPr id="1004" name="Google Shape;1004;p5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2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006" name="Google Shape;1006;p52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  <p:sp>
        <p:nvSpPr>
          <p:cNvPr id="1007" name="Google Shape;1007;p52"/>
          <p:cNvSpPr/>
          <p:nvPr/>
        </p:nvSpPr>
        <p:spPr>
          <a:xfrm>
            <a:off x="594360" y="987552"/>
            <a:ext cx="5321808" cy="5074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2"/>
          <p:cNvSpPr txBox="1"/>
          <p:nvPr/>
        </p:nvSpPr>
        <p:spPr>
          <a:xfrm>
            <a:off x="795528" y="1133856"/>
            <a:ext cx="4919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Static pieces</a:t>
            </a:r>
            <a:endParaRPr/>
          </a:p>
        </p:txBody>
      </p:sp>
      <p:sp>
        <p:nvSpPr>
          <p:cNvPr id="1009" name="Google Shape;1009;p52"/>
          <p:cNvSpPr txBox="1"/>
          <p:nvPr/>
        </p:nvSpPr>
        <p:spPr>
          <a:xfrm>
            <a:off x="868680" y="1490472"/>
            <a:ext cx="4773168" cy="44165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52"/>
          <p:cNvSpPr/>
          <p:nvPr/>
        </p:nvSpPr>
        <p:spPr>
          <a:xfrm>
            <a:off x="6236208" y="987552"/>
            <a:ext cx="5321808" cy="5074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2"/>
          <p:cNvSpPr txBox="1"/>
          <p:nvPr/>
        </p:nvSpPr>
        <p:spPr>
          <a:xfrm>
            <a:off x="6437376" y="1133856"/>
            <a:ext cx="4919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Transition function δ</a:t>
            </a:r>
            <a:endParaRPr/>
          </a:p>
        </p:txBody>
      </p:sp>
      <p:sp>
        <p:nvSpPr>
          <p:cNvPr id="1012" name="Google Shape;1012;p52"/>
          <p:cNvSpPr txBox="1"/>
          <p:nvPr/>
        </p:nvSpPr>
        <p:spPr>
          <a:xfrm>
            <a:off x="6510528" y="1490472"/>
            <a:ext cx="4773168" cy="44165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52"/>
          <p:cNvSpPr txBox="1"/>
          <p:nvPr/>
        </p:nvSpPr>
        <p:spPr>
          <a:xfrm>
            <a:off x="868680" y="1600200"/>
            <a:ext cx="4800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 = {q₀,q₁,q₂,q₃}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Σ = {0,1}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q₀ is the start state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F = {q₃}</a:t>
            </a:r>
            <a:endParaRPr/>
          </a:p>
        </p:txBody>
      </p:sp>
      <p:sp>
        <p:nvSpPr>
          <p:cNvPr id="1014" name="Google Shape;1014;p52"/>
          <p:cNvSpPr txBox="1"/>
          <p:nvPr/>
        </p:nvSpPr>
        <p:spPr>
          <a:xfrm>
            <a:off x="6510528" y="1600200"/>
            <a:ext cx="4800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q₀: 0→q₁, 1→q₂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q₁: 0→q₀, 1→q₃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q₂: 0→q₃, 1→q₀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q₃: 0→q₂, 1→q₁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1(b): what language is recognized?</a:t>
            </a:r>
            <a:endParaRPr/>
          </a:p>
        </p:txBody>
      </p:sp>
      <p:sp>
        <p:nvSpPr>
          <p:cNvPr id="1020" name="Google Shape;1020;p53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3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3.2.1</a:t>
            </a:r>
            <a:endParaRPr/>
          </a:p>
        </p:txBody>
      </p:sp>
      <p:sp>
        <p:nvSpPr>
          <p:cNvPr id="1022" name="Google Shape;1022;p5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3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024" name="Google Shape;1024;p53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  <p:sp>
        <p:nvSpPr>
          <p:cNvPr id="1025" name="Google Shape;1025;p53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3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27" name="Google Shape;1027;p53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53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Invariant</a:t>
            </a:r>
            <a:endParaRPr/>
          </a:p>
        </p:txBody>
      </p:sp>
      <p:sp>
        <p:nvSpPr>
          <p:cNvPr id="1029" name="Google Shape;1029;p53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state records the parity of the number of 0s and the parity of the number of 1s seen so far.</a:t>
            </a:r>
            <a:endParaRPr/>
          </a:p>
        </p:txBody>
      </p:sp>
      <p:sp>
        <p:nvSpPr>
          <p:cNvPr id="1030" name="Google Shape;1030;p53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3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32" name="Google Shape;1032;p53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3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Accepting state</a:t>
            </a:r>
            <a:endParaRPr/>
          </a:p>
        </p:txBody>
      </p:sp>
      <p:sp>
        <p:nvSpPr>
          <p:cNvPr id="1034" name="Google Shape;1034;p53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q₃ is reached exactly when both parities are odd.</a:t>
            </a:r>
            <a:endParaRPr/>
          </a:p>
        </p:txBody>
      </p:sp>
      <p:sp>
        <p:nvSpPr>
          <p:cNvPr id="1035" name="Google Shape;1035;p53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37" name="Google Shape;1037;p53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53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039" name="Google Shape;1039;p53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L = { x : x has an odd number of 0s and an odd number of 1s }.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2: draw a DFA for 1110*</a:t>
            </a:r>
            <a:endParaRPr/>
          </a:p>
        </p:txBody>
      </p:sp>
      <p:sp>
        <p:nvSpPr>
          <p:cNvPr id="1045" name="Google Shape;1045;p54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4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3.2.2</a:t>
            </a:r>
            <a:endParaRPr/>
          </a:p>
        </p:txBody>
      </p:sp>
      <p:sp>
        <p:nvSpPr>
          <p:cNvPr id="1047" name="Google Shape;1047;p5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54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049" name="Google Shape;1049;p54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</p:txBody>
      </p:sp>
      <p:sp>
        <p:nvSpPr>
          <p:cNvPr id="1050" name="Google Shape;1050;p54"/>
          <p:cNvSpPr/>
          <p:nvPr/>
        </p:nvSpPr>
        <p:spPr>
          <a:xfrm>
            <a:off x="914400" y="1325880"/>
            <a:ext cx="10332720" cy="192024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4"/>
          <p:cNvSpPr txBox="1"/>
          <p:nvPr/>
        </p:nvSpPr>
        <p:spPr>
          <a:xfrm>
            <a:off x="1115568" y="1472184"/>
            <a:ext cx="99303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052" name="Google Shape;1052;p54"/>
          <p:cNvSpPr txBox="1"/>
          <p:nvPr/>
        </p:nvSpPr>
        <p:spPr>
          <a:xfrm>
            <a:off x="1188720" y="1828800"/>
            <a:ext cx="978408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1110* = strings with exactly three leading 1s, followed by zero or more 0s.</a:t>
            </a:r>
            <a:endParaRPr/>
          </a:p>
        </p:txBody>
      </p:sp>
      <p:sp>
        <p:nvSpPr>
          <p:cNvPr id="1053" name="Google Shape;1053;p54"/>
          <p:cNvSpPr txBox="1"/>
          <p:nvPr/>
        </p:nvSpPr>
        <p:spPr>
          <a:xfrm>
            <a:off x="2240280" y="3794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Draw a DFA that accepts exactly this language.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5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2: build the prefix chain</a:t>
            </a:r>
            <a:endParaRPr/>
          </a:p>
        </p:txBody>
      </p:sp>
      <p:sp>
        <p:nvSpPr>
          <p:cNvPr id="1059" name="Google Shape;1059;p55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55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3.2.2</a:t>
            </a:r>
            <a:endParaRPr/>
          </a:p>
        </p:txBody>
      </p:sp>
      <p:sp>
        <p:nvSpPr>
          <p:cNvPr id="1061" name="Google Shape;1061;p5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5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063" name="Google Shape;1063;p55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  <p:sp>
        <p:nvSpPr>
          <p:cNvPr id="1064" name="Google Shape;1064;p55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55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066" name="Google Shape;1066;p55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Use one state after seeing each required 1.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After the third 1, what should 0 do? Where should every “wrong” symbol go?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2: solution DFA</a:t>
            </a:r>
            <a:endParaRPr/>
          </a:p>
        </p:txBody>
      </p:sp>
      <p:sp>
        <p:nvSpPr>
          <p:cNvPr id="1072" name="Google Shape;1072;p56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56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3.2.2</a:t>
            </a:r>
            <a:endParaRPr/>
          </a:p>
        </p:txBody>
      </p:sp>
      <p:sp>
        <p:nvSpPr>
          <p:cNvPr id="1074" name="Google Shape;1074;p5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56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076" name="Google Shape;1076;p56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/>
          </a:p>
        </p:txBody>
      </p:sp>
      <p:sp>
        <p:nvSpPr>
          <p:cNvPr id="1077" name="Google Shape;1077;p56"/>
          <p:cNvSpPr txBox="1"/>
          <p:nvPr/>
        </p:nvSpPr>
        <p:spPr>
          <a:xfrm>
            <a:off x="731520" y="8412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The accepting state loops on 0; every invalid transition goes to a dead state.</a:t>
            </a:r>
            <a:endParaRPr/>
          </a:p>
        </p:txBody>
      </p:sp>
      <p:sp>
        <p:nvSpPr>
          <p:cNvPr id="1078" name="Google Shape;1078;p56"/>
          <p:cNvSpPr/>
          <p:nvPr/>
        </p:nvSpPr>
        <p:spPr>
          <a:xfrm>
            <a:off x="1005840" y="1417320"/>
            <a:ext cx="10195560" cy="4434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2_solution.png" id="1079" name="Google Shape;107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030" y="1417320"/>
            <a:ext cx="8545179" cy="443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5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3: trace the DFA</a:t>
            </a:r>
            <a:endParaRPr/>
          </a:p>
        </p:txBody>
      </p:sp>
      <p:sp>
        <p:nvSpPr>
          <p:cNvPr id="1085" name="Google Shape;1085;p57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57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3.2.3</a:t>
            </a:r>
            <a:endParaRPr/>
          </a:p>
        </p:txBody>
      </p:sp>
      <p:sp>
        <p:nvSpPr>
          <p:cNvPr id="1087" name="Google Shape;1087;p5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7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089" name="Google Shape;1089;p57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/>
          </a:p>
        </p:txBody>
      </p:sp>
      <p:sp>
        <p:nvSpPr>
          <p:cNvPr id="1090" name="Google Shape;1090;p57"/>
          <p:cNvSpPr/>
          <p:nvPr/>
        </p:nvSpPr>
        <p:spPr>
          <a:xfrm>
            <a:off x="640080" y="914400"/>
            <a:ext cx="562356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3_given.png" id="1091" name="Google Shape;109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124" y="914400"/>
            <a:ext cx="483547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57"/>
          <p:cNvSpPr/>
          <p:nvPr/>
        </p:nvSpPr>
        <p:spPr>
          <a:xfrm>
            <a:off x="6492240" y="1143000"/>
            <a:ext cx="4983480" cy="146304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57"/>
          <p:cNvSpPr txBox="1"/>
          <p:nvPr/>
        </p:nvSpPr>
        <p:spPr>
          <a:xfrm>
            <a:off x="6693407" y="1289304"/>
            <a:ext cx="4581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(a) Test these strings</a:t>
            </a:r>
            <a:endParaRPr/>
          </a:p>
        </p:txBody>
      </p:sp>
      <p:sp>
        <p:nvSpPr>
          <p:cNvPr id="1094" name="Google Shape;1094;p57"/>
          <p:cNvSpPr txBox="1"/>
          <p:nvPr/>
        </p:nvSpPr>
        <p:spPr>
          <a:xfrm>
            <a:off x="6766559" y="1645920"/>
            <a:ext cx="4434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ε, 0, 1, 010, 011, 111</a:t>
            </a:r>
            <a:endParaRPr/>
          </a:p>
        </p:txBody>
      </p:sp>
      <p:sp>
        <p:nvSpPr>
          <p:cNvPr id="1095" name="Google Shape;1095;p57"/>
          <p:cNvSpPr/>
          <p:nvPr/>
        </p:nvSpPr>
        <p:spPr>
          <a:xfrm>
            <a:off x="6492240" y="2971800"/>
            <a:ext cx="4983480" cy="160020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57"/>
          <p:cNvSpPr txBox="1"/>
          <p:nvPr/>
        </p:nvSpPr>
        <p:spPr>
          <a:xfrm>
            <a:off x="6693407" y="3118104"/>
            <a:ext cx="45811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(b) Identify the language</a:t>
            </a:r>
            <a:endParaRPr/>
          </a:p>
        </p:txBody>
      </p:sp>
      <p:sp>
        <p:nvSpPr>
          <p:cNvPr id="1097" name="Google Shape;1097;p57"/>
          <p:cNvSpPr txBox="1"/>
          <p:nvPr/>
        </p:nvSpPr>
        <p:spPr>
          <a:xfrm>
            <a:off x="6766559" y="3474720"/>
            <a:ext cx="4434840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Give the language in “string notation” / regular-expression form.</a:t>
            </a:r>
            <a:endParaRPr/>
          </a:p>
        </p:txBody>
      </p:sp>
      <p:sp>
        <p:nvSpPr>
          <p:cNvPr id="1098" name="Google Shape;1098;p57"/>
          <p:cNvSpPr txBox="1"/>
          <p:nvPr/>
        </p:nvSpPr>
        <p:spPr>
          <a:xfrm>
            <a:off x="914400" y="470916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Trace each symbol from the start state and check whether the final state is accepting.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5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3: look for a repeating two-symbol pattern</a:t>
            </a:r>
            <a:endParaRPr/>
          </a:p>
        </p:txBody>
      </p:sp>
      <p:sp>
        <p:nvSpPr>
          <p:cNvPr id="1104" name="Google Shape;1104;p58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58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3.2.3</a:t>
            </a:r>
            <a:endParaRPr/>
          </a:p>
        </p:txBody>
      </p:sp>
      <p:sp>
        <p:nvSpPr>
          <p:cNvPr id="1106" name="Google Shape;1106;p5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58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108" name="Google Shape;1108;p58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  <a:endParaRPr/>
          </a:p>
        </p:txBody>
      </p:sp>
      <p:sp>
        <p:nvSpPr>
          <p:cNvPr id="1109" name="Google Shape;1109;p58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58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111" name="Google Shape;1111;p58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The only way back to the accepting state after the first 0 is to read 11.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regular expression starts with 0 and then repeats pairs of 1s?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3: solution</a:t>
            </a:r>
            <a:endParaRPr/>
          </a:p>
        </p:txBody>
      </p:sp>
      <p:sp>
        <p:nvSpPr>
          <p:cNvPr id="1117" name="Google Shape;1117;p59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59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3.2.3</a:t>
            </a:r>
            <a:endParaRPr/>
          </a:p>
        </p:txBody>
      </p:sp>
      <p:sp>
        <p:nvSpPr>
          <p:cNvPr id="1119" name="Google Shape;1119;p5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59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121" name="Google Shape;1121;p5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/>
          </a:p>
        </p:txBody>
      </p:sp>
      <p:sp>
        <p:nvSpPr>
          <p:cNvPr id="1122" name="Google Shape;1122;p59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59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24" name="Google Shape;1124;p59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59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Trace the samples</a:t>
            </a:r>
            <a:endParaRPr/>
          </a:p>
        </p:txBody>
      </p:sp>
      <p:sp>
        <p:nvSpPr>
          <p:cNvPr id="1126" name="Google Shape;1126;p59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Accepted: 0 and 011. Rejected: ε, 1, 010, 111.</a:t>
            </a:r>
            <a:endParaRPr/>
          </a:p>
        </p:txBody>
      </p:sp>
      <p:sp>
        <p:nvSpPr>
          <p:cNvPr id="1127" name="Google Shape;1127;p59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59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29" name="Google Shape;1129;p59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9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Pattern after the first symbol</a:t>
            </a:r>
            <a:endParaRPr/>
          </a:p>
        </p:txBody>
      </p:sp>
      <p:sp>
        <p:nvSpPr>
          <p:cNvPr id="1131" name="Google Shape;1131;p59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first symbol must be 0. After that, the DFA must read 1s in pairs to return to the accepting state.</a:t>
            </a:r>
            <a:endParaRPr/>
          </a:p>
        </p:txBody>
      </p:sp>
      <p:sp>
        <p:nvSpPr>
          <p:cNvPr id="1132" name="Google Shape;1132;p59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9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34" name="Google Shape;1134;p59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9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136" name="Google Shape;1136;p59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Regular expression: 0(11)*.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6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4: trace another DFA</a:t>
            </a:r>
            <a:endParaRPr/>
          </a:p>
        </p:txBody>
      </p:sp>
      <p:sp>
        <p:nvSpPr>
          <p:cNvPr id="1142" name="Google Shape;1142;p60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60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3.2.4</a:t>
            </a:r>
            <a:endParaRPr/>
          </a:p>
        </p:txBody>
      </p:sp>
      <p:sp>
        <p:nvSpPr>
          <p:cNvPr id="1144" name="Google Shape;1144;p6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60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146" name="Google Shape;1146;p60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147" name="Google Shape;1147;p60"/>
          <p:cNvSpPr/>
          <p:nvPr/>
        </p:nvSpPr>
        <p:spPr>
          <a:xfrm>
            <a:off x="640080" y="914400"/>
            <a:ext cx="548640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4_given.png" id="1148" name="Google Shape;114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914400"/>
            <a:ext cx="54864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60"/>
          <p:cNvSpPr/>
          <p:nvPr/>
        </p:nvSpPr>
        <p:spPr>
          <a:xfrm>
            <a:off x="6400800" y="1143000"/>
            <a:ext cx="5120640" cy="16002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60"/>
          <p:cNvSpPr txBox="1"/>
          <p:nvPr/>
        </p:nvSpPr>
        <p:spPr>
          <a:xfrm>
            <a:off x="6601968" y="1289304"/>
            <a:ext cx="471830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(a) Test these strings</a:t>
            </a:r>
            <a:endParaRPr/>
          </a:p>
        </p:txBody>
      </p:sp>
      <p:sp>
        <p:nvSpPr>
          <p:cNvPr id="1151" name="Google Shape;1151;p60"/>
          <p:cNvSpPr txBox="1"/>
          <p:nvPr/>
        </p:nvSpPr>
        <p:spPr>
          <a:xfrm>
            <a:off x="6675120" y="1645920"/>
            <a:ext cx="4572000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ε, a, b, bb, aab, abbabb, ababb</a:t>
            </a:r>
            <a:endParaRPr/>
          </a:p>
        </p:txBody>
      </p:sp>
      <p:sp>
        <p:nvSpPr>
          <p:cNvPr id="1152" name="Google Shape;1152;p60"/>
          <p:cNvSpPr/>
          <p:nvPr/>
        </p:nvSpPr>
        <p:spPr>
          <a:xfrm>
            <a:off x="6400800" y="3063240"/>
            <a:ext cx="5120640" cy="146304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60"/>
          <p:cNvSpPr txBox="1"/>
          <p:nvPr/>
        </p:nvSpPr>
        <p:spPr>
          <a:xfrm>
            <a:off x="6601968" y="3209544"/>
            <a:ext cx="471830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(b) Identify the language</a:t>
            </a:r>
            <a:endParaRPr/>
          </a:p>
        </p:txBody>
      </p:sp>
      <p:sp>
        <p:nvSpPr>
          <p:cNvPr id="1154" name="Google Shape;1154;p60"/>
          <p:cNvSpPr txBox="1"/>
          <p:nvPr/>
        </p:nvSpPr>
        <p:spPr>
          <a:xfrm>
            <a:off x="6675120" y="3566160"/>
            <a:ext cx="45720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Give the language in string / regular-expression form.</a:t>
            </a:r>
            <a:endParaRPr/>
          </a:p>
        </p:txBody>
      </p:sp>
      <p:sp>
        <p:nvSpPr>
          <p:cNvPr id="1155" name="Google Shape;1155;p60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Which short block cycles from q₀ back to q₀ before the final accepting b?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6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4: separate the repeated prefix from the final symbol</a:t>
            </a:r>
            <a:endParaRPr/>
          </a:p>
        </p:txBody>
      </p:sp>
      <p:sp>
        <p:nvSpPr>
          <p:cNvPr id="1161" name="Google Shape;1161;p61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61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3.2.4</a:t>
            </a:r>
            <a:endParaRPr/>
          </a:p>
        </p:txBody>
      </p:sp>
      <p:sp>
        <p:nvSpPr>
          <p:cNvPr id="1163" name="Google Shape;1163;p6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61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165" name="Google Shape;1165;p61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endParaRPr/>
          </a:p>
        </p:txBody>
      </p:sp>
      <p:sp>
        <p:nvSpPr>
          <p:cNvPr id="1166" name="Google Shape;1166;p61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61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168" name="Google Shape;1168;p61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From q₀, the pair “ab” returns to q₀.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single b from q₀ reaches the accepting state. What pattern does that describe?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6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4: solution</a:t>
            </a:r>
            <a:endParaRPr/>
          </a:p>
        </p:txBody>
      </p:sp>
      <p:sp>
        <p:nvSpPr>
          <p:cNvPr id="1174" name="Google Shape;1174;p62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62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3.2.4</a:t>
            </a:r>
            <a:endParaRPr/>
          </a:p>
        </p:txBody>
      </p:sp>
      <p:sp>
        <p:nvSpPr>
          <p:cNvPr id="1176" name="Google Shape;1176;p6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62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178" name="Google Shape;1178;p62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/>
          </a:p>
        </p:txBody>
      </p:sp>
      <p:sp>
        <p:nvSpPr>
          <p:cNvPr id="1179" name="Google Shape;1179;p62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62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81" name="Google Shape;1181;p62"/>
          <p:cNvSpPr/>
          <p:nvPr/>
        </p:nvSpPr>
        <p:spPr>
          <a:xfrm>
            <a:off x="1170432" y="960120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62"/>
          <p:cNvSpPr txBox="1"/>
          <p:nvPr/>
        </p:nvSpPr>
        <p:spPr>
          <a:xfrm>
            <a:off x="1389888" y="1060704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Sample strings</a:t>
            </a:r>
            <a:endParaRPr/>
          </a:p>
        </p:txBody>
      </p:sp>
      <p:sp>
        <p:nvSpPr>
          <p:cNvPr id="1183" name="Google Shape;1183;p62"/>
          <p:cNvSpPr txBox="1"/>
          <p:nvPr/>
        </p:nvSpPr>
        <p:spPr>
          <a:xfrm>
            <a:off x="3246120" y="1051560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Accepted: b and ababb. The other listed strings are rejected.</a:t>
            </a:r>
            <a:endParaRPr/>
          </a:p>
        </p:txBody>
      </p:sp>
      <p:sp>
        <p:nvSpPr>
          <p:cNvPr id="1184" name="Google Shape;1184;p62"/>
          <p:cNvSpPr/>
          <p:nvPr/>
        </p:nvSpPr>
        <p:spPr>
          <a:xfrm>
            <a:off x="749808" y="2471166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62"/>
          <p:cNvSpPr txBox="1"/>
          <p:nvPr/>
        </p:nvSpPr>
        <p:spPr>
          <a:xfrm>
            <a:off x="749808" y="248945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86" name="Google Shape;1186;p62"/>
          <p:cNvSpPr/>
          <p:nvPr/>
        </p:nvSpPr>
        <p:spPr>
          <a:xfrm>
            <a:off x="1170432" y="2379726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62"/>
          <p:cNvSpPr txBox="1"/>
          <p:nvPr/>
        </p:nvSpPr>
        <p:spPr>
          <a:xfrm>
            <a:off x="1389888" y="2480310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Repeated block</a:t>
            </a:r>
            <a:endParaRPr/>
          </a:p>
        </p:txBody>
      </p:sp>
      <p:sp>
        <p:nvSpPr>
          <p:cNvPr id="1188" name="Google Shape;1188;p62"/>
          <p:cNvSpPr txBox="1"/>
          <p:nvPr/>
        </p:nvSpPr>
        <p:spPr>
          <a:xfrm>
            <a:off x="3246120" y="2471166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Every “ab” cycle returns to q₀.</a:t>
            </a:r>
            <a:endParaRPr/>
          </a:p>
        </p:txBody>
      </p:sp>
      <p:sp>
        <p:nvSpPr>
          <p:cNvPr id="1189" name="Google Shape;1189;p62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62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91" name="Google Shape;1191;p62"/>
          <p:cNvSpPr/>
          <p:nvPr/>
        </p:nvSpPr>
        <p:spPr>
          <a:xfrm>
            <a:off x="1170432" y="3799332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62"/>
          <p:cNvSpPr txBox="1"/>
          <p:nvPr/>
        </p:nvSpPr>
        <p:spPr>
          <a:xfrm>
            <a:off x="1389888" y="3899916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Final step</a:t>
            </a:r>
            <a:endParaRPr/>
          </a:p>
        </p:txBody>
      </p:sp>
      <p:sp>
        <p:nvSpPr>
          <p:cNvPr id="1193" name="Google Shape;1193;p62"/>
          <p:cNvSpPr txBox="1"/>
          <p:nvPr/>
        </p:nvSpPr>
        <p:spPr>
          <a:xfrm>
            <a:off x="3246120" y="3890772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 final b moves q₀ to the accepting state.</a:t>
            </a:r>
            <a:endParaRPr/>
          </a:p>
        </p:txBody>
      </p:sp>
      <p:sp>
        <p:nvSpPr>
          <p:cNvPr id="1194" name="Google Shape;1194;p62"/>
          <p:cNvSpPr/>
          <p:nvPr/>
        </p:nvSpPr>
        <p:spPr>
          <a:xfrm>
            <a:off x="749808" y="5310377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62"/>
          <p:cNvSpPr txBox="1"/>
          <p:nvPr/>
        </p:nvSpPr>
        <p:spPr>
          <a:xfrm>
            <a:off x="749808" y="532866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96" name="Google Shape;1196;p62"/>
          <p:cNvSpPr/>
          <p:nvPr/>
        </p:nvSpPr>
        <p:spPr>
          <a:xfrm>
            <a:off x="1170432" y="5218938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62"/>
          <p:cNvSpPr txBox="1"/>
          <p:nvPr/>
        </p:nvSpPr>
        <p:spPr>
          <a:xfrm>
            <a:off x="1389888" y="5319522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198" name="Google Shape;1198;p62"/>
          <p:cNvSpPr txBox="1"/>
          <p:nvPr/>
        </p:nvSpPr>
        <p:spPr>
          <a:xfrm>
            <a:off x="3246120" y="5310377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Regular expression: (ab)*b.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5: draw a DFA for ab*ab</a:t>
            </a:r>
            <a:endParaRPr/>
          </a:p>
        </p:txBody>
      </p:sp>
      <p:sp>
        <p:nvSpPr>
          <p:cNvPr id="1204" name="Google Shape;1204;p63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63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3.2.5</a:t>
            </a:r>
            <a:endParaRPr/>
          </a:p>
        </p:txBody>
      </p:sp>
      <p:sp>
        <p:nvSpPr>
          <p:cNvPr id="1206" name="Google Shape;1206;p6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63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208" name="Google Shape;1208;p63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/>
          </a:p>
        </p:txBody>
      </p:sp>
      <p:sp>
        <p:nvSpPr>
          <p:cNvPr id="1209" name="Google Shape;1209;p63"/>
          <p:cNvSpPr/>
          <p:nvPr/>
        </p:nvSpPr>
        <p:spPr>
          <a:xfrm>
            <a:off x="1508760" y="1234440"/>
            <a:ext cx="9189720" cy="11430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63"/>
          <p:cNvSpPr txBox="1"/>
          <p:nvPr/>
        </p:nvSpPr>
        <p:spPr>
          <a:xfrm>
            <a:off x="1709928" y="1380744"/>
            <a:ext cx="87873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211" name="Google Shape;1211;p63"/>
          <p:cNvSpPr txBox="1"/>
          <p:nvPr/>
        </p:nvSpPr>
        <p:spPr>
          <a:xfrm>
            <a:off x="1783080" y="1737360"/>
            <a:ext cx="864108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ab*ab</a:t>
            </a:r>
            <a:endParaRPr/>
          </a:p>
        </p:txBody>
      </p:sp>
      <p:sp>
        <p:nvSpPr>
          <p:cNvPr id="1212" name="Google Shape;1212;p63"/>
          <p:cNvSpPr txBox="1"/>
          <p:nvPr/>
        </p:nvSpPr>
        <p:spPr>
          <a:xfrm>
            <a:off x="1051560" y="2788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The string begins with a, then has zero or more b’s, then ends with ab.</a:t>
            </a:r>
            <a:endParaRPr/>
          </a:p>
        </p:txBody>
      </p:sp>
      <p:sp>
        <p:nvSpPr>
          <p:cNvPr id="1213" name="Google Shape;1213;p63"/>
          <p:cNvSpPr txBox="1"/>
          <p:nvPr/>
        </p:nvSpPr>
        <p:spPr>
          <a:xfrm>
            <a:off x="2103120" y="379476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Draw a DFA that accepts exactly these strings.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6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5: treat the middle b* as a loop</a:t>
            </a:r>
            <a:endParaRPr/>
          </a:p>
        </p:txBody>
      </p:sp>
      <p:sp>
        <p:nvSpPr>
          <p:cNvPr id="1219" name="Google Shape;1219;p64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64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3.2.5</a:t>
            </a:r>
            <a:endParaRPr/>
          </a:p>
        </p:txBody>
      </p:sp>
      <p:sp>
        <p:nvSpPr>
          <p:cNvPr id="1221" name="Google Shape;1221;p6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64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223" name="Google Shape;1223;p64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/>
          </a:p>
        </p:txBody>
      </p:sp>
      <p:sp>
        <p:nvSpPr>
          <p:cNvPr id="1224" name="Google Shape;1224;p64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64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226" name="Google Shape;1226;p64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After the first a, loop on b as long as you like.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two symbols must then appear to finish the string?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6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5: solution DFA</a:t>
            </a:r>
            <a:endParaRPr/>
          </a:p>
        </p:txBody>
      </p:sp>
      <p:sp>
        <p:nvSpPr>
          <p:cNvPr id="1232" name="Google Shape;1232;p65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65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3.2.5</a:t>
            </a:r>
            <a:endParaRPr/>
          </a:p>
        </p:txBody>
      </p:sp>
      <p:sp>
        <p:nvSpPr>
          <p:cNvPr id="1234" name="Google Shape;1234;p6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5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236" name="Google Shape;1236;p65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/>
          </a:p>
        </p:txBody>
      </p:sp>
      <p:sp>
        <p:nvSpPr>
          <p:cNvPr id="1237" name="Google Shape;1237;p65"/>
          <p:cNvSpPr/>
          <p:nvPr/>
        </p:nvSpPr>
        <p:spPr>
          <a:xfrm>
            <a:off x="1005840" y="1234440"/>
            <a:ext cx="1014984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5_solution.png" id="1238" name="Google Shape;123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456095"/>
            <a:ext cx="10149840" cy="3854369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65"/>
          <p:cNvSpPr txBox="1"/>
          <p:nvPr/>
        </p:nvSpPr>
        <p:spPr>
          <a:xfrm>
            <a:off x="1005840" y="566928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Any symbol that cannot still lead to the pattern is routed to a dead state.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6: draw a DFA for ab*(cbc)*aa*</a:t>
            </a:r>
            <a:endParaRPr/>
          </a:p>
        </p:txBody>
      </p:sp>
      <p:sp>
        <p:nvSpPr>
          <p:cNvPr id="1245" name="Google Shape;1245;p66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66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3.2.6</a:t>
            </a:r>
            <a:endParaRPr/>
          </a:p>
        </p:txBody>
      </p:sp>
      <p:sp>
        <p:nvSpPr>
          <p:cNvPr id="1247" name="Google Shape;1247;p6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66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249" name="Google Shape;1249;p66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/>
          </a:p>
        </p:txBody>
      </p:sp>
      <p:sp>
        <p:nvSpPr>
          <p:cNvPr id="1250" name="Google Shape;1250;p66"/>
          <p:cNvSpPr/>
          <p:nvPr/>
        </p:nvSpPr>
        <p:spPr>
          <a:xfrm>
            <a:off x="1463040" y="1097280"/>
            <a:ext cx="9281160" cy="114300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66"/>
          <p:cNvSpPr txBox="1"/>
          <p:nvPr/>
        </p:nvSpPr>
        <p:spPr>
          <a:xfrm>
            <a:off x="1664208" y="1243584"/>
            <a:ext cx="8878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252" name="Google Shape;1252;p66"/>
          <p:cNvSpPr txBox="1"/>
          <p:nvPr/>
        </p:nvSpPr>
        <p:spPr>
          <a:xfrm>
            <a:off x="1737360" y="1600200"/>
            <a:ext cx="87325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ab*(cbc)*aa*</a:t>
            </a:r>
            <a:endParaRPr/>
          </a:p>
        </p:txBody>
      </p:sp>
      <p:sp>
        <p:nvSpPr>
          <p:cNvPr id="1253" name="Google Shape;1253;p66"/>
          <p:cNvSpPr txBox="1"/>
          <p:nvPr/>
        </p:nvSpPr>
        <p:spPr>
          <a:xfrm>
            <a:off x="2148840" y="2651760"/>
            <a:ext cx="7955279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one initial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then any number of b’s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then any number of complete cbc blocks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• then one or more a’s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6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6: build one region per starred block</a:t>
            </a:r>
            <a:endParaRPr/>
          </a:p>
        </p:txBody>
      </p:sp>
      <p:sp>
        <p:nvSpPr>
          <p:cNvPr id="1259" name="Google Shape;1259;p67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67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3.2.6</a:t>
            </a:r>
            <a:endParaRPr/>
          </a:p>
        </p:txBody>
      </p:sp>
      <p:sp>
        <p:nvSpPr>
          <p:cNvPr id="1261" name="Google Shape;1261;p6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67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263" name="Google Shape;1263;p67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/>
          </a:p>
        </p:txBody>
      </p:sp>
      <p:sp>
        <p:nvSpPr>
          <p:cNvPr id="1264" name="Google Shape;1264;p67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67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266" name="Google Shape;1266;p67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Use a loop for b*. Use a 3-edge cycle for each cbc block.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Then enter a final accepting state for aa* and loop there on a.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6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6: solution DFA</a:t>
            </a:r>
            <a:endParaRPr/>
          </a:p>
        </p:txBody>
      </p:sp>
      <p:sp>
        <p:nvSpPr>
          <p:cNvPr id="1272" name="Google Shape;1272;p68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68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3.2.6</a:t>
            </a:r>
            <a:endParaRPr/>
          </a:p>
        </p:txBody>
      </p:sp>
      <p:sp>
        <p:nvSpPr>
          <p:cNvPr id="1274" name="Google Shape;1274;p6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68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276" name="Google Shape;1276;p68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/>
          </a:p>
        </p:txBody>
      </p:sp>
      <p:sp>
        <p:nvSpPr>
          <p:cNvPr id="1277" name="Google Shape;1277;p68"/>
          <p:cNvSpPr/>
          <p:nvPr/>
        </p:nvSpPr>
        <p:spPr>
          <a:xfrm>
            <a:off x="868680" y="914400"/>
            <a:ext cx="10469880" cy="5212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6_solution.png" id="1278" name="Google Shape;127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6812" y="914400"/>
            <a:ext cx="8073614" cy="521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6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7: even number of 0s, last symbol 1</a:t>
            </a:r>
            <a:endParaRPr/>
          </a:p>
        </p:txBody>
      </p:sp>
      <p:sp>
        <p:nvSpPr>
          <p:cNvPr id="1284" name="Google Shape;1284;p69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69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3.2.7</a:t>
            </a:r>
            <a:endParaRPr/>
          </a:p>
        </p:txBody>
      </p:sp>
      <p:sp>
        <p:nvSpPr>
          <p:cNvPr id="1286" name="Google Shape;1286;p6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69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288" name="Google Shape;1288;p6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  <a:endParaRPr/>
          </a:p>
        </p:txBody>
      </p:sp>
      <p:sp>
        <p:nvSpPr>
          <p:cNvPr id="1289" name="Google Shape;1289;p69"/>
          <p:cNvSpPr/>
          <p:nvPr/>
        </p:nvSpPr>
        <p:spPr>
          <a:xfrm>
            <a:off x="822960" y="1234440"/>
            <a:ext cx="10561320" cy="196596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69"/>
          <p:cNvSpPr txBox="1"/>
          <p:nvPr/>
        </p:nvSpPr>
        <p:spPr>
          <a:xfrm>
            <a:off x="1024128" y="1380744"/>
            <a:ext cx="10158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291" name="Google Shape;1291;p69"/>
          <p:cNvSpPr txBox="1"/>
          <p:nvPr/>
        </p:nvSpPr>
        <p:spPr>
          <a:xfrm>
            <a:off x="1097280" y="1737360"/>
            <a:ext cx="1001268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{ x ∈ {0,1}* : x has an even number of 0s and the last character is 1 }</a:t>
            </a:r>
            <a:endParaRPr/>
          </a:p>
        </p:txBody>
      </p:sp>
      <p:sp>
        <p:nvSpPr>
          <p:cNvPr id="1292" name="Google Shape;1292;p69"/>
          <p:cNvSpPr txBox="1"/>
          <p:nvPr/>
        </p:nvSpPr>
        <p:spPr>
          <a:xfrm>
            <a:off x="2148840" y="3749039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Draw a DFA that tracks both requirements.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7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7: track two bits of information</a:t>
            </a:r>
            <a:endParaRPr/>
          </a:p>
        </p:txBody>
      </p:sp>
      <p:sp>
        <p:nvSpPr>
          <p:cNvPr id="1298" name="Google Shape;1298;p70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70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3.2.7</a:t>
            </a:r>
            <a:endParaRPr/>
          </a:p>
        </p:txBody>
      </p:sp>
      <p:sp>
        <p:nvSpPr>
          <p:cNvPr id="1300" name="Google Shape;1300;p7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70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302" name="Google Shape;1302;p70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sp>
        <p:nvSpPr>
          <p:cNvPr id="1303" name="Google Shape;1303;p70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70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305" name="Google Shape;1305;p70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Bit 1: parity of the number of 0s (even / odd).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Bit 2: whether the most recent symbol is 1.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How many combined states are enough?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7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7: solution DFA</a:t>
            </a:r>
            <a:endParaRPr/>
          </a:p>
        </p:txBody>
      </p:sp>
      <p:sp>
        <p:nvSpPr>
          <p:cNvPr id="1311" name="Google Shape;1311;p71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71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3.2.7</a:t>
            </a:r>
            <a:endParaRPr/>
          </a:p>
        </p:txBody>
      </p:sp>
      <p:sp>
        <p:nvSpPr>
          <p:cNvPr id="1313" name="Google Shape;1313;p7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71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315" name="Google Shape;1315;p71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  <a:endParaRPr/>
          </a:p>
        </p:txBody>
      </p:sp>
      <p:sp>
        <p:nvSpPr>
          <p:cNvPr id="1316" name="Google Shape;1316;p71"/>
          <p:cNvSpPr/>
          <p:nvPr/>
        </p:nvSpPr>
        <p:spPr>
          <a:xfrm>
            <a:off x="1325880" y="914400"/>
            <a:ext cx="9555480" cy="5303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7_solution.png" id="1317" name="Google Shape;131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3896" y="914400"/>
            <a:ext cx="6119446" cy="530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71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The accepting state represents: even number of 0s AND latest symbol = 1.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7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8: exactly two 0s in every block of 3</a:t>
            </a:r>
            <a:endParaRPr/>
          </a:p>
        </p:txBody>
      </p:sp>
      <p:sp>
        <p:nvSpPr>
          <p:cNvPr id="1324" name="Google Shape;1324;p72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72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3.2.8</a:t>
            </a:r>
            <a:endParaRPr/>
          </a:p>
        </p:txBody>
      </p:sp>
      <p:sp>
        <p:nvSpPr>
          <p:cNvPr id="1326" name="Google Shape;1326;p7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72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328" name="Google Shape;1328;p72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72</a:t>
            </a:r>
            <a:endParaRPr/>
          </a:p>
        </p:txBody>
      </p:sp>
      <p:sp>
        <p:nvSpPr>
          <p:cNvPr id="1329" name="Google Shape;1329;p72"/>
          <p:cNvSpPr txBox="1"/>
          <p:nvPr/>
        </p:nvSpPr>
        <p:spPr>
          <a:xfrm>
            <a:off x="594360" y="8412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Accept binary strings whose length is 3n and every consecutive block of 3 contains exactly two 0s.</a:t>
            </a:r>
            <a:endParaRPr/>
          </a:p>
        </p:txBody>
      </p:sp>
      <p:sp>
        <p:nvSpPr>
          <p:cNvPr id="1330" name="Google Shape;1330;p72"/>
          <p:cNvSpPr/>
          <p:nvPr/>
        </p:nvSpPr>
        <p:spPr>
          <a:xfrm>
            <a:off x="731520" y="1783080"/>
            <a:ext cx="5303520" cy="182880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72"/>
          <p:cNvSpPr txBox="1"/>
          <p:nvPr/>
        </p:nvSpPr>
        <p:spPr>
          <a:xfrm>
            <a:off x="932688" y="1929384"/>
            <a:ext cx="49011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/>
          </a:p>
        </p:txBody>
      </p:sp>
      <p:sp>
        <p:nvSpPr>
          <p:cNvPr id="1332" name="Google Shape;1332;p72"/>
          <p:cNvSpPr txBox="1"/>
          <p:nvPr/>
        </p:nvSpPr>
        <p:spPr>
          <a:xfrm>
            <a:off x="1005840" y="2286000"/>
            <a:ext cx="4754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100010 = 100 | 010</a:t>
            </a:r>
            <a:b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Each block has exactly two 0s.</a:t>
            </a:r>
            <a:endParaRPr/>
          </a:p>
        </p:txBody>
      </p:sp>
      <p:sp>
        <p:nvSpPr>
          <p:cNvPr id="1333" name="Google Shape;1333;p72"/>
          <p:cNvSpPr/>
          <p:nvPr/>
        </p:nvSpPr>
        <p:spPr>
          <a:xfrm>
            <a:off x="6172200" y="1783080"/>
            <a:ext cx="5303520" cy="1828800"/>
          </a:xfrm>
          <a:prstGeom prst="roundRect">
            <a:avLst>
              <a:gd fmla="val 16667" name="adj"/>
            </a:avLst>
          </a:prstGeom>
          <a:solidFill>
            <a:srgbClr val="FBEFEE"/>
          </a:solidFill>
          <a:ln cap="flat" cmpd="sng" w="19050">
            <a:solidFill>
              <a:srgbClr val="C24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72"/>
          <p:cNvSpPr txBox="1"/>
          <p:nvPr/>
        </p:nvSpPr>
        <p:spPr>
          <a:xfrm>
            <a:off x="6373368" y="1929384"/>
            <a:ext cx="490118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4D43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1335" name="Google Shape;1335;p72"/>
          <p:cNvSpPr txBox="1"/>
          <p:nvPr/>
        </p:nvSpPr>
        <p:spPr>
          <a:xfrm>
            <a:off x="6446520" y="2286000"/>
            <a:ext cx="4754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00100 (wrong length)</a:t>
            </a:r>
            <a:b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110001 (first block has only one 0)</a:t>
            </a:r>
            <a:endParaRPr/>
          </a:p>
        </p:txBody>
      </p:sp>
      <p:sp>
        <p:nvSpPr>
          <p:cNvPr id="1336" name="Google Shape;1336;p72"/>
          <p:cNvSpPr txBox="1"/>
          <p:nvPr/>
        </p:nvSpPr>
        <p:spPr>
          <a:xfrm>
            <a:off x="2743200" y="4343400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The empty string ε is accepted vacuously.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7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8: reset after each 3-symbol block</a:t>
            </a:r>
            <a:endParaRPr/>
          </a:p>
        </p:txBody>
      </p:sp>
      <p:sp>
        <p:nvSpPr>
          <p:cNvPr id="1342" name="Google Shape;1342;p73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73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3.2.8</a:t>
            </a:r>
            <a:endParaRPr/>
          </a:p>
        </p:txBody>
      </p:sp>
      <p:sp>
        <p:nvSpPr>
          <p:cNvPr id="1344" name="Google Shape;1344;p7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73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346" name="Google Shape;1346;p73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/>
          </a:p>
        </p:txBody>
      </p:sp>
      <p:sp>
        <p:nvSpPr>
          <p:cNvPr id="1347" name="Google Shape;1347;p73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73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349" name="Google Shape;1349;p73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Inside the current block, remember two things: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(1) how many symbols of the block have been read; (2) how many of them are 0.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After a valid third symbol, reset to the block-boundary state.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7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8: solution DFA</a:t>
            </a:r>
            <a:endParaRPr/>
          </a:p>
        </p:txBody>
      </p:sp>
      <p:sp>
        <p:nvSpPr>
          <p:cNvPr id="1355" name="Google Shape;1355;p74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74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3.2.8</a:t>
            </a:r>
            <a:endParaRPr/>
          </a:p>
        </p:txBody>
      </p:sp>
      <p:sp>
        <p:nvSpPr>
          <p:cNvPr id="1357" name="Google Shape;1357;p7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74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359" name="Google Shape;1359;p74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74</a:t>
            </a:r>
            <a:endParaRPr/>
          </a:p>
        </p:txBody>
      </p:sp>
      <p:sp>
        <p:nvSpPr>
          <p:cNvPr id="1360" name="Google Shape;1360;p74"/>
          <p:cNvSpPr/>
          <p:nvPr/>
        </p:nvSpPr>
        <p:spPr>
          <a:xfrm>
            <a:off x="777240" y="868680"/>
            <a:ext cx="1065276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dfa_p8_solution.png" id="1361" name="Google Shape;136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603" y="868680"/>
            <a:ext cx="7286033" cy="5349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7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3.2 Problem 8: how to understand the states</a:t>
            </a:r>
            <a:endParaRPr/>
          </a:p>
        </p:txBody>
      </p:sp>
      <p:sp>
        <p:nvSpPr>
          <p:cNvPr id="1367" name="Google Shape;1367;p75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75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3.2.8</a:t>
            </a:r>
            <a:endParaRPr/>
          </a:p>
        </p:txBody>
      </p:sp>
      <p:sp>
        <p:nvSpPr>
          <p:cNvPr id="1369" name="Google Shape;1369;p7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75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371" name="Google Shape;1371;p75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/>
          </a:p>
        </p:txBody>
      </p:sp>
      <p:sp>
        <p:nvSpPr>
          <p:cNvPr id="1372" name="Google Shape;1372;p75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75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74" name="Google Shape;1374;p75"/>
          <p:cNvSpPr/>
          <p:nvPr/>
        </p:nvSpPr>
        <p:spPr>
          <a:xfrm>
            <a:off x="1170432" y="960120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75"/>
          <p:cNvSpPr txBox="1"/>
          <p:nvPr/>
        </p:nvSpPr>
        <p:spPr>
          <a:xfrm>
            <a:off x="1389888" y="1060704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Block boundary</a:t>
            </a:r>
            <a:endParaRPr/>
          </a:p>
        </p:txBody>
      </p:sp>
      <p:sp>
        <p:nvSpPr>
          <p:cNvPr id="1376" name="Google Shape;1376;p75"/>
          <p:cNvSpPr txBox="1"/>
          <p:nvPr/>
        </p:nvSpPr>
        <p:spPr>
          <a:xfrm>
            <a:off x="3246120" y="1051560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start state is accepting: it means we have completed zero or more valid 3-symbol blocks.</a:t>
            </a:r>
            <a:endParaRPr/>
          </a:p>
        </p:txBody>
      </p:sp>
      <p:sp>
        <p:nvSpPr>
          <p:cNvPr id="1377" name="Google Shape;1377;p75"/>
          <p:cNvSpPr/>
          <p:nvPr/>
        </p:nvSpPr>
        <p:spPr>
          <a:xfrm>
            <a:off x="749808" y="2471166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75"/>
          <p:cNvSpPr txBox="1"/>
          <p:nvPr/>
        </p:nvSpPr>
        <p:spPr>
          <a:xfrm>
            <a:off x="749808" y="248945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79" name="Google Shape;1379;p75"/>
          <p:cNvSpPr/>
          <p:nvPr/>
        </p:nvSpPr>
        <p:spPr>
          <a:xfrm>
            <a:off x="1170432" y="2379726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75"/>
          <p:cNvSpPr txBox="1"/>
          <p:nvPr/>
        </p:nvSpPr>
        <p:spPr>
          <a:xfrm>
            <a:off x="1389888" y="2480310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Within a block</a:t>
            </a:r>
            <a:endParaRPr/>
          </a:p>
        </p:txBody>
      </p:sp>
      <p:sp>
        <p:nvSpPr>
          <p:cNvPr id="1381" name="Google Shape;1381;p75"/>
          <p:cNvSpPr txBox="1"/>
          <p:nvPr/>
        </p:nvSpPr>
        <p:spPr>
          <a:xfrm>
            <a:off x="3246120" y="2471166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Intermediate states remember the position (1 or 2 symbols read) and how many 0s have appeared so far.</a:t>
            </a:r>
            <a:endParaRPr/>
          </a:p>
        </p:txBody>
      </p:sp>
      <p:sp>
        <p:nvSpPr>
          <p:cNvPr id="1382" name="Google Shape;1382;p75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75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84" name="Google Shape;1384;p75"/>
          <p:cNvSpPr/>
          <p:nvPr/>
        </p:nvSpPr>
        <p:spPr>
          <a:xfrm>
            <a:off x="1170432" y="3799332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75"/>
          <p:cNvSpPr txBox="1"/>
          <p:nvPr/>
        </p:nvSpPr>
        <p:spPr>
          <a:xfrm>
            <a:off x="1389888" y="3899916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Third symbol</a:t>
            </a:r>
            <a:endParaRPr/>
          </a:p>
        </p:txBody>
      </p:sp>
      <p:sp>
        <p:nvSpPr>
          <p:cNvPr id="1386" name="Google Shape;1386;p75"/>
          <p:cNvSpPr txBox="1"/>
          <p:nvPr/>
        </p:nvSpPr>
        <p:spPr>
          <a:xfrm>
            <a:off x="3246120" y="3890772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the completed block has exactly two 0s, return to the boundary state; otherwise enter a dead state.</a:t>
            </a:r>
            <a:endParaRPr/>
          </a:p>
        </p:txBody>
      </p:sp>
      <p:sp>
        <p:nvSpPr>
          <p:cNvPr id="1387" name="Google Shape;1387;p75"/>
          <p:cNvSpPr/>
          <p:nvPr/>
        </p:nvSpPr>
        <p:spPr>
          <a:xfrm>
            <a:off x="749808" y="5310377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75"/>
          <p:cNvSpPr txBox="1"/>
          <p:nvPr/>
        </p:nvSpPr>
        <p:spPr>
          <a:xfrm>
            <a:off x="749808" y="532866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89" name="Google Shape;1389;p75"/>
          <p:cNvSpPr/>
          <p:nvPr/>
        </p:nvSpPr>
        <p:spPr>
          <a:xfrm>
            <a:off x="1170432" y="5218938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75"/>
          <p:cNvSpPr txBox="1"/>
          <p:nvPr/>
        </p:nvSpPr>
        <p:spPr>
          <a:xfrm>
            <a:off x="1389888" y="5319522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Why length matters</a:t>
            </a:r>
            <a:endParaRPr/>
          </a:p>
        </p:txBody>
      </p:sp>
      <p:sp>
        <p:nvSpPr>
          <p:cNvPr id="1391" name="Google Shape;1391;p75"/>
          <p:cNvSpPr txBox="1"/>
          <p:nvPr/>
        </p:nvSpPr>
        <p:spPr>
          <a:xfrm>
            <a:off x="3246120" y="5310377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Only the boundary state accepts, so the total length must be a multiple of 3.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Moved Problem 2.3.5: analyze this Turing machine</a:t>
            </a:r>
            <a:endParaRPr/>
          </a:p>
        </p:txBody>
      </p:sp>
      <p:sp>
        <p:nvSpPr>
          <p:cNvPr id="1397" name="Google Shape;1397;p76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76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2.3.5</a:t>
            </a:r>
            <a:endParaRPr/>
          </a:p>
        </p:txBody>
      </p:sp>
      <p:sp>
        <p:nvSpPr>
          <p:cNvPr id="1399" name="Google Shape;1399;p7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76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401" name="Google Shape;1401;p76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/>
          </a:p>
        </p:txBody>
      </p:sp>
      <p:sp>
        <p:nvSpPr>
          <p:cNvPr id="1402" name="Google Shape;1402;p76"/>
          <p:cNvSpPr/>
          <p:nvPr/>
        </p:nvSpPr>
        <p:spPr>
          <a:xfrm>
            <a:off x="502920" y="868680"/>
            <a:ext cx="6400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in_tm_p5.png" id="1403" name="Google Shape;1403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24339"/>
            <a:ext cx="6400800" cy="5009321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76"/>
          <p:cNvSpPr/>
          <p:nvPr/>
        </p:nvSpPr>
        <p:spPr>
          <a:xfrm>
            <a:off x="7178040" y="1143000"/>
            <a:ext cx="4343400" cy="379476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76"/>
          <p:cNvSpPr txBox="1"/>
          <p:nvPr/>
        </p:nvSpPr>
        <p:spPr>
          <a:xfrm>
            <a:off x="7379208" y="1289304"/>
            <a:ext cx="39410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Which statement is true?</a:t>
            </a:r>
            <a:endParaRPr/>
          </a:p>
        </p:txBody>
      </p:sp>
      <p:sp>
        <p:nvSpPr>
          <p:cNvPr id="1406" name="Google Shape;1406;p76"/>
          <p:cNvSpPr txBox="1"/>
          <p:nvPr/>
        </p:nvSpPr>
        <p:spPr>
          <a:xfrm>
            <a:off x="7452360" y="1645920"/>
            <a:ext cx="3794760" cy="31363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(a) Accepts all strings containing substring “10”.</a:t>
            </a:r>
            <a:br>
              <a:rPr b="0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(b) Accepts all strings starting with “10”.</a:t>
            </a:r>
            <a:br>
              <a:rPr b="0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(c) Loops on every all-2s string.</a:t>
            </a:r>
            <a:br>
              <a:rPr b="0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(d) “10⊥1” is in its language.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7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Moved Problem 2.3.5: trace the first few symbols</a:t>
            </a:r>
            <a:endParaRPr/>
          </a:p>
        </p:txBody>
      </p:sp>
      <p:sp>
        <p:nvSpPr>
          <p:cNvPr id="1412" name="Google Shape;1412;p77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77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2.3.5</a:t>
            </a:r>
            <a:endParaRPr/>
          </a:p>
        </p:txBody>
      </p:sp>
      <p:sp>
        <p:nvSpPr>
          <p:cNvPr id="1414" name="Google Shape;1414;p7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77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416" name="Google Shape;1416;p77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77</a:t>
            </a:r>
            <a:endParaRPr/>
          </a:p>
        </p:txBody>
      </p:sp>
      <p:sp>
        <p:nvSpPr>
          <p:cNvPr id="1417" name="Google Shape;1417;p77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77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419" name="Google Shape;1419;p77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Do not reason from the whole diagram at once.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Trace what happens after the first symbol, then the second. Also remember: ⊥ is a tape symbol, not an input symbol.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7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Moved Problem 2.3.5: solution, choices (a) and (b)</a:t>
            </a:r>
            <a:endParaRPr/>
          </a:p>
        </p:txBody>
      </p:sp>
      <p:sp>
        <p:nvSpPr>
          <p:cNvPr id="1425" name="Google Shape;1425;p78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78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2.3.5</a:t>
            </a:r>
            <a:endParaRPr/>
          </a:p>
        </p:txBody>
      </p:sp>
      <p:sp>
        <p:nvSpPr>
          <p:cNvPr id="1427" name="Google Shape;1427;p7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78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429" name="Google Shape;1429;p78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78</a:t>
            </a:r>
            <a:endParaRPr/>
          </a:p>
        </p:txBody>
      </p:sp>
      <p:sp>
        <p:nvSpPr>
          <p:cNvPr id="1430" name="Google Shape;1430;p78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78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32" name="Google Shape;1432;p78"/>
          <p:cNvSpPr/>
          <p:nvPr/>
        </p:nvSpPr>
        <p:spPr>
          <a:xfrm>
            <a:off x="1170432" y="960120"/>
            <a:ext cx="10104120" cy="2692908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78"/>
          <p:cNvSpPr txBox="1"/>
          <p:nvPr/>
        </p:nvSpPr>
        <p:spPr>
          <a:xfrm>
            <a:off x="1389888" y="1060704"/>
            <a:ext cx="2103120" cy="251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(a) is false</a:t>
            </a:r>
            <a:endParaRPr/>
          </a:p>
        </p:txBody>
      </p:sp>
      <p:sp>
        <p:nvSpPr>
          <p:cNvPr id="1434" name="Google Shape;1434;p78"/>
          <p:cNvSpPr txBox="1"/>
          <p:nvPr/>
        </p:nvSpPr>
        <p:spPr>
          <a:xfrm>
            <a:off x="3246120" y="1051560"/>
            <a:ext cx="7726679" cy="2528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Counterexample: 010 contains substring 10, but the machine rejects it.</a:t>
            </a:r>
            <a:endParaRPr/>
          </a:p>
        </p:txBody>
      </p:sp>
      <p:sp>
        <p:nvSpPr>
          <p:cNvPr id="1435" name="Google Shape;1435;p78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78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37" name="Google Shape;1437;p78"/>
          <p:cNvSpPr/>
          <p:nvPr/>
        </p:nvSpPr>
        <p:spPr>
          <a:xfrm>
            <a:off x="1170432" y="3799332"/>
            <a:ext cx="10104120" cy="2692908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78"/>
          <p:cNvSpPr txBox="1"/>
          <p:nvPr/>
        </p:nvSpPr>
        <p:spPr>
          <a:xfrm>
            <a:off x="1389888" y="3899916"/>
            <a:ext cx="2103120" cy="251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(b) is true</a:t>
            </a:r>
            <a:endParaRPr/>
          </a:p>
        </p:txBody>
      </p:sp>
      <p:sp>
        <p:nvSpPr>
          <p:cNvPr id="1439" name="Google Shape;1439;p78"/>
          <p:cNvSpPr txBox="1"/>
          <p:nvPr/>
        </p:nvSpPr>
        <p:spPr>
          <a:xfrm>
            <a:off x="3246120" y="3890772"/>
            <a:ext cx="7726679" cy="2528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Every input beginning with 10 follows the transitions into q_accept; the remaining characters no longer matter.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7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Moved Problem 2.3.5: solution, choices (c) and (d)</a:t>
            </a:r>
            <a:endParaRPr/>
          </a:p>
        </p:txBody>
      </p:sp>
      <p:sp>
        <p:nvSpPr>
          <p:cNvPr id="1445" name="Google Shape;1445;p79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79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2.3.5</a:t>
            </a:r>
            <a:endParaRPr/>
          </a:p>
        </p:txBody>
      </p:sp>
      <p:sp>
        <p:nvSpPr>
          <p:cNvPr id="1447" name="Google Shape;1447;p7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79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449" name="Google Shape;1449;p7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79</a:t>
            </a:r>
            <a:endParaRPr/>
          </a:p>
        </p:txBody>
      </p:sp>
      <p:sp>
        <p:nvSpPr>
          <p:cNvPr id="1450" name="Google Shape;1450;p79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79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52" name="Google Shape;1452;p79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79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(c) is false</a:t>
            </a:r>
            <a:endParaRPr/>
          </a:p>
        </p:txBody>
      </p:sp>
      <p:sp>
        <p:nvSpPr>
          <p:cNvPr id="1454" name="Google Shape;1454;p79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On an input containing only 2s, the head eventually reaches a blank symbol and the machine rejects rather than looping.</a:t>
            </a:r>
            <a:endParaRPr/>
          </a:p>
        </p:txBody>
      </p:sp>
      <p:sp>
        <p:nvSpPr>
          <p:cNvPr id="1455" name="Google Shape;1455;p79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79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57" name="Google Shape;1457;p79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79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(d) is false</a:t>
            </a:r>
            <a:endParaRPr/>
          </a:p>
        </p:txBody>
      </p:sp>
      <p:sp>
        <p:nvSpPr>
          <p:cNvPr id="1459" name="Google Shape;1459;p79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⊥ is not in the input alphabet Σ, so a string containing ⊥ is not a legal input string.</a:t>
            </a:r>
            <a:endParaRPr/>
          </a:p>
        </p:txBody>
      </p:sp>
      <p:sp>
        <p:nvSpPr>
          <p:cNvPr id="1460" name="Google Shape;1460;p79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79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62" name="Google Shape;1462;p79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79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Final answer</a:t>
            </a:r>
            <a:endParaRPr/>
          </a:p>
        </p:txBody>
      </p:sp>
      <p:sp>
        <p:nvSpPr>
          <p:cNvPr id="1464" name="Google Shape;1464;p79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Only (b) is true.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8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1: what language does this TM decide?</a:t>
            </a:r>
            <a:endParaRPr/>
          </a:p>
        </p:txBody>
      </p:sp>
      <p:sp>
        <p:nvSpPr>
          <p:cNvPr id="1470" name="Google Shape;1470;p80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80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3.3.1</a:t>
            </a:r>
            <a:endParaRPr/>
          </a:p>
        </p:txBody>
      </p:sp>
      <p:sp>
        <p:nvSpPr>
          <p:cNvPr id="1472" name="Google Shape;1472;p8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80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474" name="Google Shape;1474;p80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1475" name="Google Shape;1475;p80"/>
          <p:cNvSpPr/>
          <p:nvPr/>
        </p:nvSpPr>
        <p:spPr>
          <a:xfrm>
            <a:off x="548640" y="914400"/>
            <a:ext cx="6583680" cy="3017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tm_p1.png" id="1476" name="Google Shape;147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40624"/>
            <a:ext cx="6583680" cy="2565070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80"/>
          <p:cNvSpPr/>
          <p:nvPr/>
        </p:nvSpPr>
        <p:spPr>
          <a:xfrm>
            <a:off x="7360920" y="1051560"/>
            <a:ext cx="4251960" cy="297180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80"/>
          <p:cNvSpPr txBox="1"/>
          <p:nvPr/>
        </p:nvSpPr>
        <p:spPr>
          <a:xfrm>
            <a:off x="7562088" y="1197863"/>
            <a:ext cx="3849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Choices</a:t>
            </a:r>
            <a:endParaRPr/>
          </a:p>
        </p:txBody>
      </p:sp>
      <p:sp>
        <p:nvSpPr>
          <p:cNvPr id="1479" name="Google Shape;1479;p80"/>
          <p:cNvSpPr txBox="1"/>
          <p:nvPr/>
        </p:nvSpPr>
        <p:spPr>
          <a:xfrm>
            <a:off x="7635240" y="1554480"/>
            <a:ext cx="3703320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(a) {01} ∪ {s : s starts with 1}</a:t>
            </a:r>
            <a:b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(b) {01}</a:t>
            </a:r>
            <a:b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(c) {s : s starts with 1}</a:t>
            </a:r>
            <a:b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(d) {ε,0,00}</a:t>
            </a:r>
            <a:b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(e) None of the above</a:t>
            </a:r>
            <a:endParaRPr/>
          </a:p>
        </p:txBody>
      </p:sp>
      <p:sp>
        <p:nvSpPr>
          <p:cNvPr id="1480" name="Google Shape;1480;p80"/>
          <p:cNvSpPr txBox="1"/>
          <p:nvPr/>
        </p:nvSpPr>
        <p:spPr>
          <a:xfrm>
            <a:off x="914400" y="470916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Remember: “decides” requires halting on every input.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8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1: check halting before identifying a language</a:t>
            </a:r>
            <a:endParaRPr/>
          </a:p>
        </p:txBody>
      </p:sp>
      <p:sp>
        <p:nvSpPr>
          <p:cNvPr id="1486" name="Google Shape;1486;p81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81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3.3.1</a:t>
            </a:r>
            <a:endParaRPr/>
          </a:p>
        </p:txBody>
      </p:sp>
      <p:sp>
        <p:nvSpPr>
          <p:cNvPr id="1488" name="Google Shape;1488;p8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81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490" name="Google Shape;1490;p81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endParaRPr/>
          </a:p>
        </p:txBody>
      </p:sp>
      <p:sp>
        <p:nvSpPr>
          <p:cNvPr id="1491" name="Google Shape;1491;p81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81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493" name="Google Shape;1493;p81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Try an input that starts with 1.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Does the head/state evolution eventually reach q_accept or q_reject, or can it repeat forever?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8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1: solution</a:t>
            </a:r>
            <a:endParaRPr/>
          </a:p>
        </p:txBody>
      </p:sp>
      <p:sp>
        <p:nvSpPr>
          <p:cNvPr id="1499" name="Google Shape;1499;p82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82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3.3.1</a:t>
            </a:r>
            <a:endParaRPr/>
          </a:p>
        </p:txBody>
      </p:sp>
      <p:sp>
        <p:nvSpPr>
          <p:cNvPr id="1501" name="Google Shape;1501;p8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82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503" name="Google Shape;1503;p82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82</a:t>
            </a:r>
            <a:endParaRPr/>
          </a:p>
        </p:txBody>
      </p:sp>
      <p:sp>
        <p:nvSpPr>
          <p:cNvPr id="1504" name="Google Shape;1504;p82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82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6" name="Google Shape;1506;p82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82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Key behavior</a:t>
            </a:r>
            <a:endParaRPr/>
          </a:p>
        </p:txBody>
      </p:sp>
      <p:sp>
        <p:nvSpPr>
          <p:cNvPr id="1508" name="Google Shape;1508;p82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machine fails to halt on inputs of the form 1(0|1)*.</a:t>
            </a:r>
            <a:endParaRPr/>
          </a:p>
        </p:txBody>
      </p:sp>
      <p:sp>
        <p:nvSpPr>
          <p:cNvPr id="1509" name="Google Shape;1509;p82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82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11" name="Google Shape;1511;p82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82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Decider requirement</a:t>
            </a:r>
            <a:endParaRPr/>
          </a:p>
        </p:txBody>
      </p:sp>
      <p:sp>
        <p:nvSpPr>
          <p:cNvPr id="1513" name="Google Shape;1513;p82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 TM decides a language only if it halts on every input.</a:t>
            </a:r>
            <a:endParaRPr/>
          </a:p>
        </p:txBody>
      </p:sp>
      <p:sp>
        <p:nvSpPr>
          <p:cNvPr id="1514" name="Google Shape;1514;p82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82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16" name="Google Shape;1516;p82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82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518" name="Google Shape;1518;p82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This TM does not decide any language. Therefore the correct choice is (e) None of the above.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8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2: finitely many written tape cells?</a:t>
            </a:r>
            <a:endParaRPr/>
          </a:p>
        </p:txBody>
      </p:sp>
      <p:sp>
        <p:nvSpPr>
          <p:cNvPr id="1524" name="Google Shape;1524;p83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83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3.3.2</a:t>
            </a:r>
            <a:endParaRPr/>
          </a:p>
        </p:txBody>
      </p:sp>
      <p:sp>
        <p:nvSpPr>
          <p:cNvPr id="1526" name="Google Shape;1526;p8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83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528" name="Google Shape;1528;p83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83</a:t>
            </a:r>
            <a:endParaRPr/>
          </a:p>
        </p:txBody>
      </p:sp>
      <p:sp>
        <p:nvSpPr>
          <p:cNvPr id="1529" name="Google Shape;1529;p83"/>
          <p:cNvSpPr/>
          <p:nvPr/>
        </p:nvSpPr>
        <p:spPr>
          <a:xfrm>
            <a:off x="1143000" y="1463040"/>
            <a:ext cx="9921240" cy="219456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83"/>
          <p:cNvSpPr txBox="1"/>
          <p:nvPr/>
        </p:nvSpPr>
        <p:spPr>
          <a:xfrm>
            <a:off x="1344168" y="1609344"/>
            <a:ext cx="9518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Every / Some / No</a:t>
            </a:r>
            <a:endParaRPr/>
          </a:p>
        </p:txBody>
      </p:sp>
      <p:sp>
        <p:nvSpPr>
          <p:cNvPr id="1531" name="Google Shape;1531;p83"/>
          <p:cNvSpPr txBox="1"/>
          <p:nvPr/>
        </p:nvSpPr>
        <p:spPr>
          <a:xfrm>
            <a:off x="1417320" y="1965960"/>
            <a:ext cx="937260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_____ Turing machine writes to only finitely many tape cells during its execution.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8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2: consider both halting and non-halting machines</a:t>
            </a:r>
            <a:endParaRPr/>
          </a:p>
        </p:txBody>
      </p:sp>
      <p:sp>
        <p:nvSpPr>
          <p:cNvPr id="1537" name="Google Shape;1537;p84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84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3.3.2</a:t>
            </a:r>
            <a:endParaRPr/>
          </a:p>
        </p:txBody>
      </p:sp>
      <p:sp>
        <p:nvSpPr>
          <p:cNvPr id="1539" name="Google Shape;1539;p8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84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541" name="Google Shape;1541;p84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endParaRPr/>
          </a:p>
        </p:txBody>
      </p:sp>
      <p:sp>
        <p:nvSpPr>
          <p:cNvPr id="1542" name="Google Shape;1542;p84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84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544" name="Google Shape;1544;p84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halting run has only finitely many transitions.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Can a non-halting machine keep moving right forever and write a new cell each step?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8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2: solution</a:t>
            </a:r>
            <a:endParaRPr/>
          </a:p>
        </p:txBody>
      </p:sp>
      <p:sp>
        <p:nvSpPr>
          <p:cNvPr id="1550" name="Google Shape;1550;p85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85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3.3.2</a:t>
            </a:r>
            <a:endParaRPr/>
          </a:p>
        </p:txBody>
      </p:sp>
      <p:sp>
        <p:nvSpPr>
          <p:cNvPr id="1552" name="Google Shape;1552;p8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85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554" name="Google Shape;1554;p85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/>
          </a:p>
        </p:txBody>
      </p:sp>
      <p:sp>
        <p:nvSpPr>
          <p:cNvPr id="1555" name="Google Shape;1555;p85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85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57" name="Google Shape;1557;p85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85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1559" name="Google Shape;1559;p85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SOME.</a:t>
            </a:r>
            <a:endParaRPr/>
          </a:p>
        </p:txBody>
      </p:sp>
      <p:sp>
        <p:nvSpPr>
          <p:cNvPr id="1560" name="Google Shape;1560;p85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85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62" name="Google Shape;1562;p85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85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Finitely many example</a:t>
            </a:r>
            <a:endParaRPr/>
          </a:p>
        </p:txBody>
      </p:sp>
      <p:sp>
        <p:nvSpPr>
          <p:cNvPr id="1564" name="Google Shape;1564;p85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Any halting computation executes finitely many steps, so it can write to only finitely many cells.</a:t>
            </a:r>
            <a:endParaRPr/>
          </a:p>
        </p:txBody>
      </p:sp>
      <p:sp>
        <p:nvSpPr>
          <p:cNvPr id="1565" name="Google Shape;1565;p85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85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67" name="Google Shape;1567;p85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85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Infinitely many example</a:t>
            </a:r>
            <a:endParaRPr/>
          </a:p>
        </p:txBody>
      </p:sp>
      <p:sp>
        <p:nvSpPr>
          <p:cNvPr id="1569" name="Google Shape;1569;p85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 machine can loop forever while moving right on blank cells, writing at each step, and therefore touch infinitely many tape cells.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8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3: deciders and tape usage</a:t>
            </a:r>
            <a:endParaRPr/>
          </a:p>
        </p:txBody>
      </p:sp>
      <p:sp>
        <p:nvSpPr>
          <p:cNvPr id="1575" name="Google Shape;1575;p86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86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3.3.3</a:t>
            </a:r>
            <a:endParaRPr/>
          </a:p>
        </p:txBody>
      </p:sp>
      <p:sp>
        <p:nvSpPr>
          <p:cNvPr id="1577" name="Google Shape;1577;p8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86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579" name="Google Shape;1579;p86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86</a:t>
            </a:r>
            <a:endParaRPr/>
          </a:p>
        </p:txBody>
      </p:sp>
      <p:sp>
        <p:nvSpPr>
          <p:cNvPr id="1580" name="Google Shape;1580;p86"/>
          <p:cNvSpPr/>
          <p:nvPr/>
        </p:nvSpPr>
        <p:spPr>
          <a:xfrm>
            <a:off x="1005840" y="1417320"/>
            <a:ext cx="10195560" cy="237744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86"/>
          <p:cNvSpPr txBox="1"/>
          <p:nvPr/>
        </p:nvSpPr>
        <p:spPr>
          <a:xfrm>
            <a:off x="1207008" y="1563624"/>
            <a:ext cx="9793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Every / Some / No</a:t>
            </a:r>
            <a:endParaRPr/>
          </a:p>
        </p:txBody>
      </p:sp>
      <p:sp>
        <p:nvSpPr>
          <p:cNvPr id="1582" name="Google Shape;1582;p86"/>
          <p:cNvSpPr txBox="1"/>
          <p:nvPr/>
        </p:nvSpPr>
        <p:spPr>
          <a:xfrm>
            <a:off x="1280160" y="1920240"/>
            <a:ext cx="964692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_____ Turing machine that decides a language writes to only finitely many tape cells during its execution.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8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3: use the halting requirement</a:t>
            </a:r>
            <a:endParaRPr/>
          </a:p>
        </p:txBody>
      </p:sp>
      <p:sp>
        <p:nvSpPr>
          <p:cNvPr id="1588" name="Google Shape;1588;p87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87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3.3.3</a:t>
            </a:r>
            <a:endParaRPr/>
          </a:p>
        </p:txBody>
      </p:sp>
      <p:sp>
        <p:nvSpPr>
          <p:cNvPr id="1590" name="Google Shape;1590;p8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87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592" name="Google Shape;1592;p87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  <a:endParaRPr/>
          </a:p>
        </p:txBody>
      </p:sp>
      <p:sp>
        <p:nvSpPr>
          <p:cNvPr id="1593" name="Google Shape;1593;p87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87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595" name="Google Shape;1595;p87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decider must halt on every input.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does a finite number of transitions imply about the number of tape cells written?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8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3: solution</a:t>
            </a:r>
            <a:endParaRPr/>
          </a:p>
        </p:txBody>
      </p:sp>
      <p:sp>
        <p:nvSpPr>
          <p:cNvPr id="1601" name="Google Shape;1601;p88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88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3.3.3</a:t>
            </a:r>
            <a:endParaRPr/>
          </a:p>
        </p:txBody>
      </p:sp>
      <p:sp>
        <p:nvSpPr>
          <p:cNvPr id="1603" name="Google Shape;1603;p8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88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605" name="Google Shape;1605;p88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  <a:endParaRPr/>
          </a:p>
        </p:txBody>
      </p:sp>
      <p:sp>
        <p:nvSpPr>
          <p:cNvPr id="1606" name="Google Shape;1606;p88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88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08" name="Google Shape;1608;p88"/>
          <p:cNvSpPr/>
          <p:nvPr/>
        </p:nvSpPr>
        <p:spPr>
          <a:xfrm>
            <a:off x="1170432" y="960120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88"/>
          <p:cNvSpPr txBox="1"/>
          <p:nvPr/>
        </p:nvSpPr>
        <p:spPr>
          <a:xfrm>
            <a:off x="1389888" y="1060704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1610" name="Google Shape;1610;p88"/>
          <p:cNvSpPr txBox="1"/>
          <p:nvPr/>
        </p:nvSpPr>
        <p:spPr>
          <a:xfrm>
            <a:off x="3246120" y="1051560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EVERY.</a:t>
            </a:r>
            <a:endParaRPr/>
          </a:p>
        </p:txBody>
      </p:sp>
      <p:sp>
        <p:nvSpPr>
          <p:cNvPr id="1611" name="Google Shape;1611;p88"/>
          <p:cNvSpPr/>
          <p:nvPr/>
        </p:nvSpPr>
        <p:spPr>
          <a:xfrm>
            <a:off x="749808" y="2944368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88"/>
          <p:cNvSpPr txBox="1"/>
          <p:nvPr/>
        </p:nvSpPr>
        <p:spPr>
          <a:xfrm>
            <a:off x="749808" y="296265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13" name="Google Shape;1613;p88"/>
          <p:cNvSpPr/>
          <p:nvPr/>
        </p:nvSpPr>
        <p:spPr>
          <a:xfrm>
            <a:off x="1170432" y="2852928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88"/>
          <p:cNvSpPr txBox="1"/>
          <p:nvPr/>
        </p:nvSpPr>
        <p:spPr>
          <a:xfrm>
            <a:off x="1389888" y="2953512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1615" name="Google Shape;1615;p88"/>
          <p:cNvSpPr txBox="1"/>
          <p:nvPr/>
        </p:nvSpPr>
        <p:spPr>
          <a:xfrm>
            <a:off x="3246120" y="2944368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On each input, a decider halts after finitely many steps.</a:t>
            </a:r>
            <a:endParaRPr/>
          </a:p>
        </p:txBody>
      </p:sp>
      <p:sp>
        <p:nvSpPr>
          <p:cNvPr id="1616" name="Google Shape;1616;p88"/>
          <p:cNvSpPr/>
          <p:nvPr/>
        </p:nvSpPr>
        <p:spPr>
          <a:xfrm>
            <a:off x="749808" y="4837175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88"/>
          <p:cNvSpPr txBox="1"/>
          <p:nvPr/>
        </p:nvSpPr>
        <p:spPr>
          <a:xfrm>
            <a:off x="749808" y="48554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18" name="Google Shape;1618;p88"/>
          <p:cNvSpPr/>
          <p:nvPr/>
        </p:nvSpPr>
        <p:spPr>
          <a:xfrm>
            <a:off x="1170432" y="4745736"/>
            <a:ext cx="10104120" cy="1746504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88"/>
          <p:cNvSpPr txBox="1"/>
          <p:nvPr/>
        </p:nvSpPr>
        <p:spPr>
          <a:xfrm>
            <a:off x="1389888" y="4846320"/>
            <a:ext cx="2103120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Tape consequence</a:t>
            </a:r>
            <a:endParaRPr/>
          </a:p>
        </p:txBody>
      </p:sp>
      <p:sp>
        <p:nvSpPr>
          <p:cNvPr id="1620" name="Google Shape;1620;p88"/>
          <p:cNvSpPr txBox="1"/>
          <p:nvPr/>
        </p:nvSpPr>
        <p:spPr>
          <a:xfrm>
            <a:off x="3246120" y="4837175"/>
            <a:ext cx="7726679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Each transition writes to at most the current tape cell, so finitely many transitions imply only finitely many written cells on that execution.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8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4: a unary TM</a:t>
            </a:r>
            <a:endParaRPr/>
          </a:p>
        </p:txBody>
      </p:sp>
      <p:sp>
        <p:nvSpPr>
          <p:cNvPr id="1626" name="Google Shape;1626;p89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89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3.3.4</a:t>
            </a:r>
            <a:endParaRPr/>
          </a:p>
        </p:txBody>
      </p:sp>
      <p:sp>
        <p:nvSpPr>
          <p:cNvPr id="1628" name="Google Shape;1628;p8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89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630" name="Google Shape;1630;p8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89</a:t>
            </a:r>
            <a:endParaRPr/>
          </a:p>
        </p:txBody>
      </p:sp>
      <p:sp>
        <p:nvSpPr>
          <p:cNvPr id="1631" name="Google Shape;1631;p89"/>
          <p:cNvSpPr/>
          <p:nvPr/>
        </p:nvSpPr>
        <p:spPr>
          <a:xfrm>
            <a:off x="685800" y="822960"/>
            <a:ext cx="5715000" cy="5440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_tm_p4.png" id="1632" name="Google Shape;1632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380" y="822960"/>
            <a:ext cx="5397840" cy="5440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89"/>
          <p:cNvSpPr/>
          <p:nvPr/>
        </p:nvSpPr>
        <p:spPr>
          <a:xfrm>
            <a:off x="6675120" y="1188720"/>
            <a:ext cx="4663440" cy="315468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89"/>
          <p:cNvSpPr txBox="1"/>
          <p:nvPr/>
        </p:nvSpPr>
        <p:spPr>
          <a:xfrm>
            <a:off x="6876288" y="1335024"/>
            <a:ext cx="426110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1635" name="Google Shape;1635;p89"/>
          <p:cNvSpPr txBox="1"/>
          <p:nvPr/>
        </p:nvSpPr>
        <p:spPr>
          <a:xfrm>
            <a:off x="6949440" y="1691640"/>
            <a:ext cx="41148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Input alphabet Σ={1}; tape alphabet Γ={1,#,⊥}.</a:t>
            </a:r>
            <a:b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language does this machine decide, if any?</a:t>
            </a:r>
            <a:b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Hint from worksheet: What strings does it not accept?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90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4: understand one full pass</a:t>
            </a:r>
            <a:endParaRPr/>
          </a:p>
        </p:txBody>
      </p:sp>
      <p:sp>
        <p:nvSpPr>
          <p:cNvPr id="1641" name="Google Shape;1641;p90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90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3.3.4</a:t>
            </a:r>
            <a:endParaRPr/>
          </a:p>
        </p:txBody>
      </p:sp>
      <p:sp>
        <p:nvSpPr>
          <p:cNvPr id="1643" name="Google Shape;1643;p90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90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645" name="Google Shape;1645;p90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sp>
        <p:nvSpPr>
          <p:cNvPr id="1646" name="Google Shape;1646;p90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90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648" name="Google Shape;1648;p90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On each left-to-right pass, the machine replaces every other remaining 1 by #.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happens to the number of 1s after each pass?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91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4: trace the example |x|=8</a:t>
            </a:r>
            <a:endParaRPr/>
          </a:p>
        </p:txBody>
      </p:sp>
      <p:sp>
        <p:nvSpPr>
          <p:cNvPr id="1654" name="Google Shape;1654;p91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91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3.3.4</a:t>
            </a:r>
            <a:endParaRPr/>
          </a:p>
        </p:txBody>
      </p:sp>
      <p:sp>
        <p:nvSpPr>
          <p:cNvPr id="1656" name="Google Shape;1656;p91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91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658" name="Google Shape;1658;p91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91</a:t>
            </a:r>
            <a:endParaRPr/>
          </a:p>
        </p:txBody>
      </p:sp>
      <p:sp>
        <p:nvSpPr>
          <p:cNvPr id="1659" name="Google Shape;1659;p91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805BA5"/>
          </a:solidFill>
          <a:ln cap="flat" cmpd="sng" w="9525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91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61" name="Google Shape;1661;p91"/>
          <p:cNvSpPr/>
          <p:nvPr/>
        </p:nvSpPr>
        <p:spPr>
          <a:xfrm>
            <a:off x="1170432" y="960120"/>
            <a:ext cx="10104120" cy="98938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91"/>
          <p:cNvSpPr txBox="1"/>
          <p:nvPr/>
        </p:nvSpPr>
        <p:spPr>
          <a:xfrm>
            <a:off x="1389888" y="1060704"/>
            <a:ext cx="2103120" cy="8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1663" name="Google Shape;1663;p91"/>
          <p:cNvSpPr txBox="1"/>
          <p:nvPr/>
        </p:nvSpPr>
        <p:spPr>
          <a:xfrm>
            <a:off x="3246120" y="1051560"/>
            <a:ext cx="7726679" cy="8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Input 11111111 (8 ones).</a:t>
            </a:r>
            <a:endParaRPr/>
          </a:p>
        </p:txBody>
      </p:sp>
      <p:sp>
        <p:nvSpPr>
          <p:cNvPr id="1664" name="Google Shape;1664;p91"/>
          <p:cNvSpPr/>
          <p:nvPr/>
        </p:nvSpPr>
        <p:spPr>
          <a:xfrm>
            <a:off x="749808" y="2187244"/>
            <a:ext cx="292608" cy="292608"/>
          </a:xfrm>
          <a:prstGeom prst="ellipse">
            <a:avLst/>
          </a:prstGeom>
          <a:solidFill>
            <a:srgbClr val="805BA5"/>
          </a:solidFill>
          <a:ln cap="flat" cmpd="sng" w="9525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91"/>
          <p:cNvSpPr txBox="1"/>
          <p:nvPr/>
        </p:nvSpPr>
        <p:spPr>
          <a:xfrm>
            <a:off x="749808" y="2205532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66" name="Google Shape;1666;p91"/>
          <p:cNvSpPr/>
          <p:nvPr/>
        </p:nvSpPr>
        <p:spPr>
          <a:xfrm>
            <a:off x="1170432" y="2095804"/>
            <a:ext cx="10104120" cy="98938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91"/>
          <p:cNvSpPr txBox="1"/>
          <p:nvPr/>
        </p:nvSpPr>
        <p:spPr>
          <a:xfrm>
            <a:off x="1389888" y="2196388"/>
            <a:ext cx="2103120" cy="8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Pass 1</a:t>
            </a:r>
            <a:endParaRPr/>
          </a:p>
        </p:txBody>
      </p:sp>
      <p:sp>
        <p:nvSpPr>
          <p:cNvPr id="1668" name="Google Shape;1668;p91"/>
          <p:cNvSpPr txBox="1"/>
          <p:nvPr/>
        </p:nvSpPr>
        <p:spPr>
          <a:xfrm>
            <a:off x="3246120" y="2187244"/>
            <a:ext cx="7726679" cy="8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Replace every other 1 by #: the tape has 4 remaining 1s.</a:t>
            </a:r>
            <a:endParaRPr/>
          </a:p>
        </p:txBody>
      </p:sp>
      <p:sp>
        <p:nvSpPr>
          <p:cNvPr id="1669" name="Google Shape;1669;p91"/>
          <p:cNvSpPr/>
          <p:nvPr/>
        </p:nvSpPr>
        <p:spPr>
          <a:xfrm>
            <a:off x="749808" y="3322929"/>
            <a:ext cx="292608" cy="292608"/>
          </a:xfrm>
          <a:prstGeom prst="ellipse">
            <a:avLst/>
          </a:prstGeom>
          <a:solidFill>
            <a:srgbClr val="805BA5"/>
          </a:solidFill>
          <a:ln cap="flat" cmpd="sng" w="9525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91"/>
          <p:cNvSpPr txBox="1"/>
          <p:nvPr/>
        </p:nvSpPr>
        <p:spPr>
          <a:xfrm>
            <a:off x="749808" y="3341217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71" name="Google Shape;1671;p91"/>
          <p:cNvSpPr/>
          <p:nvPr/>
        </p:nvSpPr>
        <p:spPr>
          <a:xfrm>
            <a:off x="1170432" y="3231489"/>
            <a:ext cx="10104120" cy="98938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91"/>
          <p:cNvSpPr txBox="1"/>
          <p:nvPr/>
        </p:nvSpPr>
        <p:spPr>
          <a:xfrm>
            <a:off x="1389888" y="3332073"/>
            <a:ext cx="2103120" cy="8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Pass 2</a:t>
            </a:r>
            <a:endParaRPr/>
          </a:p>
        </p:txBody>
      </p:sp>
      <p:sp>
        <p:nvSpPr>
          <p:cNvPr id="1673" name="Google Shape;1673;p91"/>
          <p:cNvSpPr txBox="1"/>
          <p:nvPr/>
        </p:nvSpPr>
        <p:spPr>
          <a:xfrm>
            <a:off x="3246120" y="3322929"/>
            <a:ext cx="7726679" cy="8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Repeat: 4 remaining 1s become 2.</a:t>
            </a:r>
            <a:endParaRPr/>
          </a:p>
        </p:txBody>
      </p:sp>
      <p:sp>
        <p:nvSpPr>
          <p:cNvPr id="1674" name="Google Shape;1674;p91"/>
          <p:cNvSpPr/>
          <p:nvPr/>
        </p:nvSpPr>
        <p:spPr>
          <a:xfrm>
            <a:off x="749808" y="4458614"/>
            <a:ext cx="292608" cy="292608"/>
          </a:xfrm>
          <a:prstGeom prst="ellipse">
            <a:avLst/>
          </a:prstGeom>
          <a:solidFill>
            <a:srgbClr val="805BA5"/>
          </a:solidFill>
          <a:ln cap="flat" cmpd="sng" w="9525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91"/>
          <p:cNvSpPr txBox="1"/>
          <p:nvPr/>
        </p:nvSpPr>
        <p:spPr>
          <a:xfrm>
            <a:off x="749808" y="4476902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76" name="Google Shape;1676;p91"/>
          <p:cNvSpPr/>
          <p:nvPr/>
        </p:nvSpPr>
        <p:spPr>
          <a:xfrm>
            <a:off x="1170432" y="4367174"/>
            <a:ext cx="10104120" cy="98938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91"/>
          <p:cNvSpPr txBox="1"/>
          <p:nvPr/>
        </p:nvSpPr>
        <p:spPr>
          <a:xfrm>
            <a:off x="1389888" y="4467758"/>
            <a:ext cx="2103120" cy="8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Pass 3</a:t>
            </a:r>
            <a:endParaRPr/>
          </a:p>
        </p:txBody>
      </p:sp>
      <p:sp>
        <p:nvSpPr>
          <p:cNvPr id="1678" name="Google Shape;1678;p91"/>
          <p:cNvSpPr txBox="1"/>
          <p:nvPr/>
        </p:nvSpPr>
        <p:spPr>
          <a:xfrm>
            <a:off x="3246120" y="4458614"/>
            <a:ext cx="7726679" cy="8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Repeat: 2 remaining 1s become 1.</a:t>
            </a:r>
            <a:endParaRPr/>
          </a:p>
        </p:txBody>
      </p:sp>
      <p:sp>
        <p:nvSpPr>
          <p:cNvPr id="1679" name="Google Shape;1679;p91"/>
          <p:cNvSpPr/>
          <p:nvPr/>
        </p:nvSpPr>
        <p:spPr>
          <a:xfrm>
            <a:off x="749808" y="5594299"/>
            <a:ext cx="292608" cy="292608"/>
          </a:xfrm>
          <a:prstGeom prst="ellipse">
            <a:avLst/>
          </a:prstGeom>
          <a:solidFill>
            <a:srgbClr val="805BA5"/>
          </a:solidFill>
          <a:ln cap="flat" cmpd="sng" w="9525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91"/>
          <p:cNvSpPr txBox="1"/>
          <p:nvPr/>
        </p:nvSpPr>
        <p:spPr>
          <a:xfrm>
            <a:off x="749808" y="5612587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681" name="Google Shape;1681;p91"/>
          <p:cNvSpPr/>
          <p:nvPr/>
        </p:nvSpPr>
        <p:spPr>
          <a:xfrm>
            <a:off x="1170432" y="5502859"/>
            <a:ext cx="10104120" cy="98938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91"/>
          <p:cNvSpPr txBox="1"/>
          <p:nvPr/>
        </p:nvSpPr>
        <p:spPr>
          <a:xfrm>
            <a:off x="1389888" y="5603443"/>
            <a:ext cx="2103120" cy="8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Final behavior</a:t>
            </a:r>
            <a:endParaRPr/>
          </a:p>
        </p:txBody>
      </p:sp>
      <p:sp>
        <p:nvSpPr>
          <p:cNvPr id="1683" name="Google Shape;1683;p91"/>
          <p:cNvSpPr txBox="1"/>
          <p:nvPr/>
        </p:nvSpPr>
        <p:spPr>
          <a:xfrm>
            <a:off x="3246120" y="5594299"/>
            <a:ext cx="7726679" cy="82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machine reaches the reject behavior for a power-of-two number of 1s.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92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3.3 Problem 4: generalize</a:t>
            </a:r>
            <a:endParaRPr/>
          </a:p>
        </p:txBody>
      </p:sp>
      <p:sp>
        <p:nvSpPr>
          <p:cNvPr id="1689" name="Google Shape;1689;p92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92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3.3.4</a:t>
            </a:r>
            <a:endParaRPr/>
          </a:p>
        </p:txBody>
      </p:sp>
      <p:sp>
        <p:nvSpPr>
          <p:cNvPr id="1691" name="Google Shape;1691;p92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92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693" name="Google Shape;1693;p92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92</a:t>
            </a:r>
            <a:endParaRPr/>
          </a:p>
        </p:txBody>
      </p:sp>
      <p:sp>
        <p:nvSpPr>
          <p:cNvPr id="1694" name="Google Shape;1694;p92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92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96" name="Google Shape;1696;p92"/>
          <p:cNvSpPr/>
          <p:nvPr/>
        </p:nvSpPr>
        <p:spPr>
          <a:xfrm>
            <a:off x="1170432" y="960120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92"/>
          <p:cNvSpPr txBox="1"/>
          <p:nvPr/>
        </p:nvSpPr>
        <p:spPr>
          <a:xfrm>
            <a:off x="1389888" y="1060704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Each pass</a:t>
            </a:r>
            <a:endParaRPr/>
          </a:p>
        </p:txBody>
      </p:sp>
      <p:sp>
        <p:nvSpPr>
          <p:cNvPr id="1698" name="Google Shape;1698;p92"/>
          <p:cNvSpPr txBox="1"/>
          <p:nvPr/>
        </p:nvSpPr>
        <p:spPr>
          <a:xfrm>
            <a:off x="3246120" y="1051560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Halves the number of surviving 1s when that count is even.</a:t>
            </a:r>
            <a:endParaRPr/>
          </a:p>
        </p:txBody>
      </p:sp>
      <p:sp>
        <p:nvSpPr>
          <p:cNvPr id="1699" name="Google Shape;1699;p92"/>
          <p:cNvSpPr/>
          <p:nvPr/>
        </p:nvSpPr>
        <p:spPr>
          <a:xfrm>
            <a:off x="749808" y="2471166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92"/>
          <p:cNvSpPr txBox="1"/>
          <p:nvPr/>
        </p:nvSpPr>
        <p:spPr>
          <a:xfrm>
            <a:off x="749808" y="248945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01" name="Google Shape;1701;p92"/>
          <p:cNvSpPr/>
          <p:nvPr/>
        </p:nvSpPr>
        <p:spPr>
          <a:xfrm>
            <a:off x="1170432" y="2379726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92"/>
          <p:cNvSpPr txBox="1"/>
          <p:nvPr/>
        </p:nvSpPr>
        <p:spPr>
          <a:xfrm>
            <a:off x="1389888" y="2480310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Odd count &gt; 1</a:t>
            </a:r>
            <a:endParaRPr/>
          </a:p>
        </p:txBody>
      </p:sp>
      <p:sp>
        <p:nvSpPr>
          <p:cNvPr id="1703" name="Google Shape;1703;p92"/>
          <p:cNvSpPr txBox="1"/>
          <p:nvPr/>
        </p:nvSpPr>
        <p:spPr>
          <a:xfrm>
            <a:off x="3246120" y="2471166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machine accepts when a pass encounters an odd number of 1s greater than one.</a:t>
            </a:r>
            <a:endParaRPr/>
          </a:p>
        </p:txBody>
      </p:sp>
      <p:sp>
        <p:nvSpPr>
          <p:cNvPr id="1704" name="Google Shape;1704;p92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92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06" name="Google Shape;1706;p92"/>
          <p:cNvSpPr/>
          <p:nvPr/>
        </p:nvSpPr>
        <p:spPr>
          <a:xfrm>
            <a:off x="1170432" y="3799332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92"/>
          <p:cNvSpPr txBox="1"/>
          <p:nvPr/>
        </p:nvSpPr>
        <p:spPr>
          <a:xfrm>
            <a:off x="1389888" y="3899916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Exactly powers of two</a:t>
            </a:r>
            <a:endParaRPr/>
          </a:p>
        </p:txBody>
      </p:sp>
      <p:sp>
        <p:nvSpPr>
          <p:cNvPr id="1708" name="Google Shape;1708;p92"/>
          <p:cNvSpPr txBox="1"/>
          <p:nvPr/>
        </p:nvSpPr>
        <p:spPr>
          <a:xfrm>
            <a:off x="3246120" y="3890772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Only lengths 1,2,4,8,… stay even on every halving step until one 1 remains, so those are rejected.</a:t>
            </a:r>
            <a:endParaRPr/>
          </a:p>
        </p:txBody>
      </p:sp>
      <p:sp>
        <p:nvSpPr>
          <p:cNvPr id="1709" name="Google Shape;1709;p92"/>
          <p:cNvSpPr/>
          <p:nvPr/>
        </p:nvSpPr>
        <p:spPr>
          <a:xfrm>
            <a:off x="749808" y="5310377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92"/>
          <p:cNvSpPr txBox="1"/>
          <p:nvPr/>
        </p:nvSpPr>
        <p:spPr>
          <a:xfrm>
            <a:off x="749808" y="532866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11" name="Google Shape;1711;p92"/>
          <p:cNvSpPr/>
          <p:nvPr/>
        </p:nvSpPr>
        <p:spPr>
          <a:xfrm>
            <a:off x="1170432" y="5218938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92"/>
          <p:cNvSpPr txBox="1"/>
          <p:nvPr/>
        </p:nvSpPr>
        <p:spPr>
          <a:xfrm>
            <a:off x="1389888" y="5319522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1713" name="Google Shape;1713;p92"/>
          <p:cNvSpPr txBox="1"/>
          <p:nvPr/>
        </p:nvSpPr>
        <p:spPr>
          <a:xfrm>
            <a:off x="3246120" y="5310377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machine accepts all unary strings whose length is not 2^n for n ∈ N₀.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93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3.4 Problem 1: add ε to a decidable language</a:t>
            </a:r>
            <a:endParaRPr/>
          </a:p>
        </p:txBody>
      </p:sp>
      <p:sp>
        <p:nvSpPr>
          <p:cNvPr id="1719" name="Google Shape;1719;p93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93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3.4.1</a:t>
            </a:r>
            <a:endParaRPr/>
          </a:p>
        </p:txBody>
      </p:sp>
      <p:sp>
        <p:nvSpPr>
          <p:cNvPr id="1721" name="Google Shape;1721;p93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93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723" name="Google Shape;1723;p93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/>
          </a:p>
        </p:txBody>
      </p:sp>
      <p:sp>
        <p:nvSpPr>
          <p:cNvPr id="1724" name="Google Shape;1724;p93"/>
          <p:cNvSpPr/>
          <p:nvPr/>
        </p:nvSpPr>
        <p:spPr>
          <a:xfrm>
            <a:off x="960120" y="1417320"/>
            <a:ext cx="10195560" cy="2057400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90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93"/>
          <p:cNvSpPr txBox="1"/>
          <p:nvPr/>
        </p:nvSpPr>
        <p:spPr>
          <a:xfrm>
            <a:off x="1161288" y="1563624"/>
            <a:ext cx="9793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Claim</a:t>
            </a:r>
            <a:endParaRPr/>
          </a:p>
        </p:txBody>
      </p:sp>
      <p:sp>
        <p:nvSpPr>
          <p:cNvPr id="1726" name="Google Shape;1726;p93"/>
          <p:cNvSpPr txBox="1"/>
          <p:nvPr/>
        </p:nvSpPr>
        <p:spPr>
          <a:xfrm>
            <a:off x="1234440" y="1920240"/>
            <a:ext cx="964692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For any decidable language L, the language L′ = L ∪ {ε} is decidable.</a:t>
            </a:r>
            <a:endParaRPr/>
          </a:p>
        </p:txBody>
      </p:sp>
      <p:sp>
        <p:nvSpPr>
          <p:cNvPr id="1727" name="Google Shape;1727;p93"/>
          <p:cNvSpPr txBox="1"/>
          <p:nvPr/>
        </p:nvSpPr>
        <p:spPr>
          <a:xfrm>
            <a:off x="3337560" y="4023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Show the statement is true.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94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3.4 Problem 1: handle ε explicitly</a:t>
            </a:r>
            <a:endParaRPr/>
          </a:p>
        </p:txBody>
      </p:sp>
      <p:sp>
        <p:nvSpPr>
          <p:cNvPr id="1733" name="Google Shape;1733;p94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94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3.4.1</a:t>
            </a:r>
            <a:endParaRPr/>
          </a:p>
        </p:txBody>
      </p:sp>
      <p:sp>
        <p:nvSpPr>
          <p:cNvPr id="1735" name="Google Shape;1735;p94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94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737" name="Google Shape;1737;p94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94</a:t>
            </a:r>
            <a:endParaRPr/>
          </a:p>
        </p:txBody>
      </p:sp>
      <p:sp>
        <p:nvSpPr>
          <p:cNvPr id="1738" name="Google Shape;1738;p94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94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740" name="Google Shape;1740;p94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Let D_L decide L.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Before running D_L, can a new machine first check whether the input is exactly ε?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95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3.4 Problem 1: construct the decider</a:t>
            </a:r>
            <a:endParaRPr/>
          </a:p>
        </p:txBody>
      </p:sp>
      <p:sp>
        <p:nvSpPr>
          <p:cNvPr id="1746" name="Google Shape;1746;p95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95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3.4.1</a:t>
            </a:r>
            <a:endParaRPr/>
          </a:p>
        </p:txBody>
      </p:sp>
      <p:sp>
        <p:nvSpPr>
          <p:cNvPr id="1748" name="Google Shape;1748;p95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95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750" name="Google Shape;1750;p95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/>
          </a:p>
        </p:txBody>
      </p:sp>
      <p:sp>
        <p:nvSpPr>
          <p:cNvPr id="1751" name="Google Shape;1751;p95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95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53" name="Google Shape;1753;p95"/>
          <p:cNvSpPr/>
          <p:nvPr/>
        </p:nvSpPr>
        <p:spPr>
          <a:xfrm>
            <a:off x="1170432" y="960120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95"/>
          <p:cNvSpPr txBox="1"/>
          <p:nvPr/>
        </p:nvSpPr>
        <p:spPr>
          <a:xfrm>
            <a:off x="1389888" y="1060704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Input x</a:t>
            </a:r>
            <a:endParaRPr/>
          </a:p>
        </p:txBody>
      </p:sp>
      <p:sp>
        <p:nvSpPr>
          <p:cNvPr id="1755" name="Google Shape;1755;p95"/>
          <p:cNvSpPr txBox="1"/>
          <p:nvPr/>
        </p:nvSpPr>
        <p:spPr>
          <a:xfrm>
            <a:off x="3246120" y="1051560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x = ε, accept immediately.</a:t>
            </a:r>
            <a:endParaRPr/>
          </a:p>
        </p:txBody>
      </p:sp>
      <p:sp>
        <p:nvSpPr>
          <p:cNvPr id="1756" name="Google Shape;1756;p95"/>
          <p:cNvSpPr/>
          <p:nvPr/>
        </p:nvSpPr>
        <p:spPr>
          <a:xfrm>
            <a:off x="749808" y="2471166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95"/>
          <p:cNvSpPr txBox="1"/>
          <p:nvPr/>
        </p:nvSpPr>
        <p:spPr>
          <a:xfrm>
            <a:off x="749808" y="248945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58" name="Google Shape;1758;p95"/>
          <p:cNvSpPr/>
          <p:nvPr/>
        </p:nvSpPr>
        <p:spPr>
          <a:xfrm>
            <a:off x="1170432" y="2379726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95"/>
          <p:cNvSpPr txBox="1"/>
          <p:nvPr/>
        </p:nvSpPr>
        <p:spPr>
          <a:xfrm>
            <a:off x="1389888" y="2480310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Otherwise</a:t>
            </a:r>
            <a:endParaRPr/>
          </a:p>
        </p:txBody>
      </p:sp>
      <p:sp>
        <p:nvSpPr>
          <p:cNvPr id="1760" name="Google Shape;1760;p95"/>
          <p:cNvSpPr txBox="1"/>
          <p:nvPr/>
        </p:nvSpPr>
        <p:spPr>
          <a:xfrm>
            <a:off x="3246120" y="2471166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Run the decider D_L(x). Accept if D_L accepts; otherwise reject.</a:t>
            </a:r>
            <a:endParaRPr/>
          </a:p>
        </p:txBody>
      </p:sp>
      <p:sp>
        <p:nvSpPr>
          <p:cNvPr id="1761" name="Google Shape;1761;p95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95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63" name="Google Shape;1763;p95"/>
          <p:cNvSpPr/>
          <p:nvPr/>
        </p:nvSpPr>
        <p:spPr>
          <a:xfrm>
            <a:off x="1170432" y="3799332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95"/>
          <p:cNvSpPr txBox="1"/>
          <p:nvPr/>
        </p:nvSpPr>
        <p:spPr>
          <a:xfrm>
            <a:off x="1389888" y="3899916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Halting</a:t>
            </a:r>
            <a:endParaRPr/>
          </a:p>
        </p:txBody>
      </p:sp>
      <p:sp>
        <p:nvSpPr>
          <p:cNvPr id="1765" name="Google Shape;1765;p95"/>
          <p:cNvSpPr txBox="1"/>
          <p:nvPr/>
        </p:nvSpPr>
        <p:spPr>
          <a:xfrm>
            <a:off x="3246120" y="3890772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extra ε check halts immediately, and D_L halts on all inputs because L is decidable.</a:t>
            </a:r>
            <a:endParaRPr/>
          </a:p>
        </p:txBody>
      </p:sp>
      <p:sp>
        <p:nvSpPr>
          <p:cNvPr id="1766" name="Google Shape;1766;p95"/>
          <p:cNvSpPr/>
          <p:nvPr/>
        </p:nvSpPr>
        <p:spPr>
          <a:xfrm>
            <a:off x="749808" y="5310377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95"/>
          <p:cNvSpPr txBox="1"/>
          <p:nvPr/>
        </p:nvSpPr>
        <p:spPr>
          <a:xfrm>
            <a:off x="749808" y="532866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68" name="Google Shape;1768;p95"/>
          <p:cNvSpPr/>
          <p:nvPr/>
        </p:nvSpPr>
        <p:spPr>
          <a:xfrm>
            <a:off x="1170432" y="5218938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95"/>
          <p:cNvSpPr txBox="1"/>
          <p:nvPr/>
        </p:nvSpPr>
        <p:spPr>
          <a:xfrm>
            <a:off x="1389888" y="5319522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Correctness</a:t>
            </a:r>
            <a:endParaRPr/>
          </a:p>
        </p:txBody>
      </p:sp>
      <p:sp>
        <p:nvSpPr>
          <p:cNvPr id="1770" name="Google Shape;1770;p95"/>
          <p:cNvSpPr txBox="1"/>
          <p:nvPr/>
        </p:nvSpPr>
        <p:spPr>
          <a:xfrm>
            <a:off x="3246120" y="5310377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new machine accepts exactly ε together with all strings in L, i.e. L ∪ {ε}.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96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3.4 Problem 2: set difference</a:t>
            </a:r>
            <a:endParaRPr/>
          </a:p>
        </p:txBody>
      </p:sp>
      <p:sp>
        <p:nvSpPr>
          <p:cNvPr id="1776" name="Google Shape;1776;p96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96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3.4.2</a:t>
            </a:r>
            <a:endParaRPr/>
          </a:p>
        </p:txBody>
      </p:sp>
      <p:sp>
        <p:nvSpPr>
          <p:cNvPr id="1778" name="Google Shape;1778;p96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96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780" name="Google Shape;1780;p96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  <a:endParaRPr/>
          </a:p>
        </p:txBody>
      </p:sp>
      <p:sp>
        <p:nvSpPr>
          <p:cNvPr id="1781" name="Google Shape;1781;p96"/>
          <p:cNvSpPr/>
          <p:nvPr/>
        </p:nvSpPr>
        <p:spPr>
          <a:xfrm>
            <a:off x="1463040" y="1234440"/>
            <a:ext cx="9281160" cy="1188720"/>
          </a:xfrm>
          <a:prstGeom prst="roundRect">
            <a:avLst>
              <a:gd fmla="val 16667" name="adj"/>
            </a:avLst>
          </a:prstGeom>
          <a:solidFill>
            <a:srgbClr val="F6F1FA"/>
          </a:solidFill>
          <a:ln cap="flat" cmpd="sng" w="190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96"/>
          <p:cNvSpPr txBox="1"/>
          <p:nvPr/>
        </p:nvSpPr>
        <p:spPr>
          <a:xfrm>
            <a:off x="1664208" y="1380744"/>
            <a:ext cx="88788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/>
          </a:p>
        </p:txBody>
      </p:sp>
      <p:sp>
        <p:nvSpPr>
          <p:cNvPr id="1783" name="Google Shape;1783;p96"/>
          <p:cNvSpPr txBox="1"/>
          <p:nvPr/>
        </p:nvSpPr>
        <p:spPr>
          <a:xfrm>
            <a:off x="1737360" y="1737360"/>
            <a:ext cx="8732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 \ T = { s ∈ S : s ∉ T }</a:t>
            </a:r>
            <a:endParaRPr/>
          </a:p>
        </p:txBody>
      </p:sp>
      <p:sp>
        <p:nvSpPr>
          <p:cNvPr id="1784" name="Google Shape;1784;p96"/>
          <p:cNvSpPr/>
          <p:nvPr/>
        </p:nvSpPr>
        <p:spPr>
          <a:xfrm>
            <a:off x="1051560" y="2971800"/>
            <a:ext cx="10104120" cy="164592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90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96"/>
          <p:cNvSpPr txBox="1"/>
          <p:nvPr/>
        </p:nvSpPr>
        <p:spPr>
          <a:xfrm>
            <a:off x="1252728" y="3118104"/>
            <a:ext cx="9701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1786" name="Google Shape;1786;p96"/>
          <p:cNvSpPr txBox="1"/>
          <p:nvPr/>
        </p:nvSpPr>
        <p:spPr>
          <a:xfrm>
            <a:off x="1325880" y="3474720"/>
            <a:ext cx="95554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If S and T are both decidable, S \ T is (always / sometimes / never) decidable.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97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3.4 Problem 2: two deciders, one Boolean condition</a:t>
            </a:r>
            <a:endParaRPr/>
          </a:p>
        </p:txBody>
      </p:sp>
      <p:sp>
        <p:nvSpPr>
          <p:cNvPr id="1792" name="Google Shape;1792;p97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97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3.4.2</a:t>
            </a:r>
            <a:endParaRPr/>
          </a:p>
        </p:txBody>
      </p:sp>
      <p:sp>
        <p:nvSpPr>
          <p:cNvPr id="1794" name="Google Shape;1794;p97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97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796" name="Google Shape;1796;p97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97</a:t>
            </a:r>
            <a:endParaRPr/>
          </a:p>
        </p:txBody>
      </p:sp>
      <p:sp>
        <p:nvSpPr>
          <p:cNvPr id="1797" name="Google Shape;1797;p97"/>
          <p:cNvSpPr/>
          <p:nvPr/>
        </p:nvSpPr>
        <p:spPr>
          <a:xfrm>
            <a:off x="1280160" y="1920240"/>
            <a:ext cx="96469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1575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97"/>
          <p:cNvSpPr txBox="1"/>
          <p:nvPr/>
        </p:nvSpPr>
        <p:spPr>
          <a:xfrm>
            <a:off x="1600200" y="2167128"/>
            <a:ext cx="9006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1799" name="Google Shape;1799;p97"/>
          <p:cNvSpPr txBox="1"/>
          <p:nvPr/>
        </p:nvSpPr>
        <p:spPr>
          <a:xfrm>
            <a:off x="1920239" y="2788920"/>
            <a:ext cx="8366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Run D_S(x) and D_T(x).</a:t>
            </a:r>
            <a:b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Which combination of answers means “x ∈ S but x ∉ T”?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98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3.4 Problem 2: solution</a:t>
            </a:r>
            <a:endParaRPr/>
          </a:p>
        </p:txBody>
      </p:sp>
      <p:sp>
        <p:nvSpPr>
          <p:cNvPr id="1805" name="Google Shape;1805;p98"/>
          <p:cNvSpPr/>
          <p:nvPr/>
        </p:nvSpPr>
        <p:spPr>
          <a:xfrm>
            <a:off x="9850831" y="137160"/>
            <a:ext cx="183794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98"/>
          <p:cNvSpPr txBox="1"/>
          <p:nvPr/>
        </p:nvSpPr>
        <p:spPr>
          <a:xfrm>
            <a:off x="9896551" y="164592"/>
            <a:ext cx="17465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ADDITIONAL 3.4.2</a:t>
            </a:r>
            <a:endParaRPr/>
          </a:p>
        </p:txBody>
      </p:sp>
      <p:sp>
        <p:nvSpPr>
          <p:cNvPr id="1807" name="Google Shape;1807;p98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98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809" name="Google Shape;1809;p98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  <a:endParaRPr/>
          </a:p>
        </p:txBody>
      </p:sp>
      <p:sp>
        <p:nvSpPr>
          <p:cNvPr id="1810" name="Google Shape;1810;p98"/>
          <p:cNvSpPr/>
          <p:nvPr/>
        </p:nvSpPr>
        <p:spPr>
          <a:xfrm>
            <a:off x="749808" y="1051560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98"/>
          <p:cNvSpPr txBox="1"/>
          <p:nvPr/>
        </p:nvSpPr>
        <p:spPr>
          <a:xfrm>
            <a:off x="749808" y="1069848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12" name="Google Shape;1812;p98"/>
          <p:cNvSpPr/>
          <p:nvPr/>
        </p:nvSpPr>
        <p:spPr>
          <a:xfrm>
            <a:off x="1170432" y="960120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98"/>
          <p:cNvSpPr txBox="1"/>
          <p:nvPr/>
        </p:nvSpPr>
        <p:spPr>
          <a:xfrm>
            <a:off x="1389888" y="1060704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1814" name="Google Shape;1814;p98"/>
          <p:cNvSpPr txBox="1"/>
          <p:nvPr/>
        </p:nvSpPr>
        <p:spPr>
          <a:xfrm>
            <a:off x="3246120" y="1051560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ALWAYS.</a:t>
            </a:r>
            <a:endParaRPr/>
          </a:p>
        </p:txBody>
      </p:sp>
      <p:sp>
        <p:nvSpPr>
          <p:cNvPr id="1815" name="Google Shape;1815;p98"/>
          <p:cNvSpPr/>
          <p:nvPr/>
        </p:nvSpPr>
        <p:spPr>
          <a:xfrm>
            <a:off x="749808" y="2471166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98"/>
          <p:cNvSpPr txBox="1"/>
          <p:nvPr/>
        </p:nvSpPr>
        <p:spPr>
          <a:xfrm>
            <a:off x="749808" y="248945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17" name="Google Shape;1817;p98"/>
          <p:cNvSpPr/>
          <p:nvPr/>
        </p:nvSpPr>
        <p:spPr>
          <a:xfrm>
            <a:off x="1170432" y="2379726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98"/>
          <p:cNvSpPr txBox="1"/>
          <p:nvPr/>
        </p:nvSpPr>
        <p:spPr>
          <a:xfrm>
            <a:off x="1389888" y="2480310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Run both deciders</a:t>
            </a:r>
            <a:endParaRPr/>
          </a:p>
        </p:txBody>
      </p:sp>
      <p:sp>
        <p:nvSpPr>
          <p:cNvPr id="1819" name="Google Shape;1819;p98"/>
          <p:cNvSpPr txBox="1"/>
          <p:nvPr/>
        </p:nvSpPr>
        <p:spPr>
          <a:xfrm>
            <a:off x="3246120" y="2471166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Because S and T are decidable, D_S and D_T halt on every input.</a:t>
            </a:r>
            <a:endParaRPr/>
          </a:p>
        </p:txBody>
      </p:sp>
      <p:sp>
        <p:nvSpPr>
          <p:cNvPr id="1820" name="Google Shape;1820;p98"/>
          <p:cNvSpPr/>
          <p:nvPr/>
        </p:nvSpPr>
        <p:spPr>
          <a:xfrm>
            <a:off x="749808" y="3890772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98"/>
          <p:cNvSpPr txBox="1"/>
          <p:nvPr/>
        </p:nvSpPr>
        <p:spPr>
          <a:xfrm>
            <a:off x="749808" y="3909060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22" name="Google Shape;1822;p98"/>
          <p:cNvSpPr/>
          <p:nvPr/>
        </p:nvSpPr>
        <p:spPr>
          <a:xfrm>
            <a:off x="1170432" y="3799332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98"/>
          <p:cNvSpPr txBox="1"/>
          <p:nvPr/>
        </p:nvSpPr>
        <p:spPr>
          <a:xfrm>
            <a:off x="1389888" y="3899916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Accept exactly when</a:t>
            </a:r>
            <a:endParaRPr/>
          </a:p>
        </p:txBody>
      </p:sp>
      <p:sp>
        <p:nvSpPr>
          <p:cNvPr id="1824" name="Google Shape;1824;p98"/>
          <p:cNvSpPr txBox="1"/>
          <p:nvPr/>
        </p:nvSpPr>
        <p:spPr>
          <a:xfrm>
            <a:off x="3246120" y="3890772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D_S(x) accepts AND D_T(x) rejects.</a:t>
            </a:r>
            <a:endParaRPr/>
          </a:p>
        </p:txBody>
      </p:sp>
      <p:sp>
        <p:nvSpPr>
          <p:cNvPr id="1825" name="Google Shape;1825;p98"/>
          <p:cNvSpPr/>
          <p:nvPr/>
        </p:nvSpPr>
        <p:spPr>
          <a:xfrm>
            <a:off x="749808" y="5310377"/>
            <a:ext cx="292608" cy="292608"/>
          </a:xfrm>
          <a:prstGeom prst="ellipse">
            <a:avLst/>
          </a:prstGeom>
          <a:solidFill>
            <a:srgbClr val="4A9159"/>
          </a:solidFill>
          <a:ln cap="flat" cmpd="sng" w="9525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98"/>
          <p:cNvSpPr txBox="1"/>
          <p:nvPr/>
        </p:nvSpPr>
        <p:spPr>
          <a:xfrm>
            <a:off x="749808" y="5328666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827" name="Google Shape;1827;p98"/>
          <p:cNvSpPr/>
          <p:nvPr/>
        </p:nvSpPr>
        <p:spPr>
          <a:xfrm>
            <a:off x="1170432" y="5218938"/>
            <a:ext cx="10104120" cy="1273302"/>
          </a:xfrm>
          <a:prstGeom prst="roundRect">
            <a:avLst>
              <a:gd fmla="val 16667" name="adj"/>
            </a:avLst>
          </a:prstGeom>
          <a:solidFill>
            <a:srgbClr val="EEF8F0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98"/>
          <p:cNvSpPr txBox="1"/>
          <p:nvPr/>
        </p:nvSpPr>
        <p:spPr>
          <a:xfrm>
            <a:off x="1389888" y="5319522"/>
            <a:ext cx="2103120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Otherwise reject</a:t>
            </a:r>
            <a:endParaRPr/>
          </a:p>
        </p:txBody>
      </p:sp>
      <p:sp>
        <p:nvSpPr>
          <p:cNvPr id="1829" name="Google Shape;1829;p98"/>
          <p:cNvSpPr txBox="1"/>
          <p:nvPr/>
        </p:nvSpPr>
        <p:spPr>
          <a:xfrm>
            <a:off x="3246120" y="5310377"/>
            <a:ext cx="772667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This accepts exactly S \ T and halts on all inputs, so the set difference is decidable.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99"/>
          <p:cNvSpPr txBox="1"/>
          <p:nvPr/>
        </p:nvSpPr>
        <p:spPr>
          <a:xfrm>
            <a:off x="256032" y="91440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endParaRPr/>
          </a:p>
        </p:txBody>
      </p:sp>
      <p:sp>
        <p:nvSpPr>
          <p:cNvPr id="1835" name="Google Shape;1835;p99"/>
          <p:cNvSpPr/>
          <p:nvPr/>
        </p:nvSpPr>
        <p:spPr>
          <a:xfrm>
            <a:off x="10239451" y="137160"/>
            <a:ext cx="1449324" cy="256032"/>
          </a:xfrm>
          <a:prstGeom prst="roundRect">
            <a:avLst>
              <a:gd fmla="val 16667" name="adj"/>
            </a:avLst>
          </a:prstGeom>
          <a:solidFill>
            <a:srgbClr val="FFCB05"/>
          </a:solidFill>
          <a:ln cap="flat" cmpd="sng" w="9525">
            <a:solidFill>
              <a:srgbClr val="FFCB0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99"/>
          <p:cNvSpPr txBox="1"/>
          <p:nvPr/>
        </p:nvSpPr>
        <p:spPr>
          <a:xfrm>
            <a:off x="10285171" y="164592"/>
            <a:ext cx="135788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endParaRPr/>
          </a:p>
        </p:txBody>
      </p:sp>
      <p:sp>
        <p:nvSpPr>
          <p:cNvPr id="1837" name="Google Shape;1837;p99"/>
          <p:cNvSpPr/>
          <p:nvPr/>
        </p:nvSpPr>
        <p:spPr>
          <a:xfrm>
            <a:off x="182880" y="576072"/>
            <a:ext cx="11823192" cy="10972"/>
          </a:xfrm>
          <a:prstGeom prst="rect">
            <a:avLst/>
          </a:prstGeom>
          <a:solidFill>
            <a:srgbClr val="D9E1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99"/>
          <p:cNvSpPr txBox="1"/>
          <p:nvPr/>
        </p:nvSpPr>
        <p:spPr>
          <a:xfrm>
            <a:off x="182880" y="65379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EECS 376 · Discussion 20 · Computability 1</a:t>
            </a:r>
            <a:endParaRPr/>
          </a:p>
        </p:txBody>
      </p:sp>
      <p:sp>
        <p:nvSpPr>
          <p:cNvPr id="1839" name="Google Shape;1839;p9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A94A0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/>
          </a:p>
        </p:txBody>
      </p:sp>
      <p:sp>
        <p:nvSpPr>
          <p:cNvPr id="1840" name="Google Shape;1840;p99"/>
          <p:cNvSpPr txBox="1"/>
          <p:nvPr/>
        </p:nvSpPr>
        <p:spPr>
          <a:xfrm>
            <a:off x="1097280" y="2240280"/>
            <a:ext cx="10012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Add attendance form / announcements / QR code here</a:t>
            </a:r>
            <a:endParaRPr/>
          </a:p>
        </p:txBody>
      </p:sp>
      <p:sp>
        <p:nvSpPr>
          <p:cNvPr id="1841" name="Google Shape;1841;p99"/>
          <p:cNvSpPr txBox="1"/>
          <p:nvPr/>
        </p:nvSpPr>
        <p:spPr>
          <a:xfrm>
            <a:off x="2148840" y="3246120"/>
            <a:ext cx="7909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(kept intentionally blank for discussion logistics)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