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0VlZzmmjwmb/NKYW8pRPs+Mj1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52606D"/>
                </a:solidFill>
              </a:rPr>
              <a:t>Big-O describes growth, not the hidden constants.</a:t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p2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p2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p2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p2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8" name="Google Shape;388;p2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b20bac6a5_0_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7" name="Google Shape;407;g3fb20bac6a5_0_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6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6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6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26"/>
          <p:cNvSpPr txBox="1"/>
          <p:nvPr>
            <p:ph idx="10"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7"/>
          <p:cNvSpPr txBox="1"/>
          <p:nvPr>
            <p:ph idx="10"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0"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5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5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58080" y="658080"/>
            <a:ext cx="118800" cy="53492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1051560" y="960120"/>
            <a:ext cx="4754880" cy="55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CB05"/>
                </a:solidFill>
                <a:latin typeface="Arial"/>
                <a:ea typeface="Arial"/>
                <a:cs typeface="Arial"/>
                <a:sym typeface="Arial"/>
              </a:rPr>
              <a:t>EECS 376</a:t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1051560" y="1627560"/>
            <a:ext cx="9692640" cy="55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Foundations of Computer Science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1060560" y="2862000"/>
            <a:ext cx="5577840" cy="41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Discussion Sec. 20, Week 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1060560" y="3492720"/>
            <a:ext cx="585216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GSI   : Samanway (Rick) Sadhu</a:t>
            </a:r>
            <a:endParaRPr b="0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Email: samanway@umich.edu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1060560" y="5852160"/>
            <a:ext cx="5029200" cy="18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University of Michigan · Fall 2026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Proof technique 1: Direct proof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2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2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685800" y="1511640"/>
            <a:ext cx="2103120" cy="629640"/>
          </a:xfrm>
          <a:prstGeom prst="rect">
            <a:avLst/>
          </a:prstGeom>
          <a:solidFill>
            <a:srgbClr val="EAF2F8"/>
          </a:solidFill>
          <a:ln cap="flat" cmpd="sng" w="25200">
            <a:solidFill>
              <a:srgbClr val="EAF2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Statement to prove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2971800" y="1356120"/>
            <a:ext cx="2743200" cy="73332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 ⇒ Q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749520" y="2486880"/>
            <a:ext cx="1065276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Assume P is true, then follow logical consequences until Q must be true.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2"/>
          <p:cNvCxnSpPr/>
          <p:nvPr/>
        </p:nvCxnSpPr>
        <p:spPr>
          <a:xfrm>
            <a:off x="777240" y="3218400"/>
            <a:ext cx="106070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2"/>
          <p:cNvSpPr txBox="1"/>
          <p:nvPr/>
        </p:nvSpPr>
        <p:spPr>
          <a:xfrm>
            <a:off x="1417320" y="3642120"/>
            <a:ext cx="9372600" cy="1230120"/>
          </a:xfrm>
          <a:prstGeom prst="rect">
            <a:avLst/>
          </a:prstGeom>
          <a:solidFill>
            <a:srgbClr val="FFF4D6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If n is even, then n² is even.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n = 2k  ⇒  n² = 4k² = 2(2k²).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Proof technique 2: Contrapositive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" name="Google Shape;57;p3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3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685800" y="1511640"/>
            <a:ext cx="2103120" cy="629640"/>
          </a:xfrm>
          <a:prstGeom prst="rect">
            <a:avLst/>
          </a:prstGeom>
          <a:solidFill>
            <a:srgbClr val="EAF2F8"/>
          </a:solidFill>
          <a:ln cap="flat" cmpd="sng" w="25200">
            <a:solidFill>
              <a:srgbClr val="EAF2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Statement to prove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2788920" y="1356120"/>
            <a:ext cx="4846320" cy="70416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 ⇒ Q   ⇔   ¬Q ⇒ ¬P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749520" y="2486880"/>
            <a:ext cx="1065276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Instead of proving P ⇒ Q directly, prove its logically equivalent contrapositive.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p3"/>
          <p:cNvCxnSpPr/>
          <p:nvPr/>
        </p:nvCxnSpPr>
        <p:spPr>
          <a:xfrm>
            <a:off x="777240" y="3218400"/>
            <a:ext cx="106070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3"/>
          <p:cNvSpPr txBox="1"/>
          <p:nvPr/>
        </p:nvSpPr>
        <p:spPr>
          <a:xfrm>
            <a:off x="960120" y="3614760"/>
            <a:ext cx="10287000" cy="1184760"/>
          </a:xfrm>
          <a:prstGeom prst="rect">
            <a:avLst/>
          </a:prstGeom>
          <a:solidFill>
            <a:srgbClr val="FFF4D6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If n² is even, then n is even.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Contrapositive: n odd ⇒ n = 2k+1 ⇒ n² = 2(2k²+2k)+1 is odd.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Proof technique 3: Contradiction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4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4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685800" y="1511640"/>
            <a:ext cx="2103120" cy="629640"/>
          </a:xfrm>
          <a:prstGeom prst="rect">
            <a:avLst/>
          </a:prstGeom>
          <a:solidFill>
            <a:srgbClr val="EAF2F8"/>
          </a:solidFill>
          <a:ln cap="flat" cmpd="sng" w="25200">
            <a:solidFill>
              <a:srgbClr val="EAF2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Statement to prove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2788920" y="1356120"/>
            <a:ext cx="4846320" cy="68904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Prove P by assuming ¬P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749520" y="2486880"/>
            <a:ext cx="10652760" cy="62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Assume the claim is false. If that assumption forces a contradiction, the claim must be true.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Google Shape;79;p4"/>
          <p:cNvCxnSpPr/>
          <p:nvPr/>
        </p:nvCxnSpPr>
        <p:spPr>
          <a:xfrm>
            <a:off x="777240" y="3218400"/>
            <a:ext cx="106070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4"/>
          <p:cNvSpPr txBox="1"/>
          <p:nvPr/>
        </p:nvSpPr>
        <p:spPr>
          <a:xfrm>
            <a:off x="1298160" y="3642120"/>
            <a:ext cx="9601200" cy="1230120"/>
          </a:xfrm>
          <a:prstGeom prst="rect">
            <a:avLst/>
          </a:prstGeom>
          <a:solidFill>
            <a:srgbClr val="FFF4D6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 integer is both even and odd.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Assume n = 2a = 2b+1 ⇒ 2(a−b)=1, impossible.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Asymptotic notation: the three definitions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5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5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736007" y="1546190"/>
            <a:ext cx="10698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Let f(n), g(n) &gt; 0. Each definition is about what happens for all sufficiently large n.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749520" y="2050920"/>
            <a:ext cx="3429000" cy="142596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Definition 1 — Big-O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f(n) = O(g(n)) iff ∃ c,n₀&gt;0 such that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f(n) ≤ c·g(n) for all n ≥ n₀.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4370760" y="2050920"/>
            <a:ext cx="3429000" cy="142596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Definition 2 — Big-Ω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f(n) = Ω(g(n)) iff ∃ c,n₀&gt;0 such that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f(n) ≥ c·g(n) for all n ≥ n₀.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7991640" y="2050920"/>
            <a:ext cx="3429000" cy="142596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5B3F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Definition 3 — Big-Θ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f(n) = Θ(g(n)) iff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f(n)=O(g(n)) and f(n)=Ω(g(n)).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Asymptotic notation: Using limits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6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6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749520" y="1546190"/>
            <a:ext cx="10424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When limₙ→∞ f(n)/g(n) exists (or is infinite), the ratio gives a fast test.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1051560" y="2151720"/>
            <a:ext cx="10058400" cy="972360"/>
          </a:xfrm>
          <a:prstGeom prst="rect">
            <a:avLst/>
          </a:prstGeom>
          <a:solidFill>
            <a:srgbClr val="EAF2F8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Lemma 4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 f(n)=O(g(n))  ⇔  lim</a:t>
            </a:r>
            <a:r>
              <a:rPr b="1" baseline="-25000" i="0" lang="en-US" sz="24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n→∞</a:t>
            </a:r>
            <a:r>
              <a:rPr b="1" i="0" lang="en-US" sz="24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 f(n)/g(n) is finite.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1051560" y="3769920"/>
            <a:ext cx="10058400" cy="972360"/>
          </a:xfrm>
          <a:prstGeom prst="rect">
            <a:avLst/>
          </a:prstGeom>
          <a:solidFill>
            <a:srgbClr val="F1EDFA"/>
          </a:solidFill>
          <a:ln cap="flat" cmpd="sng" w="25200">
            <a:solidFill>
              <a:srgbClr val="5B3F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B3F8C"/>
                </a:solidFill>
                <a:latin typeface="Arial"/>
                <a:ea typeface="Arial"/>
                <a:cs typeface="Arial"/>
                <a:sym typeface="Arial"/>
              </a:rPr>
              <a:t>Lemma 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B3F8C"/>
                </a:solidFill>
                <a:latin typeface="Arial"/>
                <a:ea typeface="Arial"/>
                <a:cs typeface="Arial"/>
                <a:sym typeface="Arial"/>
              </a:rPr>
              <a:t> f(n)=Ω(g(n))  ⇔  lim</a:t>
            </a:r>
            <a:r>
              <a:rPr b="1" baseline="-25000" i="0" lang="en-US" sz="2400" u="none" cap="none" strike="noStrike">
                <a:solidFill>
                  <a:srgbClr val="5B3F8C"/>
                </a:solidFill>
                <a:latin typeface="Arial"/>
                <a:ea typeface="Arial"/>
                <a:cs typeface="Arial"/>
                <a:sym typeface="Arial"/>
              </a:rPr>
              <a:t>n→∞</a:t>
            </a:r>
            <a:r>
              <a:rPr b="1" i="0" lang="en-US" sz="2400" u="none" cap="none" strike="noStrike">
                <a:solidFill>
                  <a:srgbClr val="5B3F8C"/>
                </a:solidFill>
                <a:latin typeface="Arial"/>
                <a:ea typeface="Arial"/>
                <a:cs typeface="Arial"/>
                <a:sym typeface="Arial"/>
              </a:rPr>
              <a:t> f(n)/g(n) &gt; 0 (including ∞).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 1: Comparing asymptotic running times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7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7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49535" y="1194455"/>
            <a:ext cx="10789800" cy="118470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On the same computer with the same input, an algorithm with O(n log n) worst-case running time runs in less time than </a:t>
            </a:r>
            <a:r>
              <a:rPr b="1" i="0" lang="en-US" sz="2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r>
              <a:rPr b="0" i="0" lang="en-US" sz="2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b="1" i="0" lang="en-US" sz="2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some</a:t>
            </a:r>
            <a:r>
              <a:rPr b="0" i="0" lang="en-US" sz="2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b="1" i="0" lang="en-US" sz="2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r>
              <a:rPr b="0" i="0" lang="en-US" sz="2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algorithms with O(n²) worst-case running time.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4152895" y="2739600"/>
            <a:ext cx="3886200" cy="689100"/>
          </a:xfrm>
          <a:prstGeom prst="rect">
            <a:avLst/>
          </a:prstGeom>
          <a:solidFill>
            <a:srgbClr val="EAF7EE"/>
          </a:solidFill>
          <a:ln cap="flat" cmpd="sng" w="25200">
            <a:solidFill>
              <a:srgbClr val="137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37333"/>
                </a:solidFill>
                <a:latin typeface="Arial"/>
                <a:ea typeface="Arial"/>
                <a:cs typeface="Arial"/>
                <a:sym typeface="Arial"/>
              </a:rPr>
              <a:t>Answer: SOME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49520" y="3843360"/>
            <a:ext cx="5285160" cy="1097280"/>
          </a:xfrm>
          <a:prstGeom prst="rect">
            <a:avLst/>
          </a:prstGeom>
          <a:solidFill>
            <a:srgbClr val="FFF4D6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Example 1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A(n)=376n log n,   B(n)=n²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n=2 ⇒ A(2)=752, B(2)=4  →  B is faster.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6153840" y="3843360"/>
            <a:ext cx="5285160" cy="1097280"/>
          </a:xfrm>
          <a:prstGeom prst="rect">
            <a:avLst/>
          </a:prstGeom>
          <a:solidFill>
            <a:srgbClr val="EAF2F8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Example 2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A(n)=n log n,   B(n)=376n²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n=2 ⇒ A(2)=2, B(2)=1504  →  A is faster.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 2(a): Asymptotics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8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8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23895" y="1332770"/>
            <a:ext cx="10744200" cy="804600"/>
          </a:xfrm>
          <a:prstGeom prst="rect">
            <a:avLst/>
          </a:prstGeom>
          <a:solidFill>
            <a:srgbClr val="EEF2F6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For f(n), g(n), decide whether f(n)=O(g(n)). Justify using Definition 1 or a limit argument.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952495" y="2710158"/>
            <a:ext cx="10287000" cy="62970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(a)  f(n)=log</a:t>
            </a:r>
            <a:r>
              <a:rPr b="1" baseline="-25000" i="0" lang="en-US" sz="23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US" sz="23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 n,  g(n)=log</a:t>
            </a:r>
            <a:r>
              <a:rPr b="1" baseline="-25000" i="0" lang="en-US" sz="23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i="0" lang="en-US" sz="23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 n,  where a,b&gt;1.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2788945" y="3815630"/>
            <a:ext cx="6629400" cy="804600"/>
          </a:xfrm>
          <a:prstGeom prst="rect">
            <a:avLst/>
          </a:prstGeom>
          <a:solidFill>
            <a:srgbClr val="FFF4D6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15C00"/>
                </a:solidFill>
                <a:latin typeface="Arial"/>
                <a:ea typeface="Arial"/>
                <a:cs typeface="Arial"/>
                <a:sym typeface="Arial"/>
              </a:rPr>
              <a:t>HINT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15C00"/>
                </a:solidFill>
                <a:latin typeface="Arial"/>
                <a:ea typeface="Arial"/>
                <a:cs typeface="Arial"/>
                <a:sym typeface="Arial"/>
              </a:rPr>
              <a:t>Definition 1: find c,n₀&gt;0 with f(n) ≤ c·g(n) for every n≥n₀.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2788945" y="3805030"/>
            <a:ext cx="6629400" cy="887400"/>
          </a:xfrm>
          <a:prstGeom prst="rect">
            <a:avLst/>
          </a:prstGeom>
          <a:solidFill>
            <a:srgbClr val="EAF7EE"/>
          </a:solidFill>
          <a:ln cap="flat" cmpd="sng" w="25200">
            <a:solidFill>
              <a:srgbClr val="137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37333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37333"/>
                </a:solidFill>
                <a:latin typeface="Arial"/>
                <a:ea typeface="Arial"/>
                <a:cs typeface="Arial"/>
                <a:sym typeface="Arial"/>
              </a:rPr>
              <a:t>Take  c = ln b / ln a  and  n₀ = 1.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1143000" y="5108285"/>
            <a:ext cx="9921300" cy="85920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137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b="0" baseline="-2500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n = ln n/ln a = (ln b/ln a)·(ln n/ln b) = (ln b/ln a)·log</a:t>
            </a:r>
            <a:r>
              <a:rPr b="0" baseline="-2500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n.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So f(n) = c·g(n) ≤ c·g(n), exactly what Definition 1 requires.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 2(b): Asymptotics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9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9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731520" y="1237320"/>
            <a:ext cx="10744200" cy="804600"/>
          </a:xfrm>
          <a:prstGeom prst="rect">
            <a:avLst/>
          </a:prstGeom>
          <a:solidFill>
            <a:srgbClr val="EEF2F6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For f(n), g(n), decide whether f(n)=O(g(n)). Justify using Definition 1 or a limit argument.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960120" y="2151720"/>
            <a:ext cx="10287000" cy="62964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(b)  f(n)=4ⁿ,   g(n)=2ⁿ.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4772880" y="3129840"/>
            <a:ext cx="2651760" cy="689040"/>
          </a:xfrm>
          <a:prstGeom prst="rect">
            <a:avLst/>
          </a:prstGeom>
          <a:solidFill>
            <a:srgbClr val="FDECEC"/>
          </a:solidFill>
          <a:ln cap="flat" cmpd="sng" w="25200">
            <a:solidFill>
              <a:srgbClr val="B423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B42318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1051560" y="4007880"/>
            <a:ext cx="10104120" cy="131652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B423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Proof 1 — negate Definition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For arbitrary c,n₀&gt;0, choose n&gt;max{log₂c,n₀}. Then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4ⁿ=(2ⁿ)(2ⁿ) &gt; c·2ⁿ = c·g(n).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Hence no fixed c can upper-bound 4ⁿ by c·2ⁿ.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1051550" y="4007874"/>
            <a:ext cx="10104000" cy="1316400"/>
          </a:xfrm>
          <a:prstGeom prst="rect">
            <a:avLst/>
          </a:prstGeom>
          <a:solidFill>
            <a:srgbClr val="EAF2F8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Proof 2 — Lemma 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lim</a:t>
            </a:r>
            <a:r>
              <a:rPr b="0" baseline="-2500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n→∞</a:t>
            </a: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f(n)/g(n) = lim</a:t>
            </a:r>
            <a:r>
              <a:rPr b="0" baseline="-2500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baseline="-25000" i="0" lang="en-US" sz="24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→∞</a:t>
            </a: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4ⁿ/2ⁿ = lim</a:t>
            </a:r>
            <a:r>
              <a:rPr b="0" baseline="-2500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n→∞</a:t>
            </a: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2ⁿ = ∞.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limit is not finite, so f(n) ≠ O(g(n)).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 3(a): Faulty proofs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10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10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 txBox="1"/>
          <p:nvPr/>
        </p:nvSpPr>
        <p:spPr>
          <a:xfrm>
            <a:off x="731520" y="1191600"/>
            <a:ext cx="10744200" cy="629640"/>
          </a:xfrm>
          <a:prstGeom prst="rect">
            <a:avLst/>
          </a:prstGeom>
          <a:solidFill>
            <a:srgbClr val="EEF2F6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Each claim is true, but the proposed proof is wrong. Identify exactly what is invalid.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749520" y="2014560"/>
            <a:ext cx="10698480" cy="109728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Claim: There is no even prime greater than 2.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Proposed proof: 3 is prime, greater than 2, and not even; therefore there is no even prime greater than 2.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960120" y="4318560"/>
            <a:ext cx="10287000" cy="1142640"/>
          </a:xfrm>
          <a:prstGeom prst="rect">
            <a:avLst/>
          </a:prstGeom>
          <a:solidFill>
            <a:srgbClr val="FFF4D6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What is wrong?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One example cannot establish a “for all” statement. We must rule out every prime greater than 2 being even.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 3(b): Faulty proofs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11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11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731520" y="1191600"/>
            <a:ext cx="10744200" cy="629640"/>
          </a:xfrm>
          <a:prstGeom prst="rect">
            <a:avLst/>
          </a:prstGeom>
          <a:solidFill>
            <a:srgbClr val="EEF2F6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Each claim is true, but the proposed proof is wrong. Identify exactly what is invalid.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749520" y="2014560"/>
            <a:ext cx="10698480" cy="82908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Claim: If n² is even, then n is even.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Proposed proof: If n is even, n=2k, so n²=4k² is even.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960120" y="4318560"/>
            <a:ext cx="10287000" cy="1142640"/>
          </a:xfrm>
          <a:prstGeom prst="rect">
            <a:avLst/>
          </a:prstGeom>
          <a:solidFill>
            <a:srgbClr val="FFF4D6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What is wrong?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proof establishes the converse (n even ⇒ n² even), not the required implication (n² even ⇒ n even).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 3(c): Faulty proofs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12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12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731520" y="1191600"/>
            <a:ext cx="10744200" cy="629640"/>
          </a:xfrm>
          <a:prstGeom prst="rect">
            <a:avLst/>
          </a:prstGeom>
          <a:solidFill>
            <a:srgbClr val="EEF2F6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Each claim is true, but the proposed proof is wrong. Identify exactly what is invalid.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749520" y="2014560"/>
            <a:ext cx="10698480" cy="82908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Claim: 37 is the largest prime smaller than 41.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Proposed proof: 37&lt;41 and 37 is prime because its only divisors are 1 and 37.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960120" y="4318560"/>
            <a:ext cx="10287000" cy="1142640"/>
          </a:xfrm>
          <a:prstGeom prst="rect">
            <a:avLst/>
          </a:prstGeom>
          <a:solidFill>
            <a:srgbClr val="FFF4D6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What is wrong?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It proves only that 37 is a prime below 41. To prove “largest,” also rule out 38, 39, and 40 as primes.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The potential method: formal definition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13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13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914400" y="1483920"/>
            <a:ext cx="10332720" cy="123012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Define a function  s : A → ℝ  mapping each algorithm state to a finite real number.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The function s is a valid potential function if: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960120" y="2819160"/>
            <a:ext cx="4892040" cy="1230120"/>
          </a:xfrm>
          <a:prstGeom prst="rect">
            <a:avLst/>
          </a:prstGeom>
          <a:solidFill>
            <a:srgbClr val="EAF2F8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 Decrease condition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 decreases by some fixed positive constant C&gt;0 with every unit of work.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6309360" y="2819160"/>
            <a:ext cx="4892040" cy="1482120"/>
          </a:xfrm>
          <a:prstGeom prst="rect">
            <a:avLst/>
          </a:prstGeom>
          <a:solidFill>
            <a:srgbClr val="FFF4D6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2. Lower-bound / stopping condition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 has some lower bound B, and the algorithm is guaranteed to terminate once s ≤ B.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 4: Potential functions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14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14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1005840" y="1392480"/>
            <a:ext cx="10149840" cy="629640"/>
          </a:xfrm>
          <a:prstGeom prst="rect">
            <a:avLst/>
          </a:prstGeom>
          <a:solidFill>
            <a:srgbClr val="EAF2F8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Suppose input() returns a user-specified positive integer.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1097280" y="2489760"/>
            <a:ext cx="9966960" cy="160452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For each program: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Decide whether it halts for every valid sequence of inputs.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If yes, prove it using the potential method.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If no, give an input sequence that makes it run forever.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 4(a): Does the program terminate?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15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15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713160" y="1307520"/>
            <a:ext cx="4617720" cy="2502360"/>
          </a:xfrm>
          <a:prstGeom prst="rect">
            <a:avLst/>
          </a:prstGeom>
          <a:solidFill>
            <a:srgbClr val="13293D"/>
          </a:solidFill>
          <a:ln cap="flat" cmpd="sng" w="25200">
            <a:solidFill>
              <a:srgbClr val="13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x ← input()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y ← input()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while x &gt; 0 and y &gt; 0: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z ← input()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if z is even: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 x ← x − 1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 y ← y + 1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else: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 y ← y − 1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5715000" y="1392480"/>
            <a:ext cx="5577840" cy="646200"/>
          </a:xfrm>
          <a:prstGeom prst="rect">
            <a:avLst/>
          </a:prstGeom>
          <a:solidFill>
            <a:srgbClr val="EAF7EE"/>
          </a:solidFill>
          <a:ln cap="flat" cmpd="sng" w="25200">
            <a:solidFill>
              <a:srgbClr val="137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37333"/>
                </a:solidFill>
                <a:latin typeface="Arial"/>
                <a:ea typeface="Arial"/>
                <a:cs typeface="Arial"/>
                <a:sym typeface="Arial"/>
              </a:rPr>
              <a:t>YES — it always terminates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5961600" y="2380320"/>
            <a:ext cx="5074920" cy="632520"/>
          </a:xfrm>
          <a:prstGeom prst="rect">
            <a:avLst/>
          </a:prstGeom>
          <a:solidFill>
            <a:srgbClr val="FFF4D6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A15C00"/>
                </a:solidFill>
                <a:latin typeface="Arial"/>
                <a:ea typeface="Arial"/>
                <a:cs typeface="Arial"/>
                <a:sym typeface="Arial"/>
              </a:rPr>
              <a:t>Potential:  Φ(x,y) = 2x + 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5650920" y="3312720"/>
            <a:ext cx="5715000" cy="80460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Lower bound: while the loop continues, x&gt;0 and y&gt;0, so Φ&gt;0.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5650920" y="4071960"/>
            <a:ext cx="5715000" cy="62964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If z is even: 2(x−1)+(y+1)=2x+y−1.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5650920" y="4794120"/>
            <a:ext cx="5715000" cy="62964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If z is odd: 2x+(y−1)=2x+y−1.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5650920" y="5516640"/>
            <a:ext cx="5715000" cy="777240"/>
          </a:xfrm>
          <a:prstGeom prst="rect">
            <a:avLst/>
          </a:prstGeom>
          <a:solidFill>
            <a:srgbClr val="EAF7EE"/>
          </a:solidFill>
          <a:ln cap="flat" cmpd="sng" w="25200">
            <a:solidFill>
              <a:srgbClr val="137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37333"/>
                </a:solidFill>
                <a:latin typeface="Arial"/>
                <a:ea typeface="Arial"/>
                <a:cs typeface="Arial"/>
                <a:sym typeface="Arial"/>
              </a:rPr>
              <a:t>Φ decreases by exactly 1 each iteration and cannot decrease forever while Φ&gt;0 ⇒ the loop terminates.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6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 4(b): One changed line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6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16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16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6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6"/>
          <p:cNvSpPr txBox="1"/>
          <p:nvPr/>
        </p:nvSpPr>
        <p:spPr>
          <a:xfrm>
            <a:off x="713160" y="1307520"/>
            <a:ext cx="4617720" cy="2593080"/>
          </a:xfrm>
          <a:prstGeom prst="rect">
            <a:avLst/>
          </a:prstGeom>
          <a:solidFill>
            <a:srgbClr val="13293D"/>
          </a:solidFill>
          <a:ln cap="flat" cmpd="sng" w="25200">
            <a:solidFill>
              <a:srgbClr val="13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x ← input()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y ← input()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while x &gt; 0 and y &gt; 0: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z ← input()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if z is even: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 x ← x − 1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 y ← y + 1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else: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 y ← y − 1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 x ← x + 1   ← NEW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6"/>
          <p:cNvSpPr txBox="1"/>
          <p:nvPr/>
        </p:nvSpPr>
        <p:spPr>
          <a:xfrm>
            <a:off x="5715000" y="1392480"/>
            <a:ext cx="5577840" cy="632520"/>
          </a:xfrm>
          <a:prstGeom prst="rect">
            <a:avLst/>
          </a:prstGeom>
          <a:solidFill>
            <a:srgbClr val="FDECEC"/>
          </a:solidFill>
          <a:ln cap="flat" cmpd="sng" w="25200">
            <a:solidFill>
              <a:srgbClr val="B423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42318"/>
                </a:solidFill>
                <a:latin typeface="Arial"/>
                <a:ea typeface="Arial"/>
                <a:cs typeface="Arial"/>
                <a:sym typeface="Arial"/>
              </a:rPr>
              <a:t>NO — it does not always terminate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6"/>
          <p:cNvSpPr txBox="1"/>
          <p:nvPr/>
        </p:nvSpPr>
        <p:spPr>
          <a:xfrm>
            <a:off x="5715000" y="2361960"/>
            <a:ext cx="5577840" cy="859320"/>
          </a:xfrm>
          <a:prstGeom prst="rect">
            <a:avLst/>
          </a:prstGeom>
          <a:solidFill>
            <a:srgbClr val="FFF4D6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Example input sequence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x=2, y=2, and zᵢ=i (odd, even, odd, even, …)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6"/>
          <p:cNvSpPr txBox="1"/>
          <p:nvPr/>
        </p:nvSpPr>
        <p:spPr>
          <a:xfrm>
            <a:off x="5623560" y="3678480"/>
            <a:ext cx="5760720" cy="114264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State evolution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(2,2)  —odd→  (3,1)  —even→  (2,2)  —odd→  (3,1)  → …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6"/>
          <p:cNvSpPr txBox="1"/>
          <p:nvPr/>
        </p:nvSpPr>
        <p:spPr>
          <a:xfrm>
            <a:off x="5623560" y="4986360"/>
            <a:ext cx="5760720" cy="1060560"/>
          </a:xfrm>
          <a:prstGeom prst="rect">
            <a:avLst/>
          </a:prstGeom>
          <a:solidFill>
            <a:srgbClr val="FDECEC"/>
          </a:solidFill>
          <a:ln cap="flat" cmpd="sng" w="25200">
            <a:solidFill>
              <a:srgbClr val="B423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42318"/>
                </a:solidFill>
                <a:latin typeface="Arial"/>
                <a:ea typeface="Arial"/>
                <a:cs typeface="Arial"/>
                <a:sym typeface="Arial"/>
              </a:rPr>
              <a:t>Both coordinates remain positive forever, so the while-condition never becomes false. This valid input sequence is an infinite loop.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7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Induction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7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17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17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7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7"/>
          <p:cNvSpPr txBox="1"/>
          <p:nvPr/>
        </p:nvSpPr>
        <p:spPr>
          <a:xfrm>
            <a:off x="749520" y="1371600"/>
            <a:ext cx="1069848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Goal: prove a statement P(n) for every positive integer n.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7"/>
          <p:cNvSpPr txBox="1"/>
          <p:nvPr/>
        </p:nvSpPr>
        <p:spPr>
          <a:xfrm>
            <a:off x="914400" y="2151720"/>
            <a:ext cx="2971800" cy="972360"/>
          </a:xfrm>
          <a:prstGeom prst="rect">
            <a:avLst/>
          </a:prstGeom>
          <a:solidFill>
            <a:srgbClr val="EAF2F8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Prove P(1).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7"/>
          <p:cNvSpPr txBox="1"/>
          <p:nvPr/>
        </p:nvSpPr>
        <p:spPr>
          <a:xfrm>
            <a:off x="4617720" y="2151720"/>
            <a:ext cx="4983480" cy="1230120"/>
          </a:xfrm>
          <a:prstGeom prst="rect">
            <a:avLst/>
          </a:prstGeom>
          <a:solidFill>
            <a:srgbClr val="FFF4D6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A15C00"/>
                </a:solidFill>
                <a:latin typeface="Arial"/>
                <a:ea typeface="Arial"/>
                <a:cs typeface="Arial"/>
                <a:sym typeface="Arial"/>
              </a:rPr>
              <a:t>INDUCTIVE STEP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A15C00"/>
                </a:solidFill>
                <a:latin typeface="Arial"/>
                <a:ea typeface="Arial"/>
                <a:cs typeface="Arial"/>
                <a:sym typeface="Arial"/>
              </a:rPr>
              <a:t>For arbitrary k≥1, assume P(k) and prove P(k+1).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7"/>
          <p:cNvSpPr txBox="1"/>
          <p:nvPr/>
        </p:nvSpPr>
        <p:spPr>
          <a:xfrm>
            <a:off x="1170360" y="4296600"/>
            <a:ext cx="511920" cy="33732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7"/>
          <p:cNvSpPr txBox="1"/>
          <p:nvPr/>
        </p:nvSpPr>
        <p:spPr>
          <a:xfrm>
            <a:off x="1983960" y="4296600"/>
            <a:ext cx="511920" cy="33732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2797920" y="4296600"/>
            <a:ext cx="511920" cy="33732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7"/>
          <p:cNvSpPr txBox="1"/>
          <p:nvPr/>
        </p:nvSpPr>
        <p:spPr>
          <a:xfrm>
            <a:off x="3611880" y="4296600"/>
            <a:ext cx="511920" cy="337320"/>
          </a:xfrm>
          <a:prstGeom prst="rect">
            <a:avLst/>
          </a:prstGeom>
          <a:solidFill>
            <a:srgbClr val="8EA9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7"/>
          <p:cNvSpPr txBox="1"/>
          <p:nvPr/>
        </p:nvSpPr>
        <p:spPr>
          <a:xfrm>
            <a:off x="4425480" y="4296600"/>
            <a:ext cx="511920" cy="337320"/>
          </a:xfrm>
          <a:prstGeom prst="rect">
            <a:avLst/>
          </a:prstGeom>
          <a:solidFill>
            <a:srgbClr val="8EA9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7"/>
          <p:cNvSpPr txBox="1"/>
          <p:nvPr/>
        </p:nvSpPr>
        <p:spPr>
          <a:xfrm>
            <a:off x="5239440" y="4296600"/>
            <a:ext cx="511920" cy="337320"/>
          </a:xfrm>
          <a:prstGeom prst="rect">
            <a:avLst/>
          </a:prstGeom>
          <a:solidFill>
            <a:srgbClr val="8EA9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7"/>
          <p:cNvSpPr txBox="1"/>
          <p:nvPr/>
        </p:nvSpPr>
        <p:spPr>
          <a:xfrm>
            <a:off x="6053040" y="4296600"/>
            <a:ext cx="511920" cy="337320"/>
          </a:xfrm>
          <a:prstGeom prst="rect">
            <a:avLst/>
          </a:prstGeom>
          <a:solidFill>
            <a:srgbClr val="8EA9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7"/>
          <p:cNvSpPr txBox="1"/>
          <p:nvPr/>
        </p:nvSpPr>
        <p:spPr>
          <a:xfrm>
            <a:off x="6867000" y="4296600"/>
            <a:ext cx="511920" cy="337320"/>
          </a:xfrm>
          <a:prstGeom prst="rect">
            <a:avLst/>
          </a:prstGeom>
          <a:solidFill>
            <a:srgbClr val="8EA9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7"/>
          <p:cNvSpPr txBox="1"/>
          <p:nvPr/>
        </p:nvSpPr>
        <p:spPr>
          <a:xfrm>
            <a:off x="7680960" y="4296600"/>
            <a:ext cx="511920" cy="337320"/>
          </a:xfrm>
          <a:prstGeom prst="rect">
            <a:avLst/>
          </a:prstGeom>
          <a:solidFill>
            <a:srgbClr val="8EA9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7"/>
          <p:cNvSpPr txBox="1"/>
          <p:nvPr/>
        </p:nvSpPr>
        <p:spPr>
          <a:xfrm>
            <a:off x="8494560" y="4296600"/>
            <a:ext cx="511920" cy="337320"/>
          </a:xfrm>
          <a:prstGeom prst="rect">
            <a:avLst/>
          </a:prstGeom>
          <a:solidFill>
            <a:srgbClr val="8EA9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7"/>
          <p:cNvSpPr txBox="1"/>
          <p:nvPr/>
        </p:nvSpPr>
        <p:spPr>
          <a:xfrm>
            <a:off x="9308520" y="4296600"/>
            <a:ext cx="511920" cy="337320"/>
          </a:xfrm>
          <a:prstGeom prst="rect">
            <a:avLst/>
          </a:prstGeom>
          <a:solidFill>
            <a:srgbClr val="8EA9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7"/>
          <p:cNvSpPr txBox="1"/>
          <p:nvPr/>
        </p:nvSpPr>
        <p:spPr>
          <a:xfrm>
            <a:off x="2377440" y="5486400"/>
            <a:ext cx="740664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P(1) starts the chain; P(k) ⇒ P(k+1) keeps it going.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8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 5: Geometric series by induction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8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" name="Google Shape;294;p18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8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8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8"/>
          <p:cNvSpPr txBox="1"/>
          <p:nvPr/>
        </p:nvSpPr>
        <p:spPr>
          <a:xfrm>
            <a:off x="749520" y="1173240"/>
            <a:ext cx="10698480" cy="91764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Let a₁, a₁r, a₁r², … be a geometric sequence. Prove by induction that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Sᵢ = a₁(1−rⁱ)/(1−r).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8"/>
          <p:cNvSpPr txBox="1"/>
          <p:nvPr/>
        </p:nvSpPr>
        <p:spPr>
          <a:xfrm>
            <a:off x="987480" y="2426040"/>
            <a:ext cx="10149840" cy="629640"/>
          </a:xfrm>
          <a:prstGeom prst="rect">
            <a:avLst/>
          </a:prstGeom>
          <a:solidFill>
            <a:srgbClr val="EAF7EE"/>
          </a:solidFill>
          <a:ln cap="flat" cmpd="sng" w="25200">
            <a:solidFill>
              <a:srgbClr val="137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37333"/>
                </a:solidFill>
                <a:latin typeface="Arial"/>
                <a:ea typeface="Arial"/>
                <a:cs typeface="Arial"/>
                <a:sym typeface="Arial"/>
              </a:rPr>
              <a:t>Base case P(1):  a₁(1−r)/(1−r) = a₁.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8"/>
          <p:cNvSpPr txBox="1"/>
          <p:nvPr/>
        </p:nvSpPr>
        <p:spPr>
          <a:xfrm>
            <a:off x="987480" y="3184920"/>
            <a:ext cx="10149840" cy="629640"/>
          </a:xfrm>
          <a:prstGeom prst="rect">
            <a:avLst/>
          </a:prstGeom>
          <a:solidFill>
            <a:srgbClr val="FFF4D6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A15C00"/>
                </a:solidFill>
                <a:latin typeface="Arial"/>
                <a:ea typeface="Arial"/>
                <a:cs typeface="Arial"/>
                <a:sym typeface="Arial"/>
              </a:rPr>
              <a:t>Inductive hypothesis: assume  Sₖ = a₁(1−rᵏ)/(1−r).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8"/>
          <p:cNvSpPr txBox="1"/>
          <p:nvPr/>
        </p:nvSpPr>
        <p:spPr>
          <a:xfrm>
            <a:off x="1874520" y="3952800"/>
            <a:ext cx="8412480" cy="62964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Sₖ₊₁ = Sₖ + a₁rᵏ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8"/>
          <p:cNvSpPr txBox="1"/>
          <p:nvPr/>
        </p:nvSpPr>
        <p:spPr>
          <a:xfrm>
            <a:off x="1874520" y="4382640"/>
            <a:ext cx="8412480" cy="62964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= a₁(1−rᵏ)/(1−r) + a₁rᵏ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8"/>
          <p:cNvSpPr txBox="1"/>
          <p:nvPr/>
        </p:nvSpPr>
        <p:spPr>
          <a:xfrm>
            <a:off x="1874520" y="4812480"/>
            <a:ext cx="8412480" cy="62964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= [a₁ − a₁rᵏ + a₁rᵏ − a₁rᵏ⁺¹]/(1−r)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8"/>
          <p:cNvSpPr txBox="1"/>
          <p:nvPr/>
        </p:nvSpPr>
        <p:spPr>
          <a:xfrm>
            <a:off x="1874520" y="5242320"/>
            <a:ext cx="8412480" cy="62964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= [a₁ − a₁rᵏ⁺¹]/(1−r)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8"/>
          <p:cNvSpPr txBox="1"/>
          <p:nvPr/>
        </p:nvSpPr>
        <p:spPr>
          <a:xfrm>
            <a:off x="1874520" y="5672160"/>
            <a:ext cx="8412480" cy="62964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= a₁(1−rᵏ⁺¹)/(1−r).  ✓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9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9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 6: Prove √7 is irrational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" name="Google Shape;313;p19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19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9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9"/>
          <p:cNvSpPr txBox="1"/>
          <p:nvPr/>
        </p:nvSpPr>
        <p:spPr>
          <a:xfrm>
            <a:off x="2331720" y="1173240"/>
            <a:ext cx="7543800" cy="64620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Prove by contradiction that √7 is irrational.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9"/>
          <p:cNvSpPr txBox="1"/>
          <p:nvPr/>
        </p:nvSpPr>
        <p:spPr>
          <a:xfrm>
            <a:off x="960120" y="2087640"/>
            <a:ext cx="10287000" cy="629640"/>
          </a:xfrm>
          <a:prstGeom prst="rect">
            <a:avLst/>
          </a:prstGeom>
          <a:solidFill>
            <a:srgbClr val="FDECEC"/>
          </a:solidFill>
          <a:ln cap="flat" cmpd="sng" w="25200">
            <a:solidFill>
              <a:srgbClr val="B423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B42318"/>
                </a:solidFill>
                <a:latin typeface="Arial"/>
                <a:ea typeface="Arial"/>
                <a:cs typeface="Arial"/>
                <a:sym typeface="Arial"/>
              </a:rPr>
              <a:t>1. Assume √7 is rational.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9"/>
          <p:cNvSpPr txBox="1"/>
          <p:nvPr/>
        </p:nvSpPr>
        <p:spPr>
          <a:xfrm>
            <a:off x="960120" y="2727720"/>
            <a:ext cx="10287000" cy="629640"/>
          </a:xfrm>
          <a:prstGeom prst="rect">
            <a:avLst/>
          </a:prstGeom>
          <a:solidFill>
            <a:srgbClr val="FFF4D6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A15C00"/>
                </a:solidFill>
                <a:latin typeface="Arial"/>
                <a:ea typeface="Arial"/>
                <a:cs typeface="Arial"/>
                <a:sym typeface="Arial"/>
              </a:rPr>
              <a:t>2. Then √7 = a/b for integers a,b with gcd(a,b)=1.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9"/>
          <p:cNvSpPr txBox="1"/>
          <p:nvPr/>
        </p:nvSpPr>
        <p:spPr>
          <a:xfrm>
            <a:off x="960120" y="3367800"/>
            <a:ext cx="10287000" cy="62964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3. 7b²=a². Since 7 is prime and 7 | a², we get 7 | a. Write a=7k.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960120" y="4135680"/>
            <a:ext cx="10287000" cy="62964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4. Substitute a=7k: 7b²=49k² ⇒ b²=7k² ⇒ 7 | b.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9"/>
          <p:cNvSpPr txBox="1"/>
          <p:nvPr/>
        </p:nvSpPr>
        <p:spPr>
          <a:xfrm>
            <a:off x="960120" y="4922280"/>
            <a:ext cx="10287000" cy="829080"/>
          </a:xfrm>
          <a:prstGeom prst="rect">
            <a:avLst/>
          </a:prstGeom>
          <a:solidFill>
            <a:srgbClr val="EAF7EE"/>
          </a:solidFill>
          <a:ln cap="flat" cmpd="sng" w="25200">
            <a:solidFill>
              <a:srgbClr val="137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37333"/>
                </a:solidFill>
                <a:latin typeface="Arial"/>
                <a:ea typeface="Arial"/>
                <a:cs typeface="Arial"/>
                <a:sym typeface="Arial"/>
              </a:rPr>
              <a:t>5. Thus 7 divides both a and b, so gcd(a,b)≥7&gt;1 — contradiction. Therefore √7 is irrational.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0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More Faulty proofs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0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20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20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731520" y="1191600"/>
            <a:ext cx="10744200" cy="629640"/>
          </a:xfrm>
          <a:prstGeom prst="rect">
            <a:avLst/>
          </a:prstGeom>
          <a:solidFill>
            <a:srgbClr val="EEF2F6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Each claim is true, but the proposed proof is wrong. Identify exactly what is invalid.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0"/>
          <p:cNvSpPr txBox="1"/>
          <p:nvPr/>
        </p:nvSpPr>
        <p:spPr>
          <a:xfrm>
            <a:off x="749520" y="2014560"/>
            <a:ext cx="10698480" cy="82908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Claim: The sum of the first i positive odd integers equals i².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Proposed proof: 1=1², 1+3=2², 1+3+5=3², and so on. The pattern continues.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0"/>
          <p:cNvSpPr txBox="1"/>
          <p:nvPr/>
        </p:nvSpPr>
        <p:spPr>
          <a:xfrm>
            <a:off x="960120" y="4318560"/>
            <a:ext cx="10287000" cy="1142640"/>
          </a:xfrm>
          <a:prstGeom prst="rect">
            <a:avLst/>
          </a:prstGeom>
          <a:solidFill>
            <a:srgbClr val="FFF4D6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What is wrong?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Checking a few cases and observing a pattern is evidence, not a proof for every i. A valid route is induction.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More Faulty proofs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21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p21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731520" y="1191600"/>
            <a:ext cx="10744200" cy="629640"/>
          </a:xfrm>
          <a:prstGeom prst="rect">
            <a:avLst/>
          </a:prstGeom>
          <a:solidFill>
            <a:srgbClr val="EEF2F6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Each claim is true, but the proposed proof is wrong. Identify exactly what is invalid.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749520" y="2014560"/>
            <a:ext cx="10698480" cy="82908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Claim: The sum of two even integers is even.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Proposed proof: let n,m be even; write n=2k and m=2k, so n+m=4k.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960120" y="4318560"/>
            <a:ext cx="10287000" cy="1142640"/>
          </a:xfrm>
          <a:prstGeom prst="rect">
            <a:avLst/>
          </a:prstGeom>
          <a:solidFill>
            <a:srgbClr val="FFF4D6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What is wrong?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Using the same k silently assumes n=m. Correctly write n=2ℓ and m=2k; then n+m=2(ℓ+k), which is even.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2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Strong induction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2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" name="Google Shape;358;p22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22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749520" y="1417320"/>
            <a:ext cx="1069848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The only change is what you may assume during the inductive step.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840960" y="2197440"/>
            <a:ext cx="4480560" cy="1030680"/>
          </a:xfrm>
          <a:prstGeom prst="rect">
            <a:avLst/>
          </a:prstGeom>
          <a:solidFill>
            <a:srgbClr val="EAF2F8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Ordinary induction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P(k)  ⇒  P(k+1)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5989320" y="2197440"/>
            <a:ext cx="5349240" cy="948600"/>
          </a:xfrm>
          <a:prstGeom prst="rect">
            <a:avLst/>
          </a:prstGeom>
          <a:solidFill>
            <a:srgbClr val="FFF4D6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A15C00"/>
                </a:solidFill>
                <a:latin typeface="Arial"/>
                <a:ea typeface="Arial"/>
                <a:cs typeface="Arial"/>
                <a:sym typeface="Arial"/>
              </a:rPr>
              <a:t>Strong induction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A15C00"/>
                </a:solidFill>
                <a:latin typeface="Arial"/>
                <a:ea typeface="Arial"/>
                <a:cs typeface="Arial"/>
                <a:sym typeface="Arial"/>
              </a:rPr>
              <a:t>P(1) ∧ P(2) ∧ ··· ∧ P(k)  ⇒  P(k+1)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1188720" y="3977640"/>
            <a:ext cx="9829800" cy="65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Use strong induction when the next case naturally breaks into smaller cases of different sizes.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>
            <a:off x="2194560" y="5028120"/>
            <a:ext cx="914400" cy="33732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P(1)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2"/>
          <p:cNvSpPr txBox="1"/>
          <p:nvPr/>
        </p:nvSpPr>
        <p:spPr>
          <a:xfrm>
            <a:off x="3492720" y="5028120"/>
            <a:ext cx="914400" cy="33732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P(2)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2"/>
          <p:cNvSpPr txBox="1"/>
          <p:nvPr/>
        </p:nvSpPr>
        <p:spPr>
          <a:xfrm>
            <a:off x="4791240" y="5028120"/>
            <a:ext cx="914400" cy="33732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P(3)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2"/>
          <p:cNvSpPr txBox="1"/>
          <p:nvPr/>
        </p:nvSpPr>
        <p:spPr>
          <a:xfrm>
            <a:off x="6089760" y="5028120"/>
            <a:ext cx="914400" cy="33732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P(4)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7388280" y="5028120"/>
            <a:ext cx="914400" cy="33732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P(5)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2"/>
          <p:cNvSpPr txBox="1"/>
          <p:nvPr/>
        </p:nvSpPr>
        <p:spPr>
          <a:xfrm>
            <a:off x="8686800" y="5028120"/>
            <a:ext cx="914400" cy="33732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P(6)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2"/>
          <p:cNvSpPr txBox="1"/>
          <p:nvPr/>
        </p:nvSpPr>
        <p:spPr>
          <a:xfrm>
            <a:off x="9875520" y="5074920"/>
            <a:ext cx="109728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all available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3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3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 7: Stone splitting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3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0" name="Google Shape;380;p23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" name="Google Shape;381;p23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3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3"/>
          <p:cNvSpPr txBox="1"/>
          <p:nvPr/>
        </p:nvSpPr>
        <p:spPr>
          <a:xfrm>
            <a:off x="840960" y="1328760"/>
            <a:ext cx="10497240" cy="91764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Start with one pile of n stones. Repeatedly split any pile of size &gt;1 into two nonempty piles until there are n piles of size 1.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3"/>
          <p:cNvSpPr txBox="1"/>
          <p:nvPr/>
        </p:nvSpPr>
        <p:spPr>
          <a:xfrm>
            <a:off x="1188720" y="2746080"/>
            <a:ext cx="9784080" cy="629640"/>
          </a:xfrm>
          <a:prstGeom prst="rect">
            <a:avLst/>
          </a:prstGeom>
          <a:solidFill>
            <a:srgbClr val="FFF4D6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A15C00"/>
                </a:solidFill>
                <a:latin typeface="Arial"/>
                <a:ea typeface="Arial"/>
                <a:cs typeface="Arial"/>
                <a:sym typeface="Arial"/>
              </a:rPr>
              <a:t>Each split of a pile into sizes a and b contributes the product a·b.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3"/>
          <p:cNvSpPr txBox="1"/>
          <p:nvPr/>
        </p:nvSpPr>
        <p:spPr>
          <a:xfrm>
            <a:off x="1143000" y="3980520"/>
            <a:ext cx="9875520" cy="1353240"/>
          </a:xfrm>
          <a:prstGeom prst="rect">
            <a:avLst/>
          </a:prstGeom>
          <a:solidFill>
            <a:srgbClr val="EAF7EE"/>
          </a:solidFill>
          <a:ln cap="flat" cmpd="sng" w="25200">
            <a:solidFill>
              <a:srgbClr val="137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37333"/>
                </a:solidFill>
                <a:latin typeface="Arial"/>
                <a:ea typeface="Arial"/>
                <a:cs typeface="Arial"/>
                <a:sym typeface="Arial"/>
              </a:rPr>
              <a:t>Prove that no matter how the splits are chosen, the sum of all split-products is always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37333"/>
                </a:solidFill>
                <a:latin typeface="Arial"/>
                <a:ea typeface="Arial"/>
                <a:cs typeface="Arial"/>
                <a:sym typeface="Arial"/>
              </a:rPr>
              <a:t> n(n−1)/2.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4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4"/>
          <p:cNvSpPr/>
          <p:nvPr/>
        </p:nvSpPr>
        <p:spPr>
          <a:xfrm>
            <a:off x="0" y="0"/>
            <a:ext cx="12191400" cy="10044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4"/>
          <p:cNvSpPr txBox="1"/>
          <p:nvPr/>
        </p:nvSpPr>
        <p:spPr>
          <a:xfrm>
            <a:off x="548640" y="292320"/>
            <a:ext cx="978408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 7: Strong-induction proof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4"/>
          <p:cNvSpPr txBox="1"/>
          <p:nvPr/>
        </p:nvSpPr>
        <p:spPr>
          <a:xfrm>
            <a:off x="10469880" y="349920"/>
            <a:ext cx="1143000" cy="410040"/>
          </a:xfrm>
          <a:prstGeom prst="rect">
            <a:avLst/>
          </a:prstGeom>
          <a:solidFill>
            <a:srgbClr val="FFCB05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350" lIns="36350" spcFirstLastPara="1" rIns="36350" wrap="square" tIns="3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4" name="Google Shape;394;p24"/>
          <p:cNvCxnSpPr/>
          <p:nvPr/>
        </p:nvCxnSpPr>
        <p:spPr>
          <a:xfrm>
            <a:off x="548640" y="941760"/>
            <a:ext cx="1108224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p24"/>
          <p:cNvSpPr txBox="1"/>
          <p:nvPr/>
        </p:nvSpPr>
        <p:spPr>
          <a:xfrm>
            <a:off x="566640" y="6455520"/>
            <a:ext cx="438912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4"/>
          <p:cNvSpPr txBox="1"/>
          <p:nvPr/>
        </p:nvSpPr>
        <p:spPr>
          <a:xfrm>
            <a:off x="11082240" y="6418800"/>
            <a:ext cx="457200" cy="33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4"/>
          <p:cNvSpPr txBox="1"/>
          <p:nvPr/>
        </p:nvSpPr>
        <p:spPr>
          <a:xfrm>
            <a:off x="749520" y="1145880"/>
            <a:ext cx="10698480" cy="62964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002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Let P(k): every complete splitting of a k-stone pile has total split-product k(k−1)/2.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4"/>
          <p:cNvSpPr txBox="1"/>
          <p:nvPr/>
        </p:nvSpPr>
        <p:spPr>
          <a:xfrm>
            <a:off x="868680" y="2087640"/>
            <a:ext cx="10469880" cy="629640"/>
          </a:xfrm>
          <a:prstGeom prst="rect">
            <a:avLst/>
          </a:prstGeom>
          <a:solidFill>
            <a:srgbClr val="EAF7EE"/>
          </a:solidFill>
          <a:ln cap="flat" cmpd="sng" w="25200">
            <a:solidFill>
              <a:srgbClr val="137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37333"/>
                </a:solidFill>
                <a:latin typeface="Arial"/>
                <a:ea typeface="Arial"/>
                <a:cs typeface="Arial"/>
                <a:sym typeface="Arial"/>
              </a:rPr>
              <a:t>Base case: P(1). No split occurs, so total = 0 = 1(1−1)/2.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4"/>
          <p:cNvSpPr txBox="1"/>
          <p:nvPr/>
        </p:nvSpPr>
        <p:spPr>
          <a:xfrm>
            <a:off x="868680" y="2764080"/>
            <a:ext cx="10469880" cy="629640"/>
          </a:xfrm>
          <a:prstGeom prst="rect">
            <a:avLst/>
          </a:prstGeom>
          <a:solidFill>
            <a:srgbClr val="FFF4D6"/>
          </a:solidFill>
          <a:ln cap="flat" cmpd="sng" w="25200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15C00"/>
                </a:solidFill>
                <a:latin typeface="Arial"/>
                <a:ea typeface="Arial"/>
                <a:cs typeface="Arial"/>
                <a:sym typeface="Arial"/>
              </a:rPr>
              <a:t>Inductive step: assume P(1),P(2),…,P(k−1), and prove P(k).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4"/>
          <p:cNvSpPr txBox="1"/>
          <p:nvPr/>
        </p:nvSpPr>
        <p:spPr>
          <a:xfrm>
            <a:off x="1023840" y="3459240"/>
            <a:ext cx="10149840" cy="62964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First split k into i and k−i, where 1 ≤ i ≤ k−1.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4"/>
          <p:cNvSpPr txBox="1"/>
          <p:nvPr/>
        </p:nvSpPr>
        <p:spPr>
          <a:xfrm>
            <a:off x="1023840" y="3943800"/>
            <a:ext cx="10149840" cy="62964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Sum(k) = Sum(i) + Sum(k−i) + i(k−i).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4"/>
          <p:cNvSpPr txBox="1"/>
          <p:nvPr/>
        </p:nvSpPr>
        <p:spPr>
          <a:xfrm>
            <a:off x="1023840" y="4428360"/>
            <a:ext cx="10149840" cy="62964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= i.(i−1)/2 + (k−i).(k−i−1)/2 + i.(k−i).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4"/>
          <p:cNvSpPr txBox="1"/>
          <p:nvPr/>
        </p:nvSpPr>
        <p:spPr>
          <a:xfrm>
            <a:off x="1023840" y="4912920"/>
            <a:ext cx="10149840" cy="62964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= [i²−i + k²−2ki+i²−k+i + 2ki−2i²]/2.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4"/>
          <p:cNvSpPr txBox="1"/>
          <p:nvPr/>
        </p:nvSpPr>
        <p:spPr>
          <a:xfrm>
            <a:off x="1023840" y="5397840"/>
            <a:ext cx="10149840" cy="629640"/>
          </a:xfrm>
          <a:prstGeom prst="rect">
            <a:avLst/>
          </a:prstGeom>
          <a:solidFill>
            <a:srgbClr val="EAF7EE"/>
          </a:solidFill>
          <a:ln cap="flat" cmpd="sng" w="25200">
            <a:solidFill>
              <a:srgbClr val="137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150" lIns="146150" spcFirstLastPara="1" rIns="146150" wrap="square" tIns="14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137333"/>
                </a:solidFill>
                <a:latin typeface="Arial"/>
                <a:ea typeface="Arial"/>
                <a:cs typeface="Arial"/>
                <a:sym typeface="Arial"/>
              </a:rPr>
              <a:t>= (k²−k)/2 = k(k−1)/2.  Therefore P(k) holds. ✓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b20bac6a5_0_3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fb20bac6a5_0_3"/>
          <p:cNvSpPr/>
          <p:nvPr/>
        </p:nvSpPr>
        <p:spPr>
          <a:xfrm>
            <a:off x="0" y="0"/>
            <a:ext cx="12191400" cy="1005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fb20bac6a5_0_3"/>
          <p:cNvSpPr txBox="1"/>
          <p:nvPr/>
        </p:nvSpPr>
        <p:spPr>
          <a:xfrm>
            <a:off x="548640" y="292320"/>
            <a:ext cx="97842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Attendance Form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g3fb20bac6a5_0_3"/>
          <p:cNvCxnSpPr/>
          <p:nvPr/>
        </p:nvCxnSpPr>
        <p:spPr>
          <a:xfrm>
            <a:off x="548640" y="941760"/>
            <a:ext cx="1108230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3" name="Google Shape;413;g3fb20bac6a5_0_3"/>
          <p:cNvSpPr txBox="1"/>
          <p:nvPr/>
        </p:nvSpPr>
        <p:spPr>
          <a:xfrm>
            <a:off x="566640" y="6455520"/>
            <a:ext cx="4389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EECS 376 · Discussion 20 · Week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fb20bac6a5_0_3"/>
          <p:cNvSpPr txBox="1"/>
          <p:nvPr/>
        </p:nvSpPr>
        <p:spPr>
          <a:xfrm>
            <a:off x="11082240" y="6418800"/>
            <a:ext cx="45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2606D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5" name="Google Shape;415;g3fb20bac6a5_0_3" title="i6OPb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1412" y="1360250"/>
            <a:ext cx="4676777" cy="4676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2026-09-03T12:52:47Z</dcterms:created>
</cp:coreProperties>
</file>